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9" r:id="rId8"/>
    <p:sldId id="258" r:id="rId7"/>
    <p:sldId id="260" r:id="rId9"/>
    <p:sldId id="261" r:id="rId10"/>
    <p:sldId id="262" r:id="rId11"/>
    <p:sldId id="264" r:id="rId13"/>
    <p:sldId id="266" r:id="rId15"/>
    <p:sldId id="263" r:id="rId12"/>
    <p:sldId id="265" r:id="rId1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jgkxoLbEpTwnyrzPBounPdn06CR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10.xml"/><Relationship Id="rId13" Type="http://schemas.openxmlformats.org/officeDocument/2006/relationships/slide" Target="slides/slide8.xml"/><Relationship Id="rId14" Type="http://schemas.openxmlformats.org/officeDocument/2006/relationships/slide" Target="slides/slide11.xml"/><Relationship Id="rId15" Type="http://schemas.openxmlformats.org/officeDocument/2006/relationships/slide" Target="slides/slide9.xml"/><Relationship Id="rId1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 name="Google Shape;28;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[0:00–0:20 · 20s] Ask the question this talk answers: can Kubernetes run a broadband edge function and still forward subscriber traffic at line rate, with normal routing behaviour? In ten minutes: what a BNG does, how I built one on Kubernetes, what the lab proved, and how to take it to production.</a:t>
            </a:r>
            <a:endParaRPr/>
          </a:p>
        </p:txBody>
      </p:sp>
      <p:sp>
        <p:nvSpPr>
          <p:cNvPr id="29" name="Google Shape;29;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 name="Google Shape;48;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[0:20–0:50 · 30s] One sentence on who you are: cloud-native AI and telecom architect, focused on telecom platforms and Kubernetes data planes. Read the disclaimer: these views are my own and not my employer's. Move on quickly.</a:t>
            </a:r>
            <a:endParaRPr/>
          </a:p>
        </p:txBody>
      </p:sp>
      <p:sp>
        <p:nvSpPr>
          <p:cNvPr id="49" name="Google Shape;49;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 name="Google Shape;84;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[1:50–2:50 · 60s] The software is OSVBNG, an open-source BNG from veesix-networks. A Go control plane manages subscribers; VPP with DPDK forwards packets; FRR handles routing. It supports IPoE and PPPoE, CGNAT, AAA, QoS and Prometheus metrics. My work packages it as a Kubernetes StatefulSet with Helm. Source: github.com/veesix-networks/osvbng</a:t>
            </a:r>
            <a:endParaRPr/>
          </a:p>
        </p:txBody>
      </p:sp>
      <p:sp>
        <p:nvSpPr>
          <p:cNvPr id="85" name="Google Shape;85;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[0:50–1:50 · 60s] The BNG is where a subscriber meets the ISP: it starts the session, checks identity and policy through RADIUS, hands out addresses, runs CGNAT and QoS, and advertises routes to the core. Kubernetes doesn't change any of that. It changes how the function is packaged, placed, upgraded and observed. Land the key design question.</a:t>
            </a:r>
            <a:endParaRPr/>
          </a:p>
        </p:txBody>
      </p:sp>
      <p:sp>
        <p:nvSpPr>
          <p:cNvPr id="136" name="Google Shape;136;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9" name="Google Shape;169;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[2:50–4:20 · 90s] Walk left to right. BNG Blaster creates VLAN-tagged subscribers. The OSVBNG pods own dedicated VFIO NICs and run VPP with DPDK, including CGNAT. Two FRR pods peer with both BNG members over BGP and connect upstream to the MikroTik on .12 and .13. Key point: Kubernetes runs scheduling, rollout, config and monitoring, but subscriber traffic never touches the default pod network; it runs on NICs handed directly to the BNG pod.</a:t>
            </a:r>
            <a:endParaRPr/>
          </a:p>
        </p:txBody>
      </p:sp>
      <p:sp>
        <p:nvSpPr>
          <p:cNvPr id="170" name="Google Shape;170;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 name="Google Shape;205;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[4:20–5:50 · 90s] Four plugins wire the data plane. The SR-IOV device plugin is what gives the BNG its NICs: it advertises the VFIO-bound virtio devices as a resource, and each BNG pod requests two of them like CPU or memory, so no CNI attachment is needed for the BNG. Multus gives the other pods extra networks: macvlan for the FRR core and upstream interfaces, and host-device to move a dedicated NIC into the BNG Blaster pod that generates subscribers. The terminal is the live cluster: two BNG pods, two FRR pods, FreeRADIUS and PostgreSQL, spread across nodes.</a:t>
            </a:r>
            <a:endParaRPr/>
          </a:p>
        </p:txBody>
      </p:sp>
      <p:sp>
        <p:nvSpPr>
          <p:cNvPr id="206" name="Google Shape;206;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[5:50–7:50 · 2 min] Walk the five steps fast: the subscriber gets a session, the BNG classifies it, CGNAT translates it, BGP picks an FRR next hop, and the upstream router must learn the CGNAT prefix for the reply to come back. That is why one ping proves the whole path. The lab runs on Proxmox VE 9 virtual machines with QEMU 10.1.2. That release includes the virtio-net VLAN filter fix (QEMU commit 6071d13, first in 10.1.0); some earlier QEMU 10.0 builds could drop VLAN-tagged traffic. With 10.1, QinQ subscriber traffic passes cleanly through the virtio NICs. These are functional results on virtual NICs, not throughput figures. Then the evidence from a clean install on 11 October: all 20 IPoE sessions established and DHCP-bound; every UE pinged 4.2.2.2 on the internet, 60 of 60 replies, 0% loss, about 9 ms average. That single result exercises the session, CGNAT, the ECMP routes from the BNGs to both FRRs, and eBGP to the MikroTik. The active BNG holds 20 CGNAT addresses from a 256-address pool. If asked about HA: both members run ACTIVE/STANDBY with BGP up, but automatic forwarding recovery after a hard BNG failure is still being improved upstream and was not part of this test. If asked about throughput: upstream OSVBNG has not published TRex numbers yet, so 400+ Gbps is a project target, not a result here.</a:t>
            </a:r>
            <a:endParaRPr/>
          </a:p>
        </p:txBody>
      </p:sp>
      <p:sp>
        <p:nvSpPr>
          <p:cNvPr id="243" name="Google Shape;243;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4" name="Google Shape;284;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This is the strategic point. High-speed NICs, SR-IOV, DPDK, SmartNICs, and DPUs increasingly provide acceleration and isolation. At smaller edge sites, that can make separate hardware for each network function unnecessary. A shared Kubernetes cluster may host the vBNG, software routers, AAA, and observability. Be careful with the claim: consolidation is an option, not a universal prescription. Capacity, blast radius, and operational policy still decide the production design. Sources: https://networking-docs.nvidia.com/bf3dpu/introduction and https://networkbuilders.intel.com/docs/networkbuilders/re-architecting-the-broadband-network-gateway-bng-in-a-network-functions-virtualization-nfv-and-cloud-native-world-1633374232.pdf</a:t>
            </a:r>
            <a:endParaRPr/>
          </a:p>
        </p:txBody>
      </p:sp>
      <p:sp>
        <p:nvSpPr>
          <p:cNvPr id="285" name="Google Shape;285;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0" name="Google Shape;320;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[7:50–9:20 · 90s] Five steps from lab to production. Size it: subscriber target, CPU, hugepages, NIC queues. Place it: dedicated VFIO NICs and topology-aware placement. Route it: BGP to redundant FRR and correct return routes. Operate it: versioned Helm releases, GitOps, metrics, rollback. Keep HA simple and test recovery. The bigger picture: modern NICs and DPDK let a small edge site run the vBNG and routing on one cluster instead of a box per function. Land the takeaway on the right.</a:t>
            </a:r>
            <a:endParaRPr/>
          </a:p>
        </p:txBody>
      </p:sp>
      <p:sp>
        <p:nvSpPr>
          <p:cNvPr id="321" name="Google Shape;321;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2" name="Google Shape;362;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Close with the path beyond the deployment itself. A separate operations layer can expose read-only BNG and Kubernetes diagnostics through MCP tools. AgentGateway provides the security boundary, ToolHive manages MCP servers, and an operations UI presents well-formatted answers. Start with health, BGP, routing, and subscriber visibility. Require authorization and approval before any change. Emphasize that this layer remains a separate deployment and does not belong inside the vBNG Helm chart.</a:t>
            </a:r>
            <a:endParaRPr/>
          </a:p>
        </p:txBody>
      </p:sp>
      <p:sp>
        <p:nvSpPr>
          <p:cNvPr id="363" name="Google Shape;363;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h6c8bf89e75bf61cc_0_1145:notes"/>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 name="Google Shape;417;h6c8bf89e75bf61cc_0_1145:notes"/>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h6c8bf89e75bf61cc_0_1145:notes"/>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9" name="Google Shape;419;h6c8bf89e75bf61cc_0_11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[9:20–10:00 · 40s] Repeat the one-line takeaway, point to the repo for the Helm charts and validation record, and open for questions. Backup slides after this one (hidden): Why now (NIC consolidation) and the optional MCP/AI operations layer, for Q&amp;A.</a:t>
            </a:r>
            <a:endParaRPr/>
          </a:p>
        </p:txBody>
      </p:sp>
      <p:sp>
        <p:nvSpPr>
          <p:cNvPr id="420" name="Google Shape;420;h6c8bf89e75bf61cc_0_1145:notes"/>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h6c8bf89e75bf61cc_0_114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3"/>
          <p:cNvSpPr txBox="1"/>
          <p:nvPr>
            <p:ph type="title"/>
          </p:nvPr>
        </p:nvSpPr>
        <p:spPr>
          <a:xfrm>
            <a:off x="1219200" y="2590800"/>
            <a:ext cx="9753600" cy="9906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13" name="Google Shape;13;p13"/>
          <p:cNvSpPr txBox="1"/>
          <p:nvPr>
            <p:ph idx="1" type="subTitle"/>
          </p:nvPr>
        </p:nvSpPr>
        <p:spPr>
          <a:xfrm>
            <a:off x="1828800" y="3771900"/>
            <a:ext cx="8534400" cy="7620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1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lvl="2" marR="0" rtl="0" algn="l">
              <a:lnSpc>
                <a:spcPct val="110000"/>
              </a:lnSpc>
              <a:spcBef>
                <a:spcPts val="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lvl="3"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4" name="Shape 14"/>
        <p:cNvGrpSpPr/>
        <p:nvPr/>
      </p:nvGrpSpPr>
      <p:grpSpPr>
        <a:xfrm>
          <a:off x="0" y="0"/>
          <a:ext cx="0" cy="0"/>
          <a:chOff x="0" y="0"/>
          <a:chExt cx="0" cy="0"/>
        </a:xfrm>
      </p:grpSpPr>
      <p:sp>
        <p:nvSpPr>
          <p:cNvPr id="15" name="Google Shape;15;p14"/>
          <p:cNvSpPr txBox="1"/>
          <p:nvPr>
            <p:ph type="title"/>
          </p:nvPr>
        </p:nvSpPr>
        <p:spPr>
          <a:xfrm>
            <a:off x="1219200" y="2857500"/>
            <a:ext cx="9753600" cy="11430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6" name="Shape 16"/>
        <p:cNvGrpSpPr/>
        <p:nvPr/>
      </p:nvGrpSpPr>
      <p:grpSpPr>
        <a:xfrm>
          <a:off x="0" y="0"/>
          <a:ext cx="0" cy="0"/>
          <a:chOff x="0" y="0"/>
          <a:chExt cx="0" cy="0"/>
        </a:xfrm>
      </p:grpSpPr>
      <p:sp>
        <p:nvSpPr>
          <p:cNvPr id="17" name="Google Shape;17;p15"/>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18" name="Google Shape;18;p15"/>
          <p:cNvSpPr txBox="1"/>
          <p:nvPr>
            <p:ph idx="1" type="body"/>
          </p:nvPr>
        </p:nvSpPr>
        <p:spPr>
          <a:xfrm>
            <a:off x="685800" y="1905000"/>
            <a:ext cx="108204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p:cSld name="Title and Two Column">
    <p:spTree>
      <p:nvGrpSpPr>
        <p:cNvPr id="19" name="Shape 19"/>
        <p:cNvGrpSpPr/>
        <p:nvPr/>
      </p:nvGrpSpPr>
      <p:grpSpPr>
        <a:xfrm>
          <a:off x="0" y="0"/>
          <a:ext cx="0" cy="0"/>
          <a:chOff x="0" y="0"/>
          <a:chExt cx="0" cy="0"/>
        </a:xfrm>
      </p:grpSpPr>
      <p:sp>
        <p:nvSpPr>
          <p:cNvPr id="20" name="Google Shape;20;p16"/>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21" name="Google Shape;21;p16"/>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2" name="Google Shape;22;p16"/>
          <p:cNvSpPr txBox="1"/>
          <p:nvPr>
            <p:ph idx="2" type="body"/>
          </p:nvPr>
        </p:nvSpPr>
        <p:spPr>
          <a:xfrm>
            <a:off x="64770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Title and One Column">
    <p:spTree>
      <p:nvGrpSpPr>
        <p:cNvPr id="23" name="Shape 23"/>
        <p:cNvGrpSpPr/>
        <p:nvPr/>
      </p:nvGrpSpPr>
      <p:grpSpPr>
        <a:xfrm>
          <a:off x="0" y="0"/>
          <a:ext cx="0" cy="0"/>
          <a:chOff x="0" y="0"/>
          <a:chExt cx="0" cy="0"/>
        </a:xfrm>
      </p:grpSpPr>
      <p:sp>
        <p:nvSpPr>
          <p:cNvPr id="24" name="Google Shape;24;p17"/>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25" name="Google Shape;25;p17"/>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A2B"/>
        </a:solidFill>
      </p:bgPr>
    </p:bg>
    <p:spTree>
      <p:nvGrpSpPr>
        <p:cNvPr id="30" name="Shape 30"/>
        <p:cNvGrpSpPr/>
        <p:nvPr/>
      </p:nvGrpSpPr>
      <p:grpSpPr>
        <a:xfrm>
          <a:off x="0" y="0"/>
          <a:ext cx="0" cy="0"/>
          <a:chOff x="0" y="0"/>
          <a:chExt cx="0" cy="0"/>
        </a:xfrm>
      </p:grpSpPr>
      <p:sp>
        <p:nvSpPr>
          <p:cNvPr id="31" name="Google Shape;31;p1"/>
          <p:cNvSpPr/>
          <p:nvPr/>
        </p:nvSpPr>
        <p:spPr>
          <a:xfrm>
            <a:off x="0" y="0"/>
            <a:ext cx="12192000" cy="95400"/>
          </a:xfrm>
          <a:prstGeom prst="rect">
            <a:avLst/>
          </a:prstGeom>
          <a:solidFill>
            <a:srgbClr val="23D5D2"/>
          </a:solidFill>
          <a:ln cap="flat" cmpd="sng" w="9525">
            <a:solidFill>
              <a:srgbClr val="23D5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32" name="Google Shape;32;p1"/>
          <p:cNvSpPr/>
          <p:nvPr/>
        </p:nvSpPr>
        <p:spPr>
          <a:xfrm>
            <a:off x="685800" y="1123950"/>
            <a:ext cx="5715000" cy="1428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600">
                <a:solidFill>
                  <a:srgbClr val="F7FBFF"/>
                </a:solidFill>
              </a:rPr>
              <a:t>Cloud-Native</a:t>
            </a:r>
            <a:endParaRPr/>
          </a:p>
          <a:p>
            <a:pPr indent="0" lvl="0" marL="0" marR="0" rtl="0" algn="l">
              <a:spcBef>
                <a:spcPts val="0"/>
              </a:spcBef>
              <a:spcAft>
                <a:spcPts val="0"/>
              </a:spcAft>
              <a:buNone/>
            </a:pPr>
            <a:r>
              <a:rPr b="1" lang="en-US" sz="3600">
                <a:solidFill>
                  <a:srgbClr val="F7FBFF"/>
                </a:solidFill>
              </a:rPr>
              <a:t>Broadband Edge</a:t>
            </a:r>
            <a:endParaRPr/>
          </a:p>
        </p:txBody>
      </p:sp>
      <p:sp>
        <p:nvSpPr>
          <p:cNvPr id="33" name="Google Shape;33;p1"/>
          <p:cNvSpPr/>
          <p:nvPr/>
        </p:nvSpPr>
        <p:spPr>
          <a:xfrm>
            <a:off x="685800" y="2743200"/>
            <a:ext cx="56199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75">
                <a:solidFill>
                  <a:srgbClr val="23D5D2"/>
                </a:solidFill>
              </a:rPr>
              <a:t>Deploying a High-Performance vBNG on Kubernetes</a:t>
            </a:r>
            <a:endParaRPr/>
          </a:p>
        </p:txBody>
      </p:sp>
      <p:sp>
        <p:nvSpPr>
          <p:cNvPr id="34" name="Google Shape;34;p1"/>
          <p:cNvSpPr/>
          <p:nvPr/>
        </p:nvSpPr>
        <p:spPr>
          <a:xfrm>
            <a:off x="685800" y="3638550"/>
            <a:ext cx="5429400" cy="933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A9C1D2"/>
                </a:solidFill>
              </a:rPr>
              <a:t>A</a:t>
            </a:r>
            <a:r>
              <a:rPr lang="en-US" sz="1500">
                <a:solidFill>
                  <a:srgbClr val="A9C1D2"/>
                </a:solidFill>
              </a:rPr>
              <a:t>n</a:t>
            </a:r>
            <a:r>
              <a:rPr b="0" lang="en-US" sz="1500">
                <a:solidFill>
                  <a:srgbClr val="A9C1D2"/>
                </a:solidFill>
              </a:rPr>
              <a:t> overview of architecture, routing integration, and operational design.</a:t>
            </a:r>
            <a:endParaRPr/>
          </a:p>
        </p:txBody>
      </p:sp>
      <p:sp>
        <p:nvSpPr>
          <p:cNvPr id="35" name="Google Shape;35;p1"/>
          <p:cNvSpPr/>
          <p:nvPr/>
        </p:nvSpPr>
        <p:spPr>
          <a:xfrm>
            <a:off x="685800" y="4953000"/>
            <a:ext cx="1428900" cy="324000"/>
          </a:xfrm>
          <a:prstGeom prst="roundRect">
            <a:avLst>
              <a:gd fmla="val 50000" name="adj"/>
            </a:avLst>
          </a:prstGeom>
          <a:solidFill>
            <a:srgbClr val="0E2B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36" name="Google Shape;36;p1"/>
          <p:cNvSpPr/>
          <p:nvPr/>
        </p:nvSpPr>
        <p:spPr>
          <a:xfrm>
            <a:off x="800100" y="5019675"/>
            <a:ext cx="1200300" cy="1905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975">
                <a:solidFill>
                  <a:srgbClr val="F7FBFF"/>
                </a:solidFill>
              </a:rPr>
              <a:t>KUBERNETES</a:t>
            </a:r>
            <a:endParaRPr/>
          </a:p>
        </p:txBody>
      </p:sp>
      <p:sp>
        <p:nvSpPr>
          <p:cNvPr id="37" name="Google Shape;37;p1"/>
          <p:cNvSpPr/>
          <p:nvPr/>
        </p:nvSpPr>
        <p:spPr>
          <a:xfrm>
            <a:off x="2247900" y="4953000"/>
            <a:ext cx="1428900" cy="324000"/>
          </a:xfrm>
          <a:prstGeom prst="roundRect">
            <a:avLst>
              <a:gd fmla="val 50000" name="adj"/>
            </a:avLst>
          </a:prstGeom>
          <a:solidFill>
            <a:srgbClr val="0E2B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38" name="Google Shape;38;p1"/>
          <p:cNvSpPr/>
          <p:nvPr/>
        </p:nvSpPr>
        <p:spPr>
          <a:xfrm>
            <a:off x="2362200" y="5019675"/>
            <a:ext cx="1200300" cy="1905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975">
                <a:solidFill>
                  <a:srgbClr val="F7FBFF"/>
                </a:solidFill>
              </a:rPr>
              <a:t>DPDK / VPP</a:t>
            </a:r>
            <a:endParaRPr/>
          </a:p>
        </p:txBody>
      </p:sp>
      <p:sp>
        <p:nvSpPr>
          <p:cNvPr id="39" name="Google Shape;39;p1"/>
          <p:cNvSpPr/>
          <p:nvPr/>
        </p:nvSpPr>
        <p:spPr>
          <a:xfrm>
            <a:off x="3810000" y="4953000"/>
            <a:ext cx="1428900" cy="324000"/>
          </a:xfrm>
          <a:prstGeom prst="roundRect">
            <a:avLst>
              <a:gd fmla="val 50000" name="adj"/>
            </a:avLst>
          </a:prstGeom>
          <a:solidFill>
            <a:srgbClr val="0E2B42"/>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40" name="Google Shape;40;p1"/>
          <p:cNvSpPr/>
          <p:nvPr/>
        </p:nvSpPr>
        <p:spPr>
          <a:xfrm>
            <a:off x="3924300" y="5019675"/>
            <a:ext cx="1200300" cy="190500"/>
          </a:xfrm>
          <a:prstGeom prst="rect">
            <a:avLst/>
          </a:prstGeom>
          <a:solidFill>
            <a:srgbClr val="000000">
              <a:alpha val="0"/>
            </a:srgbClr>
          </a:solidFill>
          <a:ln>
            <a:noFill/>
          </a:ln>
        </p:spPr>
        <p:txBody>
          <a:bodyPr anchorCtr="0" anchor="t" bIns="45700" lIns="91400" spcFirstLastPara="1" rIns="91400" wrap="square" tIns="45700">
            <a:noAutofit/>
          </a:bodyPr>
          <a:lstStyle/>
          <a:p>
            <a:pPr indent="0" lvl="0" marL="0" rtl="0" algn="ctr">
              <a:spcBef>
                <a:spcPts val="0"/>
              </a:spcBef>
              <a:spcAft>
                <a:spcPts val="0"/>
              </a:spcAft>
              <a:buNone/>
            </a:pPr>
            <a:r>
              <a:rPr b="1" i="0" lang="en-US" sz="809" u="none" strike="noStrike">
                <a:solidFill>
                  <a:srgbClr val="F7FBFF"/>
                </a:solidFill>
                <a:latin typeface="Arial"/>
                <a:ea typeface="Arial"/>
                <a:cs typeface="Arial"/>
                <a:sym typeface="Arial"/>
              </a:rPr>
              <a:t>HELM</a:t>
            </a:r>
            <a:endParaRPr b="1" i="0" sz="809" u="none" strike="noStrike">
              <a:solidFill>
                <a:srgbClr val="F7FBFF"/>
              </a:solidFill>
              <a:latin typeface="Arial"/>
              <a:ea typeface="Arial"/>
              <a:cs typeface="Arial"/>
              <a:sym typeface="Arial"/>
            </a:endParaRPr>
          </a:p>
        </p:txBody>
      </p:sp>
      <p:sp>
        <p:nvSpPr>
          <p:cNvPr id="41" name="Google Shape;41;p1"/>
          <p:cNvSpPr/>
          <p:nvPr/>
        </p:nvSpPr>
        <p:spPr>
          <a:xfrm>
            <a:off x="685800" y="5905500"/>
            <a:ext cx="49530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450">
                <a:solidFill>
                  <a:srgbClr val="A9C1D2"/>
                </a:solidFill>
              </a:rPr>
              <a:t>Presented by Christopher Adigun • October 2026</a:t>
            </a:r>
            <a:endParaRPr sz="1800"/>
          </a:p>
        </p:txBody>
      </p:sp>
      <p:sp>
        <p:nvSpPr>
          <p:cNvPr id="42" name="Google Shape;42;p1"/>
          <p:cNvSpPr/>
          <p:nvPr/>
        </p:nvSpPr>
        <p:spPr>
          <a:xfrm>
            <a:off x="685800" y="6410325"/>
            <a:ext cx="10820400" cy="9600"/>
          </a:xfrm>
          <a:prstGeom prst="rect">
            <a:avLst/>
          </a:prstGeom>
          <a:solidFill>
            <a:srgbClr val="29485D"/>
          </a:solidFill>
          <a:ln cap="flat" cmpd="sng" w="9525">
            <a:solidFill>
              <a:srgbClr val="29485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43" name="Google Shape;43;p1"/>
          <p:cNvSpPr/>
          <p:nvPr/>
        </p:nvSpPr>
        <p:spPr>
          <a:xfrm>
            <a:off x="685800" y="6477000"/>
            <a:ext cx="9525000" cy="1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a:t/>
            </a:r>
            <a:endParaRPr sz="1800"/>
          </a:p>
        </p:txBody>
      </p:sp>
      <p:sp>
        <p:nvSpPr>
          <p:cNvPr id="44" name="Google Shape;44;p1"/>
          <p:cNvSpPr/>
          <p:nvPr/>
        </p:nvSpPr>
        <p:spPr>
          <a:xfrm>
            <a:off x="10953750" y="6448425"/>
            <a:ext cx="5526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lang="en-US" sz="825">
                <a:solidFill>
                  <a:srgbClr val="23D5D2"/>
                </a:solidFill>
              </a:rPr>
              <a:t>01</a:t>
            </a:r>
            <a:endParaRPr/>
          </a:p>
        </p:txBody>
      </p:sp>
      <p:pic>
        <p:nvPicPr>
          <p:cNvPr id="45" name="Google Shape;45;p1"/>
          <p:cNvPicPr preferRelativeResize="0"/>
          <p:nvPr/>
        </p:nvPicPr>
        <p:blipFill>
          <a:blip r:embed="rId3">
            <a:alphaModFix/>
          </a:blip>
          <a:stretch>
            <a:fillRect/>
          </a:stretch>
        </p:blipFill>
        <p:spPr>
          <a:xfrm>
            <a:off x="5757675" y="1860025"/>
            <a:ext cx="6185948" cy="30929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A2B"/>
        </a:solidFill>
      </p:bgPr>
    </p:bg>
    <p:spTree>
      <p:nvGrpSpPr>
        <p:cNvPr id="50" name="Shape 50"/>
        <p:cNvGrpSpPr/>
        <p:nvPr/>
      </p:nvGrpSpPr>
      <p:grpSpPr>
        <a:xfrm>
          <a:off x="0" y="0"/>
          <a:ext cx="0" cy="0"/>
          <a:chOff x="0" y="0"/>
          <a:chExt cx="0" cy="0"/>
        </a:xfrm>
      </p:grpSpPr>
      <p:grpSp>
        <p:nvGrpSpPr>
          <p:cNvPr id="51" name="Google Shape;51;p2"/>
          <p:cNvGrpSpPr/>
          <p:nvPr/>
        </p:nvGrpSpPr>
        <p:grpSpPr>
          <a:xfrm>
            <a:off x="685800" y="400050"/>
            <a:ext cx="1714500" cy="266700"/>
            <a:chOff x="0" y="0"/>
            <a:chExt cx="1714500" cy="266700"/>
          </a:xfrm>
        </p:grpSpPr>
        <p:sp>
          <p:nvSpPr>
            <p:cNvPr id="52" name="Google Shape;52;p2"/>
            <p:cNvSpPr/>
            <p:nvPr/>
          </p:nvSpPr>
          <p:spPr>
            <a:xfrm>
              <a:off x="0" y="0"/>
              <a:ext cx="1714500" cy="266700"/>
            </a:xfrm>
            <a:prstGeom prst="roundRect">
              <a:avLst>
                <a:gd fmla="val 50000" name="adj"/>
              </a:avLst>
            </a:prstGeom>
            <a:solidFill>
              <a:srgbClr val="103445"/>
            </a:solidFill>
            <a:ln cap="flat" cmpd="sng" w="9525">
              <a:solidFill>
                <a:srgbClr val="23D5D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53" name="Google Shape;53;p2"/>
            <p:cNvSpPr txBox="1"/>
            <p:nvPr/>
          </p:nvSpPr>
          <p:spPr>
            <a:xfrm>
              <a:off x="0" y="0"/>
              <a:ext cx="17145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50">
                  <a:solidFill>
                    <a:srgbClr val="23D5D2"/>
                  </a:solidFill>
                  <a:latin typeface="Arial"/>
                  <a:ea typeface="Arial"/>
                  <a:cs typeface="Arial"/>
                  <a:sym typeface="Arial"/>
                </a:rPr>
                <a:t>SPEAKER INTRODUCTION</a:t>
              </a:r>
              <a:endParaRPr b="1" sz="850">
                <a:solidFill>
                  <a:srgbClr val="23D5D2"/>
                </a:solidFill>
                <a:latin typeface="Arial"/>
                <a:ea typeface="Arial"/>
                <a:cs typeface="Arial"/>
                <a:sym typeface="Arial"/>
              </a:endParaRPr>
            </a:p>
          </p:txBody>
        </p:sp>
      </p:grpSp>
      <p:sp>
        <p:nvSpPr>
          <p:cNvPr id="54" name="Google Shape;54;p2"/>
          <p:cNvSpPr txBox="1"/>
          <p:nvPr/>
        </p:nvSpPr>
        <p:spPr>
          <a:xfrm>
            <a:off x="685800" y="762000"/>
            <a:ext cx="108204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800">
                <a:solidFill>
                  <a:srgbClr val="F7FBFF"/>
                </a:solidFill>
                <a:latin typeface="Arial"/>
                <a:ea typeface="Arial"/>
                <a:cs typeface="Arial"/>
                <a:sym typeface="Arial"/>
              </a:rPr>
              <a:t>Christopher Adigun</a:t>
            </a:r>
            <a:endParaRPr b="1" sz="2800">
              <a:solidFill>
                <a:srgbClr val="F7FBFF"/>
              </a:solidFill>
              <a:latin typeface="Arial"/>
              <a:ea typeface="Arial"/>
              <a:cs typeface="Arial"/>
              <a:sym typeface="Arial"/>
            </a:endParaRPr>
          </a:p>
          <a:p>
            <a:pPr indent="0" lvl="0" marL="0" rtl="0" algn="l">
              <a:spcBef>
                <a:spcPts val="450"/>
              </a:spcBef>
              <a:spcAft>
                <a:spcPts val="0"/>
              </a:spcAft>
              <a:buNone/>
            </a:pPr>
            <a:r>
              <a:rPr b="0" lang="en-US" sz="1400">
                <a:solidFill>
                  <a:srgbClr val="A9C1D2"/>
                </a:solidFill>
                <a:latin typeface="Arial"/>
                <a:ea typeface="Arial"/>
                <a:cs typeface="Arial"/>
                <a:sym typeface="Arial"/>
              </a:rPr>
              <a:t>Cloud-Native AI &amp; Telecom Architect</a:t>
            </a:r>
            <a:endParaRPr b="0" sz="1400">
              <a:solidFill>
                <a:srgbClr val="A9C1D2"/>
              </a:solidFill>
              <a:latin typeface="Arial"/>
              <a:ea typeface="Arial"/>
              <a:cs typeface="Arial"/>
              <a:sym typeface="Arial"/>
            </a:endParaRPr>
          </a:p>
        </p:txBody>
      </p:sp>
      <p:pic>
        <p:nvPicPr>
          <p:cNvPr id="55" name="Google Shape;55;p2"/>
          <p:cNvPicPr preferRelativeResize="0"/>
          <p:nvPr/>
        </p:nvPicPr>
        <p:blipFill rotWithShape="1">
          <a:blip r:embed="rId3">
            <a:alphaModFix/>
          </a:blip>
          <a:srcRect b="0" l="0" r="0" t="0"/>
          <a:stretch/>
        </p:blipFill>
        <p:spPr>
          <a:xfrm>
            <a:off x="1225375" y="1743113"/>
            <a:ext cx="2247900" cy="2247900"/>
          </a:xfrm>
          <a:prstGeom prst="rect">
            <a:avLst/>
          </a:prstGeom>
          <a:noFill/>
          <a:ln>
            <a:noFill/>
          </a:ln>
        </p:spPr>
      </p:pic>
      <p:grpSp>
        <p:nvGrpSpPr>
          <p:cNvPr id="56" name="Google Shape;56;p2"/>
          <p:cNvGrpSpPr/>
          <p:nvPr/>
        </p:nvGrpSpPr>
        <p:grpSpPr>
          <a:xfrm>
            <a:off x="685800" y="4162425"/>
            <a:ext cx="4000500" cy="1886100"/>
            <a:chOff x="0" y="0"/>
            <a:chExt cx="4000500" cy="1886100"/>
          </a:xfrm>
        </p:grpSpPr>
        <p:sp>
          <p:nvSpPr>
            <p:cNvPr id="57" name="Google Shape;57;p2"/>
            <p:cNvSpPr/>
            <p:nvPr/>
          </p:nvSpPr>
          <p:spPr>
            <a:xfrm>
              <a:off x="0" y="0"/>
              <a:ext cx="4000500" cy="1886100"/>
            </a:xfrm>
            <a:prstGeom prst="roundRect">
              <a:avLst>
                <a:gd fmla="val 8080" name="adj"/>
              </a:avLst>
            </a:prstGeom>
            <a:solidFill>
              <a:srgbClr val="103445"/>
            </a:solidFill>
            <a:ln cap="flat" cmpd="sng" w="9525">
              <a:solidFill>
                <a:srgbClr val="23D5D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58" name="Google Shape;58;p2"/>
            <p:cNvSpPr txBox="1"/>
            <p:nvPr/>
          </p:nvSpPr>
          <p:spPr>
            <a:xfrm>
              <a:off x="228600" y="190500"/>
              <a:ext cx="3543300" cy="1505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23D5D2"/>
                  </a:solidFill>
                  <a:latin typeface="Arial"/>
                  <a:ea typeface="Arial"/>
                  <a:cs typeface="Arial"/>
                  <a:sym typeface="Arial"/>
                </a:rPr>
                <a:t>Perspective</a:t>
              </a:r>
              <a:endParaRPr b="1" sz="1000">
                <a:solidFill>
                  <a:srgbClr val="23D5D2"/>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500">
                  <a:solidFill>
                    <a:srgbClr val="F7FBFF"/>
                  </a:solidFill>
                  <a:latin typeface="Arial"/>
                  <a:ea typeface="Arial"/>
                  <a:cs typeface="Arial"/>
                  <a:sym typeface="Arial"/>
                </a:rPr>
                <a:t>Passionate about AI infrastructure and telecommunications architecture, with a focus on cloud-native design, scalable systems, and intelligent automation.</a:t>
              </a:r>
              <a:endParaRPr b="1" sz="1500">
                <a:solidFill>
                  <a:srgbClr val="F7FBFF"/>
                </a:solidFill>
                <a:latin typeface="Arial"/>
                <a:ea typeface="Arial"/>
                <a:cs typeface="Arial"/>
                <a:sym typeface="Arial"/>
              </a:endParaRPr>
            </a:p>
            <a:p>
              <a:pPr indent="0" lvl="0" marL="0" rtl="0" algn="l">
                <a:spcBef>
                  <a:spcPts val="1200"/>
                </a:spcBef>
                <a:spcAft>
                  <a:spcPts val="0"/>
                </a:spcAft>
                <a:buNone/>
              </a:pPr>
              <a:r>
                <a:rPr/>
                <a:t/>
              </a:r>
              <a:endParaRPr b="1" sz="1500">
                <a:solidFill>
                  <a:srgbClr val="F7FBFF"/>
                </a:solidFill>
                <a:latin typeface="Arial"/>
                <a:ea typeface="Arial"/>
                <a:cs typeface="Arial"/>
                <a:sym typeface="Arial"/>
              </a:endParaRPr>
            </a:p>
          </p:txBody>
        </p:sp>
      </p:grpSp>
      <p:sp>
        <p:nvSpPr>
          <p:cNvPr id="59" name="Google Shape;59;p2"/>
          <p:cNvSpPr txBox="1"/>
          <p:nvPr/>
        </p:nvSpPr>
        <p:spPr>
          <a:xfrm>
            <a:off x="4787100" y="1222575"/>
            <a:ext cx="6591300" cy="247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23D5D2"/>
                </a:solidFill>
                <a:latin typeface="Arial"/>
                <a:ea typeface="Arial"/>
                <a:cs typeface="Arial"/>
                <a:sym typeface="Arial"/>
              </a:rPr>
              <a:t>AREAS OF FOCUS</a:t>
            </a:r>
            <a:endParaRPr b="1" sz="1000">
              <a:solidFill>
                <a:srgbClr val="23D5D2"/>
              </a:solidFill>
              <a:latin typeface="Arial"/>
              <a:ea typeface="Arial"/>
              <a:cs typeface="Arial"/>
              <a:sym typeface="Arial"/>
            </a:endParaRPr>
          </a:p>
        </p:txBody>
      </p:sp>
      <p:grpSp>
        <p:nvGrpSpPr>
          <p:cNvPr id="60" name="Google Shape;60;p2"/>
          <p:cNvGrpSpPr/>
          <p:nvPr/>
        </p:nvGrpSpPr>
        <p:grpSpPr>
          <a:xfrm>
            <a:off x="4772912" y="2574600"/>
            <a:ext cx="6591300" cy="838200"/>
            <a:chOff x="0" y="0"/>
            <a:chExt cx="6591300" cy="838200"/>
          </a:xfrm>
        </p:grpSpPr>
        <p:sp>
          <p:nvSpPr>
            <p:cNvPr id="61" name="Google Shape;61;p2"/>
            <p:cNvSpPr/>
            <p:nvPr/>
          </p:nvSpPr>
          <p:spPr>
            <a:xfrm>
              <a:off x="0" y="0"/>
              <a:ext cx="6591300" cy="838200"/>
            </a:xfrm>
            <a:prstGeom prst="roundRect">
              <a:avLst>
                <a:gd fmla="val 13636" name="adj"/>
              </a:avLst>
            </a:prstGeom>
            <a:solidFill>
              <a:srgbClr val="0E2B42"/>
            </a:solidFill>
            <a:ln cap="flat" cmpd="sng" w="9525">
              <a:solidFill>
                <a:srgbClr val="31536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62" name="Google Shape;62;p2"/>
            <p:cNvSpPr/>
            <p:nvPr/>
          </p:nvSpPr>
          <p:spPr>
            <a:xfrm>
              <a:off x="190500" y="209550"/>
              <a:ext cx="419100" cy="419100"/>
            </a:xfrm>
            <a:prstGeom prst="roundRect">
              <a:avLst>
                <a:gd fmla="val 22727" name="adj"/>
              </a:avLst>
            </a:prstGeom>
            <a:solidFill>
              <a:srgbClr val="103445"/>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64" name="Google Shape;64;p2"/>
            <p:cNvSpPr txBox="1"/>
            <p:nvPr/>
          </p:nvSpPr>
          <p:spPr>
            <a:xfrm>
              <a:off x="762000" y="171450"/>
              <a:ext cx="5600700" cy="495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F7FBFF"/>
                  </a:solidFill>
                  <a:latin typeface="Arial"/>
                  <a:ea typeface="Arial"/>
                  <a:cs typeface="Arial"/>
                  <a:sym typeface="Arial"/>
                </a:rPr>
                <a:t>Cloud-native telecom platforms</a:t>
              </a:r>
              <a:endParaRPr b="1" sz="1400">
                <a:solidFill>
                  <a:srgbClr val="F7FBFF"/>
                </a:solidFill>
                <a:latin typeface="Arial"/>
                <a:ea typeface="Arial"/>
                <a:cs typeface="Arial"/>
                <a:sym typeface="Arial"/>
              </a:endParaRPr>
            </a:p>
            <a:p>
              <a:pPr indent="0" lvl="0" marL="0" rtl="0" algn="l">
                <a:spcBef>
                  <a:spcPts val="300"/>
                </a:spcBef>
                <a:spcAft>
                  <a:spcPts val="0"/>
                </a:spcAft>
                <a:buNone/>
              </a:pPr>
              <a:r>
                <a:rPr b="0" lang="en-US" sz="1050">
                  <a:solidFill>
                    <a:srgbClr val="A9C1D2"/>
                  </a:solidFill>
                  <a:latin typeface="Arial"/>
                  <a:ea typeface="Arial"/>
                  <a:cs typeface="Arial"/>
                  <a:sym typeface="Arial"/>
                </a:rPr>
                <a:t>Scalable infrastructure for edge &amp; core network services</a:t>
              </a:r>
              <a:endParaRPr b="0" sz="1050">
                <a:solidFill>
                  <a:srgbClr val="A9C1D2"/>
                </a:solidFill>
                <a:latin typeface="Arial"/>
                <a:ea typeface="Arial"/>
                <a:cs typeface="Arial"/>
                <a:sym typeface="Arial"/>
              </a:endParaRPr>
            </a:p>
          </p:txBody>
        </p:sp>
      </p:grpSp>
      <p:grpSp>
        <p:nvGrpSpPr>
          <p:cNvPr id="65" name="Google Shape;65;p2"/>
          <p:cNvGrpSpPr/>
          <p:nvPr/>
        </p:nvGrpSpPr>
        <p:grpSpPr>
          <a:xfrm>
            <a:off x="4772912" y="1571700"/>
            <a:ext cx="6591300" cy="838200"/>
            <a:chOff x="0" y="0"/>
            <a:chExt cx="6591300" cy="838200"/>
          </a:xfrm>
        </p:grpSpPr>
        <p:sp>
          <p:nvSpPr>
            <p:cNvPr id="66" name="Google Shape;66;p2"/>
            <p:cNvSpPr/>
            <p:nvPr/>
          </p:nvSpPr>
          <p:spPr>
            <a:xfrm>
              <a:off x="0" y="0"/>
              <a:ext cx="6591300" cy="838200"/>
            </a:xfrm>
            <a:prstGeom prst="roundRect">
              <a:avLst>
                <a:gd fmla="val 13636" name="adj"/>
              </a:avLst>
            </a:prstGeom>
            <a:solidFill>
              <a:srgbClr val="0E2B42"/>
            </a:solidFill>
            <a:ln cap="flat" cmpd="sng" w="9525">
              <a:solidFill>
                <a:srgbClr val="31536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67" name="Google Shape;67;p2"/>
            <p:cNvSpPr/>
            <p:nvPr/>
          </p:nvSpPr>
          <p:spPr>
            <a:xfrm>
              <a:off x="190500" y="209550"/>
              <a:ext cx="419100" cy="419100"/>
            </a:xfrm>
            <a:prstGeom prst="roundRect">
              <a:avLst>
                <a:gd fmla="val 22727" name="adj"/>
              </a:avLst>
            </a:prstGeom>
            <a:solidFill>
              <a:srgbClr val="103445"/>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69" name="Google Shape;69;p2"/>
            <p:cNvSpPr txBox="1"/>
            <p:nvPr/>
          </p:nvSpPr>
          <p:spPr>
            <a:xfrm>
              <a:off x="762000" y="171450"/>
              <a:ext cx="5600700" cy="495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a:solidFill>
                    <a:srgbClr val="F7FBFF"/>
                  </a:solidFill>
                  <a:latin typeface="Arial"/>
                  <a:ea typeface="Arial"/>
                  <a:cs typeface="Arial"/>
                  <a:sym typeface="Arial"/>
                </a:rPr>
                <a:t>Cloud-native AI Infrastructure Design</a:t>
              </a:r>
              <a:endParaRPr b="1" sz="1400">
                <a:solidFill>
                  <a:srgbClr val="F7FBFF"/>
                </a:solidFill>
                <a:latin typeface="Arial"/>
                <a:ea typeface="Arial"/>
                <a:cs typeface="Arial"/>
                <a:sym typeface="Arial"/>
              </a:endParaRPr>
            </a:p>
            <a:p>
              <a:pPr indent="0" lvl="0" marL="0" rtl="0" algn="l">
                <a:spcBef>
                  <a:spcPts val="300"/>
                </a:spcBef>
                <a:spcAft>
                  <a:spcPts val="0"/>
                </a:spcAft>
                <a:buNone/>
              </a:pPr>
              <a:r>
                <a:rPr lang="en-US" sz="1050">
                  <a:solidFill>
                    <a:srgbClr val="A9C1D2"/>
                  </a:solidFill>
                </a:rPr>
                <a:t>Scalable platforms for AI inference, agentic workloads &amp; orchestration </a:t>
              </a:r>
              <a:endParaRPr b="0" sz="1050">
                <a:solidFill>
                  <a:srgbClr val="A9C1D2"/>
                </a:solidFill>
                <a:latin typeface="Arial"/>
                <a:ea typeface="Arial"/>
                <a:cs typeface="Arial"/>
                <a:sym typeface="Arial"/>
              </a:endParaRPr>
            </a:p>
          </p:txBody>
        </p:sp>
      </p:grpSp>
      <p:grpSp>
        <p:nvGrpSpPr>
          <p:cNvPr id="70" name="Google Shape;70;p2"/>
          <p:cNvGrpSpPr/>
          <p:nvPr/>
        </p:nvGrpSpPr>
        <p:grpSpPr>
          <a:xfrm>
            <a:off x="4772912" y="3571913"/>
            <a:ext cx="6591300" cy="838200"/>
            <a:chOff x="0" y="0"/>
            <a:chExt cx="6591300" cy="838200"/>
          </a:xfrm>
        </p:grpSpPr>
        <p:sp>
          <p:nvSpPr>
            <p:cNvPr id="71" name="Google Shape;71;p2"/>
            <p:cNvSpPr/>
            <p:nvPr/>
          </p:nvSpPr>
          <p:spPr>
            <a:xfrm>
              <a:off x="0" y="0"/>
              <a:ext cx="6591300" cy="838200"/>
            </a:xfrm>
            <a:prstGeom prst="roundRect">
              <a:avLst>
                <a:gd fmla="val 13636" name="adj"/>
              </a:avLst>
            </a:prstGeom>
            <a:solidFill>
              <a:srgbClr val="0E2B42"/>
            </a:solidFill>
            <a:ln cap="flat" cmpd="sng" w="9525">
              <a:solidFill>
                <a:srgbClr val="31536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72" name="Google Shape;72;p2"/>
            <p:cNvSpPr/>
            <p:nvPr/>
          </p:nvSpPr>
          <p:spPr>
            <a:xfrm>
              <a:off x="190500" y="209550"/>
              <a:ext cx="419100" cy="419100"/>
            </a:xfrm>
            <a:prstGeom prst="roundRect">
              <a:avLst>
                <a:gd fmla="val 22727" name="adj"/>
              </a:avLst>
            </a:prstGeom>
            <a:solidFill>
              <a:srgbClr val="103445"/>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74" name="Google Shape;74;p2"/>
            <p:cNvSpPr txBox="1"/>
            <p:nvPr/>
          </p:nvSpPr>
          <p:spPr>
            <a:xfrm>
              <a:off x="762000" y="171450"/>
              <a:ext cx="5600700" cy="495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F7FBFF"/>
                  </a:solidFill>
                  <a:latin typeface="Arial"/>
                  <a:ea typeface="Arial"/>
                  <a:cs typeface="Arial"/>
                  <a:sym typeface="Arial"/>
                </a:rPr>
                <a:t>Kubernetes data-plane design</a:t>
              </a:r>
              <a:endParaRPr b="1" sz="1400">
                <a:solidFill>
                  <a:srgbClr val="F7FBFF"/>
                </a:solidFill>
                <a:latin typeface="Arial"/>
                <a:ea typeface="Arial"/>
                <a:cs typeface="Arial"/>
                <a:sym typeface="Arial"/>
              </a:endParaRPr>
            </a:p>
            <a:p>
              <a:pPr indent="0" lvl="0" marL="0" rtl="0" algn="l">
                <a:spcBef>
                  <a:spcPts val="300"/>
                </a:spcBef>
                <a:spcAft>
                  <a:spcPts val="0"/>
                </a:spcAft>
                <a:buNone/>
              </a:pPr>
              <a:r>
                <a:rPr b="0" lang="en-US" sz="1050">
                  <a:solidFill>
                    <a:srgbClr val="A9C1D2"/>
                  </a:solidFill>
                  <a:latin typeface="Arial"/>
                  <a:ea typeface="Arial"/>
                  <a:cs typeface="Arial"/>
                  <a:sym typeface="Arial"/>
                </a:rPr>
                <a:t>Deterministic packet I/O and high-performance routing</a:t>
              </a:r>
              <a:endParaRPr b="0" sz="1050">
                <a:solidFill>
                  <a:srgbClr val="A9C1D2"/>
                </a:solidFill>
                <a:latin typeface="Arial"/>
                <a:ea typeface="Arial"/>
                <a:cs typeface="Arial"/>
                <a:sym typeface="Arial"/>
              </a:endParaRPr>
            </a:p>
          </p:txBody>
        </p:sp>
      </p:grpSp>
      <p:grpSp>
        <p:nvGrpSpPr>
          <p:cNvPr id="75" name="Google Shape;75;p2"/>
          <p:cNvGrpSpPr/>
          <p:nvPr/>
        </p:nvGrpSpPr>
        <p:grpSpPr>
          <a:xfrm>
            <a:off x="5269875" y="5276850"/>
            <a:ext cx="6591300" cy="1076400"/>
            <a:chOff x="0" y="0"/>
            <a:chExt cx="6591300" cy="1076400"/>
          </a:xfrm>
        </p:grpSpPr>
        <p:sp>
          <p:nvSpPr>
            <p:cNvPr id="76" name="Google Shape;76;p2"/>
            <p:cNvSpPr/>
            <p:nvPr/>
          </p:nvSpPr>
          <p:spPr>
            <a:xfrm>
              <a:off x="0" y="0"/>
              <a:ext cx="6591300" cy="1076400"/>
            </a:xfrm>
            <a:prstGeom prst="roundRect">
              <a:avLst>
                <a:gd fmla="val 10619" name="adj"/>
              </a:avLst>
            </a:prstGeom>
            <a:solidFill>
              <a:srgbClr val="2C2631"/>
            </a:solidFill>
            <a:ln cap="flat" cmpd="sng" w="9525">
              <a:solidFill>
                <a:srgbClr val="FF9D4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77" name="Google Shape;77;p2"/>
            <p:cNvSpPr/>
            <p:nvPr/>
          </p:nvSpPr>
          <p:spPr>
            <a:xfrm>
              <a:off x="0" y="0"/>
              <a:ext cx="57300" cy="1076400"/>
            </a:xfrm>
            <a:prstGeom prst="roundRect">
              <a:avLst>
                <a:gd fmla="val 50000" name="adj"/>
              </a:avLst>
            </a:prstGeom>
            <a:solidFill>
              <a:srgbClr val="FF9D42"/>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78" name="Google Shape;78;p2"/>
            <p:cNvSpPr txBox="1"/>
            <p:nvPr/>
          </p:nvSpPr>
          <p:spPr>
            <a:xfrm>
              <a:off x="228600" y="152400"/>
              <a:ext cx="6134100" cy="7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FF9D42"/>
                  </a:solidFill>
                  <a:latin typeface="Arial"/>
                  <a:ea typeface="Arial"/>
                  <a:cs typeface="Arial"/>
                  <a:sym typeface="Arial"/>
                </a:rPr>
                <a:t>Disclaimer</a:t>
              </a:r>
              <a:endParaRPr b="1" sz="1000">
                <a:solidFill>
                  <a:srgbClr val="FF9D42"/>
                </a:solidFill>
                <a:latin typeface="Arial"/>
                <a:ea typeface="Arial"/>
                <a:cs typeface="Arial"/>
                <a:sym typeface="Arial"/>
              </a:endParaRPr>
            </a:p>
            <a:p>
              <a:pPr indent="0" lvl="0" marL="0" rtl="0" algn="l">
                <a:spcBef>
                  <a:spcPts val="450"/>
                </a:spcBef>
                <a:spcAft>
                  <a:spcPts val="0"/>
                </a:spcAft>
                <a:buNone/>
              </a:pPr>
              <a:r>
                <a:rPr b="1" lang="en-US" sz="1250">
                  <a:solidFill>
                    <a:srgbClr val="F7FBFF"/>
                  </a:solidFill>
                  <a:latin typeface="Arial"/>
                  <a:ea typeface="Arial"/>
                  <a:cs typeface="Arial"/>
                  <a:sym typeface="Arial"/>
                </a:rPr>
                <a:t>The views expressed in this presentation are my own and do not represent those of my employer.</a:t>
              </a:r>
              <a:endParaRPr b="1" sz="1250">
                <a:solidFill>
                  <a:srgbClr val="F7FBFF"/>
                </a:solidFill>
                <a:latin typeface="Arial"/>
                <a:ea typeface="Arial"/>
                <a:cs typeface="Arial"/>
                <a:sym typeface="Arial"/>
              </a:endParaRPr>
            </a:p>
          </p:txBody>
        </p:sp>
      </p:grpSp>
      <p:sp>
        <p:nvSpPr>
          <p:cNvPr id="79" name="Google Shape;79;p2"/>
          <p:cNvSpPr/>
          <p:nvPr/>
        </p:nvSpPr>
        <p:spPr>
          <a:xfrm>
            <a:off x="685800" y="6410325"/>
            <a:ext cx="10820400" cy="9600"/>
          </a:xfrm>
          <a:prstGeom prst="rect">
            <a:avLst/>
          </a:prstGeom>
          <a:solidFill>
            <a:srgbClr val="29485D"/>
          </a:solidFill>
          <a:ln cap="flat" cmpd="sng" w="9525">
            <a:solidFill>
              <a:srgbClr val="29485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80" name="Google Shape;80;p2"/>
          <p:cNvSpPr/>
          <p:nvPr/>
        </p:nvSpPr>
        <p:spPr>
          <a:xfrm>
            <a:off x="685800" y="6477000"/>
            <a:ext cx="9525000" cy="1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a:t/>
            </a:r>
            <a:endParaRPr sz="1800"/>
          </a:p>
        </p:txBody>
      </p:sp>
      <p:sp>
        <p:nvSpPr>
          <p:cNvPr id="81" name="Google Shape;81;p2"/>
          <p:cNvSpPr/>
          <p:nvPr/>
        </p:nvSpPr>
        <p:spPr>
          <a:xfrm>
            <a:off x="10953750" y="6448425"/>
            <a:ext cx="5526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lang="en-US" sz="825">
                <a:solidFill>
                  <a:srgbClr val="23D5D2"/>
                </a:solidFill>
              </a:rPr>
              <a:t>02</a:t>
            </a:r>
            <a:endParaRPr/>
          </a:p>
        </p:txBody>
      </p:sp>
      <p:pic>
        <p:nvPicPr>
          <p:cNvPr id="82" name="Picture 81" descr="cloud_queue_23D5D2.png"/>
          <p:cNvPicPr>
            <a:picLocks noChangeAspect="1"/>
          </p:cNvPicPr>
          <p:nvPr/>
        </p:nvPicPr>
        <p:blipFill>
          <a:blip r:embed="rId4"/>
          <a:stretch>
            <a:fillRect/>
          </a:stretch>
        </p:blipFill>
        <p:spPr>
          <a:xfrm>
            <a:off x="5009513" y="2859461"/>
            <a:ext cx="326898" cy="326898"/>
          </a:xfrm>
          <a:prstGeom prst="rect">
            <a:avLst/>
          </a:prstGeom>
        </p:spPr>
      </p:pic>
      <p:pic>
        <p:nvPicPr>
          <p:cNvPr id="83" name="Picture 82" descr="auto_awesome_23D5D2.png"/>
          <p:cNvPicPr>
            <a:picLocks noChangeAspect="1"/>
          </p:cNvPicPr>
          <p:nvPr/>
        </p:nvPicPr>
        <p:blipFill>
          <a:blip r:embed="rId5"/>
          <a:stretch>
            <a:fillRect/>
          </a:stretch>
        </p:blipFill>
        <p:spPr>
          <a:xfrm>
            <a:off x="5009513" y="1856561"/>
            <a:ext cx="326898" cy="326898"/>
          </a:xfrm>
          <a:prstGeom prst="rect">
            <a:avLst/>
          </a:prstGeom>
        </p:spPr>
      </p:pic>
      <p:pic>
        <p:nvPicPr>
          <p:cNvPr id="84" name="Picture 83" descr="hub_23D5D2.png"/>
          <p:cNvPicPr>
            <a:picLocks noChangeAspect="1"/>
          </p:cNvPicPr>
          <p:nvPr/>
        </p:nvPicPr>
        <p:blipFill>
          <a:blip r:embed="rId6"/>
          <a:stretch>
            <a:fillRect/>
          </a:stretch>
        </p:blipFill>
        <p:spPr>
          <a:xfrm>
            <a:off x="5009513" y="3856774"/>
            <a:ext cx="326898" cy="32689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A2B"/>
        </a:solidFill>
      </p:bgPr>
    </p:bg>
    <p:spTree>
      <p:nvGrpSpPr>
        <p:cNvPr id="137" name="Shape 137"/>
        <p:cNvGrpSpPr/>
        <p:nvPr/>
      </p:nvGrpSpPr>
      <p:grpSpPr>
        <a:xfrm>
          <a:off x="0" y="0"/>
          <a:ext cx="0" cy="0"/>
          <a:chOff x="0" y="0"/>
          <a:chExt cx="0" cy="0"/>
        </a:xfrm>
      </p:grpSpPr>
      <p:sp>
        <p:nvSpPr>
          <p:cNvPr id="138" name="Google Shape;138;p4"/>
          <p:cNvSpPr/>
          <p:nvPr/>
        </p:nvSpPr>
        <p:spPr>
          <a:xfrm>
            <a:off x="685800" y="457200"/>
            <a:ext cx="47625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975">
                <a:solidFill>
                  <a:srgbClr val="23D5D2"/>
                </a:solidFill>
              </a:rPr>
              <a:t>01 • THE ROLE</a:t>
            </a:r>
            <a:endParaRPr/>
          </a:p>
        </p:txBody>
      </p:sp>
      <p:sp>
        <p:nvSpPr>
          <p:cNvPr id="139" name="Google Shape;139;p4"/>
          <p:cNvSpPr/>
          <p:nvPr/>
        </p:nvSpPr>
        <p:spPr>
          <a:xfrm>
            <a:off x="685800" y="819150"/>
            <a:ext cx="10820400"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50">
                <a:solidFill>
                  <a:srgbClr val="F7FBFF"/>
                </a:solidFill>
              </a:rPr>
              <a:t>The BNG is the subscriber edge control point</a:t>
            </a:r>
            <a:endParaRPr/>
          </a:p>
        </p:txBody>
      </p:sp>
      <p:sp>
        <p:nvSpPr>
          <p:cNvPr id="140" name="Google Shape;140;p4"/>
          <p:cNvSpPr/>
          <p:nvPr/>
        </p:nvSpPr>
        <p:spPr>
          <a:xfrm>
            <a:off x="685800" y="1457325"/>
            <a:ext cx="10287000" cy="2926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350">
                <a:solidFill>
                  <a:srgbClr val="A9C1D2"/>
                </a:solidFill>
              </a:rPr>
              <a:t>It joins subscriber access, policy, addressing, routing, and internet reachability.</a:t>
            </a:r>
            <a:endParaRPr/>
          </a:p>
        </p:txBody>
      </p:sp>
      <p:sp>
        <p:nvSpPr>
          <p:cNvPr id="141" name="Google Shape;141;p4"/>
          <p:cNvSpPr/>
          <p:nvPr/>
        </p:nvSpPr>
        <p:spPr>
          <a:xfrm>
            <a:off x="685800" y="2333625"/>
            <a:ext cx="2419350" cy="2238375"/>
          </a:xfrm>
          <a:prstGeom prst="roundRect">
            <a:avLst>
              <a:gd fmla="val 6809" name="adj"/>
            </a:avLst>
          </a:prstGeom>
          <a:solidFill>
            <a:srgbClr val="0E2B42"/>
          </a:solidFill>
          <a:ln cap="flat" cmpd="sng" w="9525">
            <a:solidFill>
              <a:srgbClr val="3153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42" name="Google Shape;142;p4"/>
          <p:cNvSpPr/>
          <p:nvPr/>
        </p:nvSpPr>
        <p:spPr>
          <a:xfrm>
            <a:off x="857250" y="2505075"/>
            <a:ext cx="400050" cy="323850"/>
          </a:xfrm>
          <a:prstGeom prst="roundRect">
            <a:avLst>
              <a:gd fmla="val 50000" name="adj"/>
            </a:avLst>
          </a:prstGeom>
          <a:solidFill>
            <a:srgbClr val="23D5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43" name="Google Shape;143;p4"/>
          <p:cNvSpPr/>
          <p:nvPr/>
        </p:nvSpPr>
        <p:spPr>
          <a:xfrm>
            <a:off x="971550" y="2571750"/>
            <a:ext cx="171450" cy="1905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975">
                <a:solidFill>
                  <a:srgbClr val="071A2B"/>
                </a:solidFill>
              </a:rPr>
              <a:t>1</a:t>
            </a:r>
            <a:endParaRPr/>
          </a:p>
        </p:txBody>
      </p:sp>
      <p:sp>
        <p:nvSpPr>
          <p:cNvPr id="144" name="Google Shape;144;p4"/>
          <p:cNvSpPr/>
          <p:nvPr/>
        </p:nvSpPr>
        <p:spPr>
          <a:xfrm>
            <a:off x="895350" y="3048000"/>
            <a:ext cx="200025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F7FBFF"/>
                </a:solidFill>
              </a:rPr>
              <a:t>Session control</a:t>
            </a:r>
            <a:endParaRPr/>
          </a:p>
        </p:txBody>
      </p:sp>
      <p:sp>
        <p:nvSpPr>
          <p:cNvPr id="145" name="Google Shape;145;p4"/>
          <p:cNvSpPr/>
          <p:nvPr/>
        </p:nvSpPr>
        <p:spPr>
          <a:xfrm>
            <a:off x="895350" y="3543300"/>
            <a:ext cx="200025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00">
                <a:solidFill>
                  <a:srgbClr val="A9C1D2"/>
                </a:solidFill>
              </a:rPr>
              <a:t>IPoE / DHCP sessions</a:t>
            </a:r>
            <a:endParaRPr/>
          </a:p>
          <a:p>
            <a:pPr indent="0" lvl="0" marL="0" marR="0" rtl="0" algn="l">
              <a:spcBef>
                <a:spcPts val="0"/>
              </a:spcBef>
              <a:spcAft>
                <a:spcPts val="0"/>
              </a:spcAft>
              <a:buNone/>
            </a:pPr>
            <a:r>
              <a:rPr b="0" lang="en-US" sz="1200">
                <a:solidFill>
                  <a:srgbClr val="A9C1D2"/>
                </a:solidFill>
              </a:rPr>
              <a:t>subscriber lifecycle</a:t>
            </a:r>
            <a:endParaRPr/>
          </a:p>
        </p:txBody>
      </p:sp>
      <p:sp>
        <p:nvSpPr>
          <p:cNvPr id="146" name="Google Shape;146;p4"/>
          <p:cNvSpPr/>
          <p:nvPr/>
        </p:nvSpPr>
        <p:spPr>
          <a:xfrm>
            <a:off x="3371850" y="2333625"/>
            <a:ext cx="2419350" cy="2238375"/>
          </a:xfrm>
          <a:prstGeom prst="roundRect">
            <a:avLst>
              <a:gd fmla="val 6809" name="adj"/>
            </a:avLst>
          </a:prstGeom>
          <a:solidFill>
            <a:srgbClr val="0E2B42"/>
          </a:solidFill>
          <a:ln cap="flat" cmpd="sng" w="9525">
            <a:solidFill>
              <a:srgbClr val="3153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47" name="Google Shape;147;p4"/>
          <p:cNvSpPr/>
          <p:nvPr/>
        </p:nvSpPr>
        <p:spPr>
          <a:xfrm>
            <a:off x="3543300" y="2505075"/>
            <a:ext cx="400050" cy="323850"/>
          </a:xfrm>
          <a:prstGeom prst="roundRect">
            <a:avLst>
              <a:gd fmla="val 50000" name="adj"/>
            </a:avLst>
          </a:prstGeom>
          <a:solidFill>
            <a:srgbClr val="23D5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48" name="Google Shape;148;p4"/>
          <p:cNvSpPr/>
          <p:nvPr/>
        </p:nvSpPr>
        <p:spPr>
          <a:xfrm>
            <a:off x="3657600" y="2571750"/>
            <a:ext cx="171450" cy="1905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975">
                <a:solidFill>
                  <a:srgbClr val="071A2B"/>
                </a:solidFill>
              </a:rPr>
              <a:t>2</a:t>
            </a:r>
            <a:endParaRPr/>
          </a:p>
        </p:txBody>
      </p:sp>
      <p:sp>
        <p:nvSpPr>
          <p:cNvPr id="149" name="Google Shape;149;p4"/>
          <p:cNvSpPr/>
          <p:nvPr/>
        </p:nvSpPr>
        <p:spPr>
          <a:xfrm>
            <a:off x="3581400" y="3048000"/>
            <a:ext cx="200025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F7FBFF"/>
                </a:solidFill>
              </a:rPr>
              <a:t>Policy + AAA</a:t>
            </a:r>
            <a:endParaRPr/>
          </a:p>
        </p:txBody>
      </p:sp>
      <p:sp>
        <p:nvSpPr>
          <p:cNvPr id="150" name="Google Shape;150;p4"/>
          <p:cNvSpPr/>
          <p:nvPr/>
        </p:nvSpPr>
        <p:spPr>
          <a:xfrm>
            <a:off x="3581400" y="3543300"/>
            <a:ext cx="200025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00">
                <a:solidFill>
                  <a:srgbClr val="A9C1D2"/>
                </a:solidFill>
              </a:rPr>
              <a:t>RADIUS-backed identity</a:t>
            </a:r>
            <a:endParaRPr/>
          </a:p>
          <a:p>
            <a:pPr indent="0" lvl="0" marL="0" marR="0" rtl="0" algn="l">
              <a:spcBef>
                <a:spcPts val="0"/>
              </a:spcBef>
              <a:spcAft>
                <a:spcPts val="0"/>
              </a:spcAft>
              <a:buNone/>
            </a:pPr>
            <a:r>
              <a:rPr b="0" lang="en-US" sz="1200">
                <a:solidFill>
                  <a:srgbClr val="A9C1D2"/>
                </a:solidFill>
              </a:rPr>
              <a:t>and service policy</a:t>
            </a:r>
            <a:endParaRPr/>
          </a:p>
        </p:txBody>
      </p:sp>
      <p:sp>
        <p:nvSpPr>
          <p:cNvPr id="151" name="Google Shape;151;p4"/>
          <p:cNvSpPr/>
          <p:nvPr/>
        </p:nvSpPr>
        <p:spPr>
          <a:xfrm>
            <a:off x="6057900" y="2333625"/>
            <a:ext cx="2419350" cy="2238375"/>
          </a:xfrm>
          <a:prstGeom prst="roundRect">
            <a:avLst>
              <a:gd fmla="val 6809" name="adj"/>
            </a:avLst>
          </a:prstGeom>
          <a:solidFill>
            <a:srgbClr val="123A49"/>
          </a:solidFill>
          <a:ln cap="flat" cmpd="sng" w="9525">
            <a:solidFill>
              <a:srgbClr val="3153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52" name="Google Shape;152;p4"/>
          <p:cNvSpPr/>
          <p:nvPr/>
        </p:nvSpPr>
        <p:spPr>
          <a:xfrm>
            <a:off x="6229350" y="2505075"/>
            <a:ext cx="400050" cy="323850"/>
          </a:xfrm>
          <a:prstGeom prst="roundRect">
            <a:avLst>
              <a:gd fmla="val 50000" name="adj"/>
            </a:avLst>
          </a:prstGeom>
          <a:solidFill>
            <a:srgbClr val="FF9D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53" name="Google Shape;153;p4"/>
          <p:cNvSpPr/>
          <p:nvPr/>
        </p:nvSpPr>
        <p:spPr>
          <a:xfrm>
            <a:off x="6343650" y="2571750"/>
            <a:ext cx="171450" cy="1905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975">
                <a:solidFill>
                  <a:srgbClr val="071A2B"/>
                </a:solidFill>
              </a:rPr>
              <a:t>3</a:t>
            </a:r>
            <a:endParaRPr/>
          </a:p>
        </p:txBody>
      </p:sp>
      <p:sp>
        <p:nvSpPr>
          <p:cNvPr id="154" name="Google Shape;154;p4"/>
          <p:cNvSpPr/>
          <p:nvPr/>
        </p:nvSpPr>
        <p:spPr>
          <a:xfrm>
            <a:off x="6267450" y="3048000"/>
            <a:ext cx="200025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F7FBFF"/>
                </a:solidFill>
              </a:rPr>
              <a:t>Traffic services</a:t>
            </a:r>
            <a:endParaRPr/>
          </a:p>
        </p:txBody>
      </p:sp>
      <p:sp>
        <p:nvSpPr>
          <p:cNvPr id="155" name="Google Shape;155;p4"/>
          <p:cNvSpPr/>
          <p:nvPr/>
        </p:nvSpPr>
        <p:spPr>
          <a:xfrm>
            <a:off x="6267450" y="3543300"/>
            <a:ext cx="200025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00">
                <a:solidFill>
                  <a:srgbClr val="A9C1D2"/>
                </a:solidFill>
              </a:rPr>
              <a:t>CGNAT, QoS, counters</a:t>
            </a:r>
            <a:endParaRPr/>
          </a:p>
          <a:p>
            <a:pPr indent="0" lvl="0" marL="0" marR="0" rtl="0" algn="l">
              <a:spcBef>
                <a:spcPts val="0"/>
              </a:spcBef>
              <a:spcAft>
                <a:spcPts val="0"/>
              </a:spcAft>
              <a:buNone/>
            </a:pPr>
            <a:r>
              <a:rPr b="0" lang="en-US" sz="1200">
                <a:solidFill>
                  <a:srgbClr val="A9C1D2"/>
                </a:solidFill>
              </a:rPr>
              <a:t>and forwarding</a:t>
            </a:r>
            <a:endParaRPr/>
          </a:p>
        </p:txBody>
      </p:sp>
      <p:sp>
        <p:nvSpPr>
          <p:cNvPr id="156" name="Google Shape;156;p4"/>
          <p:cNvSpPr/>
          <p:nvPr/>
        </p:nvSpPr>
        <p:spPr>
          <a:xfrm>
            <a:off x="8743950" y="2333625"/>
            <a:ext cx="2419350" cy="2238375"/>
          </a:xfrm>
          <a:prstGeom prst="roundRect">
            <a:avLst>
              <a:gd fmla="val 6809" name="adj"/>
            </a:avLst>
          </a:prstGeom>
          <a:solidFill>
            <a:srgbClr val="0E2B42"/>
          </a:solidFill>
          <a:ln cap="flat" cmpd="sng" w="9525">
            <a:solidFill>
              <a:srgbClr val="3153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57" name="Google Shape;157;p4"/>
          <p:cNvSpPr/>
          <p:nvPr/>
        </p:nvSpPr>
        <p:spPr>
          <a:xfrm>
            <a:off x="8915400" y="2505075"/>
            <a:ext cx="400050" cy="323850"/>
          </a:xfrm>
          <a:prstGeom prst="roundRect">
            <a:avLst>
              <a:gd fmla="val 50000" name="adj"/>
            </a:avLst>
          </a:prstGeom>
          <a:solidFill>
            <a:srgbClr val="23D5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58" name="Google Shape;158;p4"/>
          <p:cNvSpPr/>
          <p:nvPr/>
        </p:nvSpPr>
        <p:spPr>
          <a:xfrm>
            <a:off x="9029700" y="2571750"/>
            <a:ext cx="171450" cy="1905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975">
                <a:solidFill>
                  <a:srgbClr val="071A2B"/>
                </a:solidFill>
              </a:rPr>
              <a:t>4</a:t>
            </a:r>
            <a:endParaRPr/>
          </a:p>
        </p:txBody>
      </p:sp>
      <p:sp>
        <p:nvSpPr>
          <p:cNvPr id="159" name="Google Shape;159;p4"/>
          <p:cNvSpPr/>
          <p:nvPr/>
        </p:nvSpPr>
        <p:spPr>
          <a:xfrm>
            <a:off x="8953500" y="3048000"/>
            <a:ext cx="200025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F7FBFF"/>
                </a:solidFill>
              </a:rPr>
              <a:t>Core routing</a:t>
            </a:r>
            <a:endParaRPr/>
          </a:p>
        </p:txBody>
      </p:sp>
      <p:sp>
        <p:nvSpPr>
          <p:cNvPr id="160" name="Google Shape;160;p4"/>
          <p:cNvSpPr/>
          <p:nvPr/>
        </p:nvSpPr>
        <p:spPr>
          <a:xfrm>
            <a:off x="8953500" y="3543300"/>
            <a:ext cx="200025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00">
                <a:solidFill>
                  <a:srgbClr val="A9C1D2"/>
                </a:solidFill>
              </a:rPr>
              <a:t>BGP reachability</a:t>
            </a:r>
            <a:endParaRPr/>
          </a:p>
          <a:p>
            <a:pPr indent="0" lvl="0" marL="0" marR="0" rtl="0" algn="l">
              <a:spcBef>
                <a:spcPts val="0"/>
              </a:spcBef>
              <a:spcAft>
                <a:spcPts val="0"/>
              </a:spcAft>
              <a:buNone/>
            </a:pPr>
            <a:r>
              <a:rPr b="0" lang="en-US" sz="1200">
                <a:solidFill>
                  <a:srgbClr val="A9C1D2"/>
                </a:solidFill>
              </a:rPr>
              <a:t>toward the ISP edge</a:t>
            </a:r>
            <a:endParaRPr/>
          </a:p>
        </p:txBody>
      </p:sp>
      <p:sp>
        <p:nvSpPr>
          <p:cNvPr id="161" name="Google Shape;161;p4"/>
          <p:cNvSpPr/>
          <p:nvPr/>
        </p:nvSpPr>
        <p:spPr>
          <a:xfrm>
            <a:off x="685800" y="4953000"/>
            <a:ext cx="10477500" cy="1050600"/>
          </a:xfrm>
          <a:prstGeom prst="roundRect">
            <a:avLst>
              <a:gd fmla="val 14118" name="adj"/>
            </a:avLst>
          </a:prstGeom>
          <a:solidFill>
            <a:srgbClr val="102C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62" name="Google Shape;162;p4"/>
          <p:cNvSpPr/>
          <p:nvPr/>
        </p:nvSpPr>
        <p:spPr>
          <a:xfrm>
            <a:off x="914400" y="5143500"/>
            <a:ext cx="219075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50">
                <a:solidFill>
                  <a:srgbClr val="FF9D42"/>
                </a:solidFill>
              </a:rPr>
              <a:t>Key design question</a:t>
            </a:r>
            <a:endParaRPr/>
          </a:p>
        </p:txBody>
      </p:sp>
      <p:sp>
        <p:nvSpPr>
          <p:cNvPr id="163" name="Google Shape;163;p4"/>
          <p:cNvSpPr/>
          <p:nvPr/>
        </p:nvSpPr>
        <p:spPr>
          <a:xfrm>
            <a:off x="3143250" y="5095875"/>
            <a:ext cx="7667625" cy="4000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SzPts val="1100"/>
              <a:buNone/>
            </a:pPr>
            <a:r>
              <a:rPr b="1" lang="en-US" sz="1575">
                <a:solidFill>
                  <a:srgbClr val="F7FBFF"/>
                </a:solidFill>
              </a:rPr>
              <a:t>How can Kubernetes serve as a cloud-native platform for deploying, orchestrating, and managing a BNG while meeting carrier-grade networking and performance requirements?</a:t>
            </a:r>
            <a:endParaRPr b="1" sz="1575">
              <a:solidFill>
                <a:srgbClr val="F7FBFF"/>
              </a:solidFill>
            </a:endParaRPr>
          </a:p>
        </p:txBody>
      </p:sp>
      <p:sp>
        <p:nvSpPr>
          <p:cNvPr id="164" name="Google Shape;164;p4"/>
          <p:cNvSpPr/>
          <p:nvPr/>
        </p:nvSpPr>
        <p:spPr>
          <a:xfrm>
            <a:off x="685800" y="6410325"/>
            <a:ext cx="10820400" cy="9525"/>
          </a:xfrm>
          <a:prstGeom prst="rect">
            <a:avLst/>
          </a:prstGeom>
          <a:solidFill>
            <a:srgbClr val="29485D"/>
          </a:solidFill>
          <a:ln cap="flat" cmpd="sng" w="9525">
            <a:solidFill>
              <a:srgbClr val="29485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65" name="Google Shape;165;p4"/>
          <p:cNvSpPr/>
          <p:nvPr/>
        </p:nvSpPr>
        <p:spPr>
          <a:xfrm>
            <a:off x="685800" y="6477000"/>
            <a:ext cx="9525000" cy="171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900">
                <a:solidFill>
                  <a:srgbClr val="A9C1D2"/>
                </a:solidFill>
              </a:rPr>
              <a:t>Source: veesix-networks/osvbng project overview and feature list.</a:t>
            </a:r>
            <a:endParaRPr/>
          </a:p>
        </p:txBody>
      </p:sp>
      <p:sp>
        <p:nvSpPr>
          <p:cNvPr id="166" name="Google Shape;166;p4"/>
          <p:cNvSpPr/>
          <p:nvPr/>
        </p:nvSpPr>
        <p:spPr>
          <a:xfrm>
            <a:off x="10953750" y="6448425"/>
            <a:ext cx="55245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lang="en-US" sz="825">
                <a:solidFill>
                  <a:srgbClr val="23D5D2"/>
                </a:solidFill>
              </a:rPr>
              <a:t>03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A2B"/>
        </a:solidFill>
      </p:bgPr>
    </p:bg>
    <p:spTree>
      <p:nvGrpSpPr>
        <p:cNvPr id="86" name="Shape 86"/>
        <p:cNvGrpSpPr/>
        <p:nvPr/>
      </p:nvGrpSpPr>
      <p:grpSpPr>
        <a:xfrm>
          <a:off x="0" y="0"/>
          <a:ext cx="0" cy="0"/>
          <a:chOff x="0" y="0"/>
          <a:chExt cx="0" cy="0"/>
        </a:xfrm>
      </p:grpSpPr>
      <p:sp>
        <p:nvSpPr>
          <p:cNvPr id="90" name="Google Shape;90;p3"/>
          <p:cNvSpPr/>
          <p:nvPr/>
        </p:nvSpPr>
        <p:spPr>
          <a:xfrm>
            <a:off x="685800" y="1845945"/>
            <a:ext cx="5048400" cy="4391100"/>
          </a:xfrm>
          <a:prstGeom prst="roundRect">
            <a:avLst>
              <a:gd fmla="val 3298" name="adj"/>
            </a:avLst>
          </a:prstGeom>
          <a:solidFill>
            <a:srgbClr val="0E2B42"/>
          </a:solidFill>
          <a:ln cap="flat" cmpd="sng" w="9525">
            <a:solidFill>
              <a:srgbClr val="1E456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91" name="Google Shape;91;p3"/>
          <p:cNvSpPr/>
          <p:nvPr/>
        </p:nvSpPr>
        <p:spPr>
          <a:xfrm>
            <a:off x="990600" y="2084070"/>
            <a:ext cx="4438800" cy="304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1" lang="en-US" sz="1600">
                <a:solidFill>
                  <a:srgbClr val="23D5D2"/>
                </a:solidFill>
                <a:latin typeface="Arial"/>
                <a:ea typeface="Arial"/>
                <a:cs typeface="Arial"/>
                <a:sym typeface="Arial"/>
              </a:rPr>
              <a:t>Why OSVBNG</a:t>
            </a:r>
            <a:endParaRPr b="1" sz="1600">
              <a:solidFill>
                <a:srgbClr val="23D5D2"/>
              </a:solidFill>
              <a:latin typeface="Arial"/>
              <a:ea typeface="Arial"/>
              <a:cs typeface="Arial"/>
              <a:sym typeface="Arial"/>
            </a:endParaRPr>
          </a:p>
        </p:txBody>
      </p:sp>
      <p:grpSp>
        <p:nvGrpSpPr>
          <p:cNvPr id="92" name="Google Shape;92;p3"/>
          <p:cNvGrpSpPr/>
          <p:nvPr/>
        </p:nvGrpSpPr>
        <p:grpSpPr>
          <a:xfrm>
            <a:off x="990600" y="2541270"/>
            <a:ext cx="4419600" cy="486410"/>
            <a:chOff x="0" y="0"/>
            <a:chExt cx="4419600" cy="486410"/>
          </a:xfrm>
        </p:grpSpPr>
        <p:sp>
          <p:nvSpPr>
            <p:cNvPr id="93" name="Google Shape;93;p3"/>
            <p:cNvSpPr/>
            <p:nvPr/>
          </p:nvSpPr>
          <p:spPr>
            <a:xfrm>
              <a:off x="0" y="0"/>
              <a:ext cx="457200" cy="457200"/>
            </a:xfrm>
            <a:prstGeom prst="roundRect">
              <a:avLst>
                <a:gd fmla="val 20833" name="adj"/>
              </a:avLst>
            </a:prstGeom>
            <a:solidFill>
              <a:srgbClr val="103445"/>
            </a:solidFill>
            <a:ln cap="flat" cmpd="sng" w="9525">
              <a:solidFill>
                <a:srgbClr val="1E456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95" name="Google Shape;95;p3"/>
            <p:cNvSpPr txBox="1"/>
            <p:nvPr/>
          </p:nvSpPr>
          <p:spPr>
            <a:xfrm>
              <a:off x="609600" y="0"/>
              <a:ext cx="3810000" cy="45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F7FBFF"/>
                  </a:solidFill>
                  <a:latin typeface="Arial"/>
                  <a:ea typeface="Arial"/>
                  <a:cs typeface="Arial"/>
                  <a:sym typeface="Arial"/>
                </a:rPr>
                <a:t>Standard x86 Hardware</a:t>
              </a:r>
              <a:endParaRPr b="1" sz="1200">
                <a:solidFill>
                  <a:srgbClr val="F7FBFF"/>
                </a:solidFill>
                <a:latin typeface="Arial"/>
                <a:ea typeface="Arial"/>
                <a:cs typeface="Arial"/>
                <a:sym typeface="Arial"/>
              </a:endParaRPr>
            </a:p>
            <a:p>
              <a:pPr indent="0" lvl="0" marL="0" rtl="0" algn="l">
                <a:spcBef>
                  <a:spcPts val="150"/>
                </a:spcBef>
                <a:spcAft>
                  <a:spcPts val="0"/>
                </a:spcAft>
                <a:buNone/>
              </a:pPr>
              <a:r>
                <a:rPr lang="en-US" sz="1000">
                  <a:solidFill>
                    <a:srgbClr val="A9C1D2"/>
                  </a:solidFill>
                  <a:latin typeface="Arial"/>
                  <a:ea typeface="Arial"/>
                  <a:cs typeface="Arial"/>
                  <a:sym typeface="Arial"/>
                </a:rPr>
                <a:t>Open-source BNG optimized for commodity x86 servers</a:t>
              </a:r>
              <a:endParaRPr sz="1000">
                <a:solidFill>
                  <a:srgbClr val="A9C1D2"/>
                </a:solidFill>
                <a:latin typeface="Arial"/>
                <a:ea typeface="Arial"/>
                <a:cs typeface="Arial"/>
                <a:sym typeface="Arial"/>
              </a:endParaRPr>
            </a:p>
          </p:txBody>
        </p:sp>
      </p:grpSp>
      <p:grpSp>
        <p:nvGrpSpPr>
          <p:cNvPr id="96" name="Google Shape;96;p3"/>
          <p:cNvGrpSpPr/>
          <p:nvPr/>
        </p:nvGrpSpPr>
        <p:grpSpPr>
          <a:xfrm>
            <a:off x="990600" y="3150870"/>
            <a:ext cx="4419600" cy="486410"/>
            <a:chOff x="0" y="0"/>
            <a:chExt cx="4419600" cy="486410"/>
          </a:xfrm>
        </p:grpSpPr>
        <p:sp>
          <p:nvSpPr>
            <p:cNvPr id="97" name="Google Shape;97;p3"/>
            <p:cNvSpPr/>
            <p:nvPr/>
          </p:nvSpPr>
          <p:spPr>
            <a:xfrm>
              <a:off x="0" y="0"/>
              <a:ext cx="457200" cy="457200"/>
            </a:xfrm>
            <a:prstGeom prst="roundRect">
              <a:avLst>
                <a:gd fmla="val 20833" name="adj"/>
              </a:avLst>
            </a:prstGeom>
            <a:solidFill>
              <a:srgbClr val="103445"/>
            </a:solidFill>
            <a:ln cap="flat" cmpd="sng" w="9525">
              <a:solidFill>
                <a:srgbClr val="1E456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99" name="Google Shape;99;p3"/>
            <p:cNvSpPr txBox="1"/>
            <p:nvPr/>
          </p:nvSpPr>
          <p:spPr>
            <a:xfrm>
              <a:off x="609600" y="0"/>
              <a:ext cx="3810000" cy="45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F7FBFF"/>
                  </a:solidFill>
                  <a:latin typeface="Arial"/>
                  <a:ea typeface="Arial"/>
                  <a:cs typeface="Arial"/>
                  <a:sym typeface="Arial"/>
                </a:rPr>
                <a:t>Flexible Subscriber Access</a:t>
              </a:r>
              <a:endParaRPr b="1" sz="1200">
                <a:solidFill>
                  <a:srgbClr val="F7FBFF"/>
                </a:solidFill>
                <a:latin typeface="Arial"/>
                <a:ea typeface="Arial"/>
                <a:cs typeface="Arial"/>
                <a:sym typeface="Arial"/>
              </a:endParaRPr>
            </a:p>
            <a:p>
              <a:pPr indent="0" lvl="0" marL="0" rtl="0" algn="l">
                <a:spcBef>
                  <a:spcPts val="150"/>
                </a:spcBef>
                <a:spcAft>
                  <a:spcPts val="0"/>
                </a:spcAft>
                <a:buNone/>
              </a:pPr>
              <a:r>
                <a:rPr lang="en-US" sz="1000">
                  <a:solidFill>
                    <a:srgbClr val="A9C1D2"/>
                  </a:solidFill>
                  <a:latin typeface="Arial"/>
                  <a:ea typeface="Arial"/>
                  <a:cs typeface="Arial"/>
                  <a:sym typeface="Arial"/>
                </a:rPr>
                <a:t>Full support for IPoE and PPPoE subscriber access</a:t>
              </a:r>
              <a:endParaRPr sz="1000">
                <a:solidFill>
                  <a:srgbClr val="A9C1D2"/>
                </a:solidFill>
                <a:latin typeface="Arial"/>
                <a:ea typeface="Arial"/>
                <a:cs typeface="Arial"/>
                <a:sym typeface="Arial"/>
              </a:endParaRPr>
            </a:p>
          </p:txBody>
        </p:sp>
      </p:grpSp>
      <p:grpSp>
        <p:nvGrpSpPr>
          <p:cNvPr id="100" name="Google Shape;100;p3"/>
          <p:cNvGrpSpPr/>
          <p:nvPr/>
        </p:nvGrpSpPr>
        <p:grpSpPr>
          <a:xfrm>
            <a:off x="990600" y="3760470"/>
            <a:ext cx="4419600" cy="486410"/>
            <a:chOff x="0" y="0"/>
            <a:chExt cx="4419600" cy="486410"/>
          </a:xfrm>
        </p:grpSpPr>
        <p:sp>
          <p:nvSpPr>
            <p:cNvPr id="101" name="Google Shape;101;p3"/>
            <p:cNvSpPr/>
            <p:nvPr/>
          </p:nvSpPr>
          <p:spPr>
            <a:xfrm>
              <a:off x="0" y="0"/>
              <a:ext cx="457200" cy="457200"/>
            </a:xfrm>
            <a:prstGeom prst="roundRect">
              <a:avLst>
                <a:gd fmla="val 20833" name="adj"/>
              </a:avLst>
            </a:prstGeom>
            <a:solidFill>
              <a:srgbClr val="103445"/>
            </a:solidFill>
            <a:ln cap="flat" cmpd="sng" w="9525">
              <a:solidFill>
                <a:srgbClr val="1E456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103" name="Google Shape;103;p3"/>
            <p:cNvSpPr txBox="1"/>
            <p:nvPr/>
          </p:nvSpPr>
          <p:spPr>
            <a:xfrm>
              <a:off x="609600" y="0"/>
              <a:ext cx="3810000" cy="45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F7FBFF"/>
                  </a:solidFill>
                  <a:latin typeface="Arial"/>
                  <a:ea typeface="Arial"/>
                  <a:cs typeface="Arial"/>
                  <a:sym typeface="Arial"/>
                </a:rPr>
                <a:t>Comprehensive Telecom Suite</a:t>
              </a:r>
              <a:endParaRPr b="1" sz="1200">
                <a:solidFill>
                  <a:srgbClr val="F7FBFF"/>
                </a:solidFill>
                <a:latin typeface="Arial"/>
                <a:ea typeface="Arial"/>
                <a:cs typeface="Arial"/>
                <a:sym typeface="Arial"/>
              </a:endParaRPr>
            </a:p>
            <a:p>
              <a:pPr indent="0" lvl="0" marL="0" rtl="0" algn="l">
                <a:spcBef>
                  <a:spcPts val="150"/>
                </a:spcBef>
                <a:spcAft>
                  <a:spcPts val="0"/>
                </a:spcAft>
                <a:buNone/>
              </a:pPr>
              <a:r>
                <a:rPr lang="en-US" sz="1000">
                  <a:solidFill>
                    <a:srgbClr val="A9C1D2"/>
                  </a:solidFill>
                  <a:latin typeface="Arial"/>
                  <a:ea typeface="Arial"/>
                  <a:cs typeface="Arial"/>
                  <a:sym typeface="Arial"/>
                </a:rPr>
                <a:t>CGNAT, dynamic routing, AAA, QoS, and monitoring</a:t>
              </a:r>
              <a:endParaRPr sz="1000">
                <a:solidFill>
                  <a:srgbClr val="A9C1D2"/>
                </a:solidFill>
                <a:latin typeface="Arial"/>
                <a:ea typeface="Arial"/>
                <a:cs typeface="Arial"/>
                <a:sym typeface="Arial"/>
              </a:endParaRPr>
            </a:p>
          </p:txBody>
        </p:sp>
      </p:grpSp>
      <p:grpSp>
        <p:nvGrpSpPr>
          <p:cNvPr id="104" name="Google Shape;104;p3"/>
          <p:cNvGrpSpPr/>
          <p:nvPr/>
        </p:nvGrpSpPr>
        <p:grpSpPr>
          <a:xfrm>
            <a:off x="990600" y="4370070"/>
            <a:ext cx="4419600" cy="486410"/>
            <a:chOff x="0" y="0"/>
            <a:chExt cx="4419600" cy="486410"/>
          </a:xfrm>
        </p:grpSpPr>
        <p:sp>
          <p:nvSpPr>
            <p:cNvPr id="105" name="Google Shape;105;p3"/>
            <p:cNvSpPr/>
            <p:nvPr/>
          </p:nvSpPr>
          <p:spPr>
            <a:xfrm>
              <a:off x="0" y="0"/>
              <a:ext cx="457200" cy="457200"/>
            </a:xfrm>
            <a:prstGeom prst="roundRect">
              <a:avLst>
                <a:gd fmla="val 20833" name="adj"/>
              </a:avLst>
            </a:prstGeom>
            <a:solidFill>
              <a:srgbClr val="103445"/>
            </a:solidFill>
            <a:ln cap="flat" cmpd="sng" w="9525">
              <a:solidFill>
                <a:srgbClr val="1E456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107" name="Google Shape;107;p3"/>
            <p:cNvSpPr txBox="1"/>
            <p:nvPr/>
          </p:nvSpPr>
          <p:spPr>
            <a:xfrm>
              <a:off x="609600" y="0"/>
              <a:ext cx="3810000" cy="45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F7FBFF"/>
                  </a:solidFill>
                  <a:latin typeface="Arial"/>
                  <a:ea typeface="Arial"/>
                  <a:cs typeface="Arial"/>
                  <a:sym typeface="Arial"/>
                </a:rPr>
                <a:t>Cloud-Native Workflows</a:t>
              </a:r>
              <a:endParaRPr b="1" sz="1200">
                <a:solidFill>
                  <a:srgbClr val="F7FBFF"/>
                </a:solidFill>
                <a:latin typeface="Arial"/>
                <a:ea typeface="Arial"/>
                <a:cs typeface="Arial"/>
                <a:sym typeface="Arial"/>
              </a:endParaRPr>
            </a:p>
            <a:p>
              <a:pPr indent="0" lvl="0" marL="0" rtl="0" algn="l">
                <a:spcBef>
                  <a:spcPts val="150"/>
                </a:spcBef>
                <a:spcAft>
                  <a:spcPts val="0"/>
                </a:spcAft>
                <a:buNone/>
              </a:pPr>
              <a:r>
                <a:rPr lang="en-US" sz="1000">
                  <a:solidFill>
                    <a:srgbClr val="A9C1D2"/>
                  </a:solidFill>
                  <a:latin typeface="Arial"/>
                  <a:ea typeface="Arial"/>
                  <a:cs typeface="Arial"/>
                  <a:sym typeface="Arial"/>
                </a:rPr>
                <a:t>Containerized deployment with declarative configuration</a:t>
              </a:r>
              <a:endParaRPr sz="1000">
                <a:solidFill>
                  <a:srgbClr val="A9C1D2"/>
                </a:solidFill>
                <a:latin typeface="Arial"/>
                <a:ea typeface="Arial"/>
                <a:cs typeface="Arial"/>
                <a:sym typeface="Arial"/>
              </a:endParaRPr>
            </a:p>
          </p:txBody>
        </p:sp>
      </p:grpSp>
      <p:sp>
        <p:nvSpPr>
          <p:cNvPr id="108" name="Google Shape;108;p3"/>
          <p:cNvSpPr/>
          <p:nvPr/>
        </p:nvSpPr>
        <p:spPr>
          <a:xfrm>
            <a:off x="6400800" y="1845945"/>
            <a:ext cx="5105400" cy="4391100"/>
          </a:xfrm>
          <a:prstGeom prst="roundRect">
            <a:avLst>
              <a:gd fmla="val 3298" name="adj"/>
            </a:avLst>
          </a:prstGeom>
          <a:solidFill>
            <a:srgbClr val="0E2B42"/>
          </a:solidFill>
          <a:ln cap="flat" cmpd="sng" w="9525">
            <a:solidFill>
              <a:srgbClr val="23D5D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109" name="Google Shape;109;p3"/>
          <p:cNvSpPr/>
          <p:nvPr/>
        </p:nvSpPr>
        <p:spPr>
          <a:xfrm>
            <a:off x="6667500" y="2084070"/>
            <a:ext cx="4572000" cy="304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1" lang="en-US" sz="1600">
                <a:solidFill>
                  <a:srgbClr val="23D5D2"/>
                </a:solidFill>
                <a:latin typeface="Arial"/>
                <a:ea typeface="Arial"/>
                <a:cs typeface="Arial"/>
                <a:sym typeface="Arial"/>
              </a:rPr>
              <a:t>Runtime Stack Architecture</a:t>
            </a:r>
            <a:endParaRPr b="1" sz="1600">
              <a:solidFill>
                <a:srgbClr val="23D5D2"/>
              </a:solidFill>
              <a:latin typeface="Arial"/>
              <a:ea typeface="Arial"/>
              <a:cs typeface="Arial"/>
              <a:sym typeface="Arial"/>
            </a:endParaRPr>
          </a:p>
        </p:txBody>
      </p:sp>
      <p:grpSp>
        <p:nvGrpSpPr>
          <p:cNvPr id="110" name="Google Shape;110;p3"/>
          <p:cNvGrpSpPr/>
          <p:nvPr/>
        </p:nvGrpSpPr>
        <p:grpSpPr>
          <a:xfrm>
            <a:off x="6667500" y="2541270"/>
            <a:ext cx="4572000" cy="904800"/>
            <a:chOff x="0" y="0"/>
            <a:chExt cx="4572000" cy="904800"/>
          </a:xfrm>
        </p:grpSpPr>
        <p:sp>
          <p:nvSpPr>
            <p:cNvPr id="111" name="Google Shape;111;p3"/>
            <p:cNvSpPr/>
            <p:nvPr/>
          </p:nvSpPr>
          <p:spPr>
            <a:xfrm>
              <a:off x="0" y="0"/>
              <a:ext cx="4572000" cy="904800"/>
            </a:xfrm>
            <a:prstGeom prst="roundRect">
              <a:avLst>
                <a:gd fmla="val 10526" name="adj"/>
              </a:avLst>
            </a:prstGeom>
            <a:solidFill>
              <a:srgbClr val="103445"/>
            </a:solidFill>
            <a:ln cap="flat" cmpd="sng" w="9525">
              <a:solidFill>
                <a:srgbClr val="1E456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112" name="Google Shape;112;p3"/>
            <p:cNvSpPr/>
            <p:nvPr/>
          </p:nvSpPr>
          <p:spPr>
            <a:xfrm>
              <a:off x="0" y="0"/>
              <a:ext cx="57300" cy="904800"/>
            </a:xfrm>
            <a:prstGeom prst="roundRect">
              <a:avLst>
                <a:gd fmla="val 50000" name="adj"/>
              </a:avLst>
            </a:prstGeom>
            <a:solidFill>
              <a:srgbClr val="FF9D42"/>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113" name="Google Shape;113;p3"/>
            <p:cNvSpPr txBox="1"/>
            <p:nvPr/>
          </p:nvSpPr>
          <p:spPr>
            <a:xfrm>
              <a:off x="228600" y="114300"/>
              <a:ext cx="4191000" cy="676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F7FBFF"/>
                  </a:solidFill>
                  <a:latin typeface="Arial"/>
                  <a:ea typeface="Arial"/>
                  <a:cs typeface="Arial"/>
                  <a:sym typeface="Arial"/>
                </a:rPr>
                <a:t>OSVBNG Control Plane (Go)</a:t>
              </a:r>
              <a:endParaRPr b="1" sz="1300">
                <a:solidFill>
                  <a:srgbClr val="F7FBFF"/>
                </a:solidFill>
                <a:latin typeface="Arial"/>
                <a:ea typeface="Arial"/>
                <a:cs typeface="Arial"/>
                <a:sym typeface="Arial"/>
              </a:endParaRPr>
            </a:p>
            <a:p>
              <a:pPr indent="0" lvl="0" marL="0" rtl="0" algn="l">
                <a:spcBef>
                  <a:spcPts val="300"/>
                </a:spcBef>
                <a:spcAft>
                  <a:spcPts val="0"/>
                </a:spcAft>
                <a:buNone/>
              </a:pPr>
              <a:r>
                <a:rPr lang="en-US" sz="1000">
                  <a:solidFill>
                    <a:srgbClr val="A9C1D2"/>
                  </a:solidFill>
                  <a:latin typeface="Arial"/>
                  <a:ea typeface="Arial"/>
                  <a:cs typeface="Arial"/>
                  <a:sym typeface="Arial"/>
                </a:rPr>
                <a:t>Subscriber lifecycle management, dynamic configuration, and management APIs</a:t>
              </a:r>
              <a:endParaRPr sz="1000">
                <a:solidFill>
                  <a:srgbClr val="A9C1D2"/>
                </a:solidFill>
                <a:latin typeface="Arial"/>
                <a:ea typeface="Arial"/>
                <a:cs typeface="Arial"/>
                <a:sym typeface="Arial"/>
              </a:endParaRPr>
            </a:p>
          </p:txBody>
        </p:sp>
      </p:grpSp>
      <p:grpSp>
        <p:nvGrpSpPr>
          <p:cNvPr id="114" name="Google Shape;114;p3"/>
          <p:cNvGrpSpPr/>
          <p:nvPr/>
        </p:nvGrpSpPr>
        <p:grpSpPr>
          <a:xfrm>
            <a:off x="6667500" y="3589020"/>
            <a:ext cx="4572000" cy="904800"/>
            <a:chOff x="0" y="0"/>
            <a:chExt cx="4572000" cy="904800"/>
          </a:xfrm>
        </p:grpSpPr>
        <p:sp>
          <p:nvSpPr>
            <p:cNvPr id="115" name="Google Shape;115;p3"/>
            <p:cNvSpPr/>
            <p:nvPr/>
          </p:nvSpPr>
          <p:spPr>
            <a:xfrm>
              <a:off x="0" y="0"/>
              <a:ext cx="4572000" cy="904800"/>
            </a:xfrm>
            <a:prstGeom prst="roundRect">
              <a:avLst>
                <a:gd fmla="val 10526" name="adj"/>
              </a:avLst>
            </a:prstGeom>
            <a:solidFill>
              <a:srgbClr val="103445"/>
            </a:solidFill>
            <a:ln cap="flat" cmpd="sng" w="9525">
              <a:solidFill>
                <a:srgbClr val="1E456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116" name="Google Shape;116;p3"/>
            <p:cNvSpPr/>
            <p:nvPr/>
          </p:nvSpPr>
          <p:spPr>
            <a:xfrm>
              <a:off x="0" y="0"/>
              <a:ext cx="57300" cy="904800"/>
            </a:xfrm>
            <a:prstGeom prst="roundRect">
              <a:avLst>
                <a:gd fmla="val 50000" name="adj"/>
              </a:avLst>
            </a:prstGeom>
            <a:solidFill>
              <a:srgbClr val="23D5D2"/>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117" name="Google Shape;117;p3"/>
            <p:cNvSpPr txBox="1"/>
            <p:nvPr/>
          </p:nvSpPr>
          <p:spPr>
            <a:xfrm>
              <a:off x="228600" y="114300"/>
              <a:ext cx="4191000" cy="676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F7FBFF"/>
                  </a:solidFill>
                  <a:latin typeface="Arial"/>
                  <a:ea typeface="Arial"/>
                  <a:cs typeface="Arial"/>
                  <a:sym typeface="Arial"/>
                </a:rPr>
                <a:t>VPP + DPDK Data Plane</a:t>
              </a:r>
              <a:endParaRPr b="1" sz="1300">
                <a:solidFill>
                  <a:srgbClr val="F7FBFF"/>
                </a:solidFill>
                <a:latin typeface="Arial"/>
                <a:ea typeface="Arial"/>
                <a:cs typeface="Arial"/>
                <a:sym typeface="Arial"/>
              </a:endParaRPr>
            </a:p>
            <a:p>
              <a:pPr indent="0" lvl="0" marL="0" rtl="0" algn="l">
                <a:spcBef>
                  <a:spcPts val="300"/>
                </a:spcBef>
                <a:spcAft>
                  <a:spcPts val="0"/>
                </a:spcAft>
                <a:buNone/>
              </a:pPr>
              <a:r>
                <a:rPr lang="en-US" sz="1000">
                  <a:solidFill>
                    <a:srgbClr val="A9C1D2"/>
                  </a:solidFill>
                  <a:latin typeface="Arial"/>
                  <a:ea typeface="Arial"/>
                  <a:cs typeface="Arial"/>
                  <a:sym typeface="Arial"/>
                </a:rPr>
                <a:t>High-speed packet processing engine and direct hardware/NIC access</a:t>
              </a:r>
              <a:endParaRPr sz="1000">
                <a:solidFill>
                  <a:srgbClr val="A9C1D2"/>
                </a:solidFill>
                <a:latin typeface="Arial"/>
                <a:ea typeface="Arial"/>
                <a:cs typeface="Arial"/>
                <a:sym typeface="Arial"/>
              </a:endParaRPr>
            </a:p>
          </p:txBody>
        </p:sp>
      </p:grpSp>
      <p:grpSp>
        <p:nvGrpSpPr>
          <p:cNvPr id="118" name="Google Shape;118;p3"/>
          <p:cNvGrpSpPr/>
          <p:nvPr/>
        </p:nvGrpSpPr>
        <p:grpSpPr>
          <a:xfrm>
            <a:off x="8248650" y="4636770"/>
            <a:ext cx="1409700" cy="1447800"/>
            <a:chOff x="1581150" y="0"/>
            <a:chExt cx="1409700" cy="1447800"/>
          </a:xfrm>
        </p:grpSpPr>
        <p:sp>
          <p:nvSpPr>
            <p:cNvPr id="119" name="Google Shape;119;p3"/>
            <p:cNvSpPr/>
            <p:nvPr/>
          </p:nvSpPr>
          <p:spPr>
            <a:xfrm>
              <a:off x="1581150" y="0"/>
              <a:ext cx="1409700" cy="1447800"/>
            </a:xfrm>
            <a:prstGeom prst="roundRect">
              <a:avLst>
                <a:gd fmla="val 6755" name="adj"/>
              </a:avLst>
            </a:prstGeom>
            <a:solidFill>
              <a:srgbClr val="103445"/>
            </a:solidFill>
            <a:ln cap="flat" cmpd="sng" w="9525">
              <a:solidFill>
                <a:srgbClr val="1E456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120" name="Google Shape;120;p3"/>
            <p:cNvSpPr/>
            <p:nvPr/>
          </p:nvSpPr>
          <p:spPr>
            <a:xfrm>
              <a:off x="1581150" y="0"/>
              <a:ext cx="1409700" cy="47700"/>
            </a:xfrm>
            <a:prstGeom prst="roundRect">
              <a:avLst>
                <a:gd fmla="val 40000" name="adj"/>
              </a:avLst>
            </a:prstGeom>
            <a:solidFill>
              <a:srgbClr val="43D17D"/>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121" name="Google Shape;121;p3"/>
            <p:cNvSpPr txBox="1"/>
            <p:nvPr/>
          </p:nvSpPr>
          <p:spPr>
            <a:xfrm>
              <a:off x="1695450" y="171450"/>
              <a:ext cx="1181100" cy="1143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100">
                  <a:solidFill>
                    <a:srgbClr val="F7FBFF"/>
                  </a:solidFill>
                  <a:latin typeface="Arial"/>
                  <a:ea typeface="Arial"/>
                  <a:cs typeface="Arial"/>
                  <a:sym typeface="Arial"/>
                </a:rPr>
                <a:t>FRR Routing</a:t>
              </a:r>
              <a:endParaRPr b="0" i="0" sz="1800">
                <a:solidFill>
                  <a:srgbClr val="43D17D"/>
                </a:solidFill>
                <a:latin typeface="Material Icons"/>
                <a:ea typeface="Material Icons"/>
                <a:cs typeface="Material Icons"/>
                <a:sym typeface="Material Icons"/>
              </a:endParaRPr>
            </a:p>
            <a:p>
              <a:pPr indent="0" lvl="0" marL="0" rtl="0" algn="l">
                <a:spcBef>
                  <a:spcPts val="600"/>
                </a:spcBef>
                <a:spcAft>
                  <a:spcPts val="600"/>
                </a:spcAft>
                <a:buNone/>
              </a:pPr>
              <a:r>
                <a:rPr b="0" i="0" lang="en-US" sz="950">
                  <a:solidFill>
                    <a:srgbClr val="A9C1D2"/>
                  </a:solidFill>
                  <a:latin typeface="Arial"/>
                  <a:ea typeface="Arial"/>
                  <a:cs typeface="Arial"/>
                  <a:sym typeface="Arial"/>
                </a:rPr>
                <a:t>Integrated routing protocol suite</a:t>
              </a:r>
              <a:endParaRPr b="0" i="0" sz="950">
                <a:solidFill>
                  <a:srgbClr val="43D17D"/>
                </a:solidFill>
                <a:latin typeface="Material Icons"/>
                <a:ea typeface="Material Icons"/>
                <a:cs typeface="Material Icons"/>
                <a:sym typeface="Material Icons"/>
              </a:endParaRPr>
            </a:p>
          </p:txBody>
        </p:sp>
      </p:grpSp>
      <p:grpSp>
        <p:nvGrpSpPr>
          <p:cNvPr id="122" name="Google Shape;122;p3"/>
          <p:cNvGrpSpPr/>
          <p:nvPr/>
        </p:nvGrpSpPr>
        <p:grpSpPr>
          <a:xfrm>
            <a:off x="6667500" y="4636770"/>
            <a:ext cx="1409700" cy="1447800"/>
            <a:chOff x="0" y="0"/>
            <a:chExt cx="1409700" cy="1447800"/>
          </a:xfrm>
        </p:grpSpPr>
        <p:sp>
          <p:nvSpPr>
            <p:cNvPr id="123" name="Google Shape;123;p3"/>
            <p:cNvSpPr/>
            <p:nvPr/>
          </p:nvSpPr>
          <p:spPr>
            <a:xfrm>
              <a:off x="0" y="0"/>
              <a:ext cx="1409700" cy="1447800"/>
            </a:xfrm>
            <a:prstGeom prst="roundRect">
              <a:avLst>
                <a:gd fmla="val 6755" name="adj"/>
              </a:avLst>
            </a:prstGeom>
            <a:solidFill>
              <a:srgbClr val="103445"/>
            </a:solidFill>
            <a:ln cap="flat" cmpd="sng" w="9525">
              <a:solidFill>
                <a:srgbClr val="1E456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124" name="Google Shape;124;p3"/>
            <p:cNvSpPr/>
            <p:nvPr/>
          </p:nvSpPr>
          <p:spPr>
            <a:xfrm>
              <a:off x="0" y="0"/>
              <a:ext cx="1409700" cy="47700"/>
            </a:xfrm>
            <a:prstGeom prst="roundRect">
              <a:avLst>
                <a:gd fmla="val 40000" name="adj"/>
              </a:avLst>
            </a:prstGeom>
            <a:solidFill>
              <a:srgbClr val="FF9D42"/>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125" name="Google Shape;125;p3"/>
            <p:cNvSpPr txBox="1"/>
            <p:nvPr/>
          </p:nvSpPr>
          <p:spPr>
            <a:xfrm>
              <a:off x="114300" y="171450"/>
              <a:ext cx="1181100" cy="1143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100">
                  <a:solidFill>
                    <a:srgbClr val="F7FBFF"/>
                  </a:solidFill>
                  <a:latin typeface="Arial"/>
                  <a:ea typeface="Arial"/>
                  <a:cs typeface="Arial"/>
                  <a:sym typeface="Arial"/>
                </a:rPr>
                <a:t>REST &amp; gRPC APIs</a:t>
              </a:r>
              <a:endParaRPr b="0" i="0" sz="1800">
                <a:solidFill>
                  <a:srgbClr val="FF9D42"/>
                </a:solidFill>
                <a:latin typeface="Material Icons"/>
                <a:ea typeface="Material Icons"/>
                <a:cs typeface="Material Icons"/>
                <a:sym typeface="Material Icons"/>
              </a:endParaRPr>
            </a:p>
            <a:p>
              <a:pPr indent="0" lvl="0" marL="0" rtl="0" algn="l">
                <a:spcBef>
                  <a:spcPts val="600"/>
                </a:spcBef>
                <a:spcAft>
                  <a:spcPts val="600"/>
                </a:spcAft>
                <a:buNone/>
              </a:pPr>
              <a:r>
                <a:rPr b="0" i="0" lang="en-US" sz="950">
                  <a:solidFill>
                    <a:srgbClr val="A9C1D2"/>
                  </a:solidFill>
                  <a:latin typeface="Arial"/>
                  <a:ea typeface="Arial"/>
                  <a:cs typeface="Arial"/>
                  <a:sym typeface="Arial"/>
                </a:rPr>
                <a:t>Northbound control &amp; management APIs</a:t>
              </a:r>
              <a:endParaRPr b="0" i="0" sz="950">
                <a:solidFill>
                  <a:srgbClr val="FF9D42"/>
                </a:solidFill>
                <a:latin typeface="Material Icons"/>
                <a:ea typeface="Material Icons"/>
                <a:cs typeface="Material Icons"/>
                <a:sym typeface="Material Icons"/>
              </a:endParaRPr>
            </a:p>
          </p:txBody>
        </p:sp>
      </p:grpSp>
      <p:grpSp>
        <p:nvGrpSpPr>
          <p:cNvPr id="126" name="Google Shape;126;p3"/>
          <p:cNvGrpSpPr/>
          <p:nvPr/>
        </p:nvGrpSpPr>
        <p:grpSpPr>
          <a:xfrm>
            <a:off x="9829800" y="4636770"/>
            <a:ext cx="1409700" cy="1447800"/>
            <a:chOff x="781050" y="0"/>
            <a:chExt cx="1409700" cy="1447800"/>
          </a:xfrm>
        </p:grpSpPr>
        <p:sp>
          <p:nvSpPr>
            <p:cNvPr id="127" name="Google Shape;127;p3"/>
            <p:cNvSpPr/>
            <p:nvPr/>
          </p:nvSpPr>
          <p:spPr>
            <a:xfrm>
              <a:off x="781050" y="0"/>
              <a:ext cx="1409700" cy="1447800"/>
            </a:xfrm>
            <a:prstGeom prst="roundRect">
              <a:avLst>
                <a:gd fmla="val 6755" name="adj"/>
              </a:avLst>
            </a:prstGeom>
            <a:solidFill>
              <a:srgbClr val="103445"/>
            </a:solidFill>
            <a:ln cap="flat" cmpd="sng" w="9525">
              <a:solidFill>
                <a:srgbClr val="1E456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128" name="Google Shape;128;p3"/>
            <p:cNvSpPr/>
            <p:nvPr/>
          </p:nvSpPr>
          <p:spPr>
            <a:xfrm>
              <a:off x="781050" y="0"/>
              <a:ext cx="1409700" cy="47700"/>
            </a:xfrm>
            <a:prstGeom prst="roundRect">
              <a:avLst>
                <a:gd fmla="val 40000" name="adj"/>
              </a:avLst>
            </a:prstGeom>
            <a:solidFill>
              <a:srgbClr val="23D5D2"/>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129" name="Google Shape;129;p3"/>
            <p:cNvSpPr txBox="1"/>
            <p:nvPr/>
          </p:nvSpPr>
          <p:spPr>
            <a:xfrm>
              <a:off x="895350" y="171450"/>
              <a:ext cx="1181100" cy="1143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100">
                  <a:solidFill>
                    <a:srgbClr val="F7FBFF"/>
                  </a:solidFill>
                  <a:latin typeface="Arial"/>
                  <a:ea typeface="Arial"/>
                  <a:cs typeface="Arial"/>
                  <a:sym typeface="Arial"/>
                </a:rPr>
                <a:t>Prometheus Metrics</a:t>
              </a:r>
              <a:endParaRPr b="0" i="0" sz="1800">
                <a:solidFill>
                  <a:srgbClr val="23D5D2"/>
                </a:solidFill>
                <a:latin typeface="Material Icons"/>
                <a:ea typeface="Material Icons"/>
                <a:cs typeface="Material Icons"/>
                <a:sym typeface="Material Icons"/>
              </a:endParaRPr>
            </a:p>
            <a:p>
              <a:pPr indent="0" lvl="0" marL="0" rtl="0" algn="l">
                <a:spcBef>
                  <a:spcPts val="600"/>
                </a:spcBef>
                <a:spcAft>
                  <a:spcPts val="600"/>
                </a:spcAft>
                <a:buNone/>
              </a:pPr>
              <a:r>
                <a:rPr b="0" i="0" lang="en-US" sz="950">
                  <a:solidFill>
                    <a:srgbClr val="A9C1D2"/>
                  </a:solidFill>
                  <a:latin typeface="Arial"/>
                  <a:ea typeface="Arial"/>
                  <a:cs typeface="Arial"/>
                  <a:sym typeface="Arial"/>
                </a:rPr>
                <a:t>Real-time operational telemetry</a:t>
              </a:r>
              <a:endParaRPr b="0" i="0" sz="950">
                <a:solidFill>
                  <a:srgbClr val="23D5D2"/>
                </a:solidFill>
                <a:latin typeface="Material Icons"/>
                <a:ea typeface="Material Icons"/>
                <a:cs typeface="Material Icons"/>
                <a:sym typeface="Material Icons"/>
              </a:endParaRPr>
            </a:p>
          </p:txBody>
        </p:sp>
      </p:grpSp>
      <p:sp>
        <p:nvSpPr>
          <p:cNvPr id="130" name="Google Shape;130;p3"/>
          <p:cNvSpPr/>
          <p:nvPr/>
        </p:nvSpPr>
        <p:spPr>
          <a:xfrm>
            <a:off x="685800" y="6410325"/>
            <a:ext cx="10820400" cy="9600"/>
          </a:xfrm>
          <a:prstGeom prst="rect">
            <a:avLst/>
          </a:prstGeom>
          <a:solidFill>
            <a:srgbClr val="29485D"/>
          </a:solidFill>
          <a:ln cap="flat" cmpd="sng" w="9525">
            <a:solidFill>
              <a:srgbClr val="29485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131" name="Google Shape;131;p3"/>
          <p:cNvSpPr/>
          <p:nvPr/>
        </p:nvSpPr>
        <p:spPr>
          <a:xfrm>
            <a:off x="685800" y="6477000"/>
            <a:ext cx="8686800" cy="171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A9C1D2"/>
                </a:solidFill>
                <a:latin typeface="Arial"/>
                <a:ea typeface="Arial"/>
                <a:cs typeface="Arial"/>
                <a:sym typeface="Arial"/>
              </a:rPr>
              <a:t>Project: github.com/veesix-networks/osvbng</a:t>
            </a:r>
            <a:endParaRPr b="0">
              <a:solidFill>
                <a:srgbClr val="A9C1D2"/>
              </a:solidFill>
              <a:latin typeface="Arial"/>
              <a:ea typeface="Arial"/>
              <a:cs typeface="Arial"/>
              <a:sym typeface="Arial"/>
            </a:endParaRPr>
          </a:p>
        </p:txBody>
      </p:sp>
      <p:sp>
        <p:nvSpPr>
          <p:cNvPr id="132" name="Google Shape;132;p3"/>
          <p:cNvSpPr/>
          <p:nvPr/>
        </p:nvSpPr>
        <p:spPr>
          <a:xfrm>
            <a:off x="10953750" y="6448425"/>
            <a:ext cx="552600" cy="1905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ctr">
              <a:spcBef>
                <a:spcPts val="0"/>
              </a:spcBef>
              <a:spcAft>
                <a:spcPts val="0"/>
              </a:spcAft>
              <a:buNone/>
            </a:pPr>
            <a:r>
              <a:rPr b="1" lang="en-US" sz="800">
                <a:solidFill>
                  <a:srgbClr val="23D5D2"/>
                </a:solidFill>
                <a:latin typeface="Arial"/>
                <a:ea typeface="Arial"/>
                <a:cs typeface="Arial"/>
                <a:sym typeface="Arial"/>
              </a:rPr>
              <a:t>04</a:t>
            </a:r>
            <a:endParaRPr b="1" sz="800">
              <a:solidFill>
                <a:srgbClr val="23D5D2"/>
              </a:solidFill>
              <a:latin typeface="Arial"/>
              <a:ea typeface="Arial"/>
              <a:cs typeface="Arial"/>
              <a:sym typeface="Arial"/>
            </a:endParaRPr>
          </a:p>
        </p:txBody>
      </p:sp>
      <p:pic>
        <p:nvPicPr>
          <p:cNvPr id="133" name="Picture 132" descr="dns_23D5D2.png"/>
          <p:cNvPicPr>
            <a:picLocks noChangeAspect="1"/>
          </p:cNvPicPr>
          <p:nvPr/>
        </p:nvPicPr>
        <p:blipFill>
          <a:blip r:embed="rId3"/>
          <a:stretch>
            <a:fillRect/>
          </a:stretch>
        </p:blipFill>
        <p:spPr>
          <a:xfrm>
            <a:off x="1040892" y="2620772"/>
            <a:ext cx="356616" cy="356616"/>
          </a:xfrm>
          <a:prstGeom prst="rect">
            <a:avLst/>
          </a:prstGeom>
        </p:spPr>
      </p:pic>
      <p:pic>
        <p:nvPicPr>
          <p:cNvPr id="134" name="Picture 133" descr="router_23D5D2.png"/>
          <p:cNvPicPr>
            <a:picLocks noChangeAspect="1"/>
          </p:cNvPicPr>
          <p:nvPr/>
        </p:nvPicPr>
        <p:blipFill>
          <a:blip r:embed="rId4"/>
          <a:stretch>
            <a:fillRect/>
          </a:stretch>
        </p:blipFill>
        <p:spPr>
          <a:xfrm>
            <a:off x="1040892" y="3230372"/>
            <a:ext cx="356616" cy="356616"/>
          </a:xfrm>
          <a:prstGeom prst="rect">
            <a:avLst/>
          </a:prstGeom>
        </p:spPr>
      </p:pic>
      <p:pic>
        <p:nvPicPr>
          <p:cNvPr id="135" name="Picture 134" descr="alt_route_23D5D2.png"/>
          <p:cNvPicPr>
            <a:picLocks noChangeAspect="1"/>
          </p:cNvPicPr>
          <p:nvPr/>
        </p:nvPicPr>
        <p:blipFill>
          <a:blip r:embed="rId5"/>
          <a:stretch>
            <a:fillRect/>
          </a:stretch>
        </p:blipFill>
        <p:spPr>
          <a:xfrm>
            <a:off x="1040892" y="3839972"/>
            <a:ext cx="356616" cy="356616"/>
          </a:xfrm>
          <a:prstGeom prst="rect">
            <a:avLst/>
          </a:prstGeom>
        </p:spPr>
      </p:pic>
      <p:pic>
        <p:nvPicPr>
          <p:cNvPr id="136" name="Picture 135" descr="inventory_2_23D5D2.png"/>
          <p:cNvPicPr>
            <a:picLocks noChangeAspect="1"/>
          </p:cNvPicPr>
          <p:nvPr/>
        </p:nvPicPr>
        <p:blipFill>
          <a:blip r:embed="rId6"/>
          <a:stretch>
            <a:fillRect/>
          </a:stretch>
        </p:blipFill>
        <p:spPr>
          <a:xfrm>
            <a:off x="1040892" y="4449572"/>
            <a:ext cx="356616" cy="356616"/>
          </a:xfrm>
          <a:prstGeom prst="rect">
            <a:avLst/>
          </a:prstGeom>
        </p:spPr>
      </p:pic>
      <p:sp>
        <p:nvSpPr>
          <p:cNvPr id="9001" name="Google Shape;138;p4"/>
          <p:cNvSpPr/>
          <p:nvPr/>
        </p:nvSpPr>
        <p:spPr>
          <a:xfrm>
            <a:off x="685800" y="457200"/>
            <a:ext cx="47625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975">
                <a:solidFill>
                  <a:srgbClr val="23D5D2"/>
                </a:solidFill>
              </a:rPr>
              <a:t>02 • THE SOFTWARE</a:t>
            </a:r>
            <a:endParaRPr/>
          </a:p>
        </p:txBody>
      </p:sp>
      <p:sp>
        <p:nvSpPr>
          <p:cNvPr id="9002" name="Google Shape;139;p4"/>
          <p:cNvSpPr/>
          <p:nvPr/>
        </p:nvSpPr>
        <p:spPr>
          <a:xfrm>
            <a:off x="685800" y="819150"/>
            <a:ext cx="10820400"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50">
                <a:solidFill>
                  <a:srgbClr val="F7FBFF"/>
                </a:solidFill>
              </a:rPr>
              <a:t>OSVBNG: an open-source virtual BNG</a:t>
            </a:r>
            <a:endParaRPr/>
          </a:p>
        </p:txBody>
      </p:sp>
      <p:sp>
        <p:nvSpPr>
          <p:cNvPr id="9003" name="Google Shape;140;p4"/>
          <p:cNvSpPr/>
          <p:nvPr/>
        </p:nvSpPr>
        <p:spPr>
          <a:xfrm>
            <a:off x="685800" y="1457325"/>
            <a:ext cx="10287000" cy="2926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350">
                <a:solidFill>
                  <a:srgbClr val="A9C1D2"/>
                </a:solidFill>
              </a:rPr>
              <a:t>A Go control plane combined with VPP, FRR, and DPDK on commodity x86 servers.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A2B"/>
        </a:solidFill>
      </p:bgPr>
    </p:bg>
    <p:spTree>
      <p:nvGrpSpPr>
        <p:cNvPr id="171" name="Shape 171"/>
        <p:cNvGrpSpPr/>
        <p:nvPr/>
      </p:nvGrpSpPr>
      <p:grpSpPr>
        <a:xfrm>
          <a:off x="0" y="0"/>
          <a:ext cx="0" cy="0"/>
          <a:chOff x="0" y="0"/>
          <a:chExt cx="0" cy="0"/>
        </a:xfrm>
      </p:grpSpPr>
      <p:sp>
        <p:nvSpPr>
          <p:cNvPr id="172" name="Google Shape;172;p5"/>
          <p:cNvSpPr/>
          <p:nvPr/>
        </p:nvSpPr>
        <p:spPr>
          <a:xfrm>
            <a:off x="685800" y="457200"/>
            <a:ext cx="47625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975">
                <a:solidFill>
                  <a:srgbClr val="23D5D2"/>
                </a:solidFill>
              </a:rPr>
              <a:t>03 • THE DESIGN</a:t>
            </a:r>
            <a:endParaRPr/>
          </a:p>
        </p:txBody>
      </p:sp>
      <p:sp>
        <p:nvSpPr>
          <p:cNvPr id="173" name="Google Shape;173;p5"/>
          <p:cNvSpPr/>
          <p:nvPr/>
        </p:nvSpPr>
        <p:spPr>
          <a:xfrm>
            <a:off x="685800" y="819150"/>
            <a:ext cx="10820400"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50">
                <a:solidFill>
                  <a:srgbClr val="F7FBFF"/>
                </a:solidFill>
              </a:rPr>
              <a:t>One cluster, dedicated data-plane NICs</a:t>
            </a:r>
            <a:endParaRPr/>
          </a:p>
        </p:txBody>
      </p:sp>
      <p:sp>
        <p:nvSpPr>
          <p:cNvPr id="174" name="Google Shape;174;p5"/>
          <p:cNvSpPr/>
          <p:nvPr/>
        </p:nvSpPr>
        <p:spPr>
          <a:xfrm>
            <a:off x="685800" y="1457325"/>
            <a:ext cx="102870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350">
                <a:solidFill>
                  <a:srgbClr val="A9C1D2"/>
                </a:solidFill>
              </a:rPr>
              <a:t>Management uses the normal pod network. Subscriber and core traffic run on two VFIO-bound NICs the SR-IOV device plugin assigns to each BNG pod.</a:t>
            </a:r>
            <a:endParaRPr/>
          </a:p>
        </p:txBody>
      </p:sp>
      <p:sp>
        <p:nvSpPr>
          <p:cNvPr id="175" name="Google Shape;175;p5"/>
          <p:cNvSpPr/>
          <p:nvPr/>
        </p:nvSpPr>
        <p:spPr>
          <a:xfrm>
            <a:off x="552450" y="2343150"/>
            <a:ext cx="2095500" cy="1381125"/>
          </a:xfrm>
          <a:prstGeom prst="roundRect">
            <a:avLst>
              <a:gd fmla="val 8276" name="adj"/>
            </a:avLst>
          </a:prstGeom>
          <a:solidFill>
            <a:srgbClr val="0E2B42"/>
          </a:solidFill>
          <a:ln cap="flat" cmpd="sng" w="9525">
            <a:solidFill>
              <a:srgbClr val="3153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76" name="Google Shape;176;p5"/>
          <p:cNvSpPr/>
          <p:nvPr/>
        </p:nvSpPr>
        <p:spPr>
          <a:xfrm>
            <a:off x="552450" y="2343150"/>
            <a:ext cx="57150" cy="1381125"/>
          </a:xfrm>
          <a:prstGeom prst="rect">
            <a:avLst/>
          </a:prstGeom>
          <a:solidFill>
            <a:srgbClr val="FF9D42"/>
          </a:solidFill>
          <a:ln cap="flat" cmpd="sng" w="9525">
            <a:solidFill>
              <a:srgbClr val="FF9D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77" name="Google Shape;177;p5"/>
          <p:cNvSpPr/>
          <p:nvPr/>
        </p:nvSpPr>
        <p:spPr>
          <a:xfrm>
            <a:off x="742950" y="2476500"/>
            <a:ext cx="1790700" cy="495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75">
                <a:solidFill>
                  <a:srgbClr val="F7FBFF"/>
                </a:solidFill>
              </a:rPr>
              <a:t>UE generator</a:t>
            </a:r>
            <a:endParaRPr/>
          </a:p>
        </p:txBody>
      </p:sp>
      <p:sp>
        <p:nvSpPr>
          <p:cNvPr id="178" name="Google Shape;178;p5"/>
          <p:cNvSpPr/>
          <p:nvPr/>
        </p:nvSpPr>
        <p:spPr>
          <a:xfrm>
            <a:off x="742950" y="3028950"/>
            <a:ext cx="1790700" cy="6000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975">
                <a:solidFill>
                  <a:srgbClr val="A9C1D2"/>
                </a:solidFill>
              </a:rPr>
              <a:t>BNG Blaster</a:t>
            </a:r>
            <a:endParaRPr/>
          </a:p>
          <a:p>
            <a:pPr indent="0" lvl="0" marL="0" marR="0" rtl="0" algn="l">
              <a:spcBef>
                <a:spcPts val="0"/>
              </a:spcBef>
              <a:spcAft>
                <a:spcPts val="0"/>
              </a:spcAft>
              <a:buNone/>
            </a:pPr>
            <a:r>
              <a:rPr b="0" lang="en-US" sz="975">
                <a:solidFill>
                  <a:srgbClr val="A9C1D2"/>
                </a:solidFill>
              </a:rPr>
              <a:t>VLAN sessions and tests</a:t>
            </a:r>
            <a:endParaRPr/>
          </a:p>
        </p:txBody>
      </p:sp>
      <p:sp>
        <p:nvSpPr>
          <p:cNvPr id="179" name="Google Shape;179;p5"/>
          <p:cNvSpPr/>
          <p:nvPr/>
        </p:nvSpPr>
        <p:spPr>
          <a:xfrm>
            <a:off x="3333750" y="2343150"/>
            <a:ext cx="2381250" cy="1381125"/>
          </a:xfrm>
          <a:prstGeom prst="roundRect">
            <a:avLst>
              <a:gd fmla="val 8276" name="adj"/>
            </a:avLst>
          </a:prstGeom>
          <a:solidFill>
            <a:srgbClr val="0E2B42"/>
          </a:solidFill>
          <a:ln cap="flat" cmpd="sng" w="9525">
            <a:solidFill>
              <a:srgbClr val="3153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80" name="Google Shape;180;p5"/>
          <p:cNvSpPr/>
          <p:nvPr/>
        </p:nvSpPr>
        <p:spPr>
          <a:xfrm>
            <a:off x="3333750" y="2343150"/>
            <a:ext cx="57150" cy="1381125"/>
          </a:xfrm>
          <a:prstGeom prst="rect">
            <a:avLst/>
          </a:prstGeom>
          <a:solidFill>
            <a:srgbClr val="23D5D2"/>
          </a:solidFill>
          <a:ln cap="flat" cmpd="sng" w="9525">
            <a:solidFill>
              <a:srgbClr val="23D5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81" name="Google Shape;181;p5"/>
          <p:cNvSpPr/>
          <p:nvPr/>
        </p:nvSpPr>
        <p:spPr>
          <a:xfrm>
            <a:off x="3524250" y="2476500"/>
            <a:ext cx="2076450" cy="495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75">
                <a:solidFill>
                  <a:srgbClr val="F7FBFF"/>
                </a:solidFill>
              </a:rPr>
              <a:t>OSVBNG StatefulSet</a:t>
            </a:r>
            <a:endParaRPr/>
          </a:p>
        </p:txBody>
      </p:sp>
      <p:sp>
        <p:nvSpPr>
          <p:cNvPr id="182" name="Google Shape;182;p5"/>
          <p:cNvSpPr/>
          <p:nvPr/>
        </p:nvSpPr>
        <p:spPr>
          <a:xfrm>
            <a:off x="3524250" y="3028950"/>
            <a:ext cx="2076450" cy="6000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975">
                <a:solidFill>
                  <a:srgbClr val="A9C1D2"/>
                </a:solidFill>
              </a:rPr>
              <a:t>VPP + DPDK</a:t>
            </a:r>
            <a:endParaRPr/>
          </a:p>
          <a:p>
            <a:pPr indent="0" lvl="0" marL="0" marR="0" rtl="0" algn="l">
              <a:spcBef>
                <a:spcPts val="0"/>
              </a:spcBef>
              <a:spcAft>
                <a:spcPts val="0"/>
              </a:spcAft>
              <a:buNone/>
            </a:pPr>
            <a:r>
              <a:rPr b="0" lang="en-US" sz="975">
                <a:solidFill>
                  <a:srgbClr val="A9C1D2"/>
                </a:solidFill>
              </a:rPr>
              <a:t>subscriber forwarding</a:t>
            </a:r>
            <a:endParaRPr b="0" sz="975">
              <a:solidFill>
                <a:srgbClr val="A9C1D2"/>
              </a:solidFill>
            </a:endParaRPr>
          </a:p>
          <a:p>
            <a:pPr indent="0" lvl="0" marL="0" marR="0" rtl="0" algn="l">
              <a:spcBef>
                <a:spcPts val="0"/>
              </a:spcBef>
              <a:spcAft>
                <a:spcPts val="0"/>
              </a:spcAft>
              <a:buNone/>
            </a:pPr>
            <a:r>
              <a:rPr lang="en-US" sz="975">
                <a:solidFill>
                  <a:srgbClr val="A9C1D2"/>
                </a:solidFill>
              </a:rPr>
              <a:t>and CGNAT</a:t>
            </a:r>
            <a:endParaRPr sz="975">
              <a:solidFill>
                <a:srgbClr val="A9C1D2"/>
              </a:solidFill>
            </a:endParaRPr>
          </a:p>
        </p:txBody>
      </p:sp>
      <p:sp>
        <p:nvSpPr>
          <p:cNvPr id="183" name="Google Shape;183;p5"/>
          <p:cNvSpPr/>
          <p:nvPr/>
        </p:nvSpPr>
        <p:spPr>
          <a:xfrm>
            <a:off x="6572250" y="2343150"/>
            <a:ext cx="2190750" cy="1381125"/>
          </a:xfrm>
          <a:prstGeom prst="roundRect">
            <a:avLst>
              <a:gd fmla="val 8276" name="adj"/>
            </a:avLst>
          </a:prstGeom>
          <a:solidFill>
            <a:srgbClr val="0E2B42"/>
          </a:solidFill>
          <a:ln cap="flat" cmpd="sng" w="9525">
            <a:solidFill>
              <a:srgbClr val="3153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84" name="Google Shape;184;p5"/>
          <p:cNvSpPr/>
          <p:nvPr/>
        </p:nvSpPr>
        <p:spPr>
          <a:xfrm>
            <a:off x="6572250" y="2343150"/>
            <a:ext cx="57150" cy="1381125"/>
          </a:xfrm>
          <a:prstGeom prst="rect">
            <a:avLst/>
          </a:prstGeom>
          <a:solidFill>
            <a:srgbClr val="43D17D"/>
          </a:solidFill>
          <a:ln cap="flat" cmpd="sng" w="9525">
            <a:solidFill>
              <a:srgbClr val="43D1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85" name="Google Shape;185;p5"/>
          <p:cNvSpPr/>
          <p:nvPr/>
        </p:nvSpPr>
        <p:spPr>
          <a:xfrm>
            <a:off x="6762750" y="2476500"/>
            <a:ext cx="1885950" cy="495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75">
                <a:solidFill>
                  <a:srgbClr val="F7FBFF"/>
                </a:solidFill>
              </a:rPr>
              <a:t>FRR routers</a:t>
            </a:r>
            <a:endParaRPr/>
          </a:p>
        </p:txBody>
      </p:sp>
      <p:sp>
        <p:nvSpPr>
          <p:cNvPr id="186" name="Google Shape;186;p5"/>
          <p:cNvSpPr/>
          <p:nvPr/>
        </p:nvSpPr>
        <p:spPr>
          <a:xfrm>
            <a:off x="6762750" y="3028950"/>
            <a:ext cx="1885950" cy="6000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975">
                <a:solidFill>
                  <a:srgbClr val="A9C1D2"/>
                </a:solidFill>
              </a:rPr>
              <a:t>BGP toward the BNG</a:t>
            </a:r>
            <a:endParaRPr/>
          </a:p>
          <a:p>
            <a:pPr indent="0" lvl="0" marL="0" marR="0" rtl="0" algn="l">
              <a:spcBef>
                <a:spcPts val="0"/>
              </a:spcBef>
              <a:spcAft>
                <a:spcPts val="0"/>
              </a:spcAft>
              <a:buNone/>
            </a:pPr>
            <a:r>
              <a:rPr b="0" lang="en-US" sz="975">
                <a:solidFill>
                  <a:srgbClr val="A9C1D2"/>
                </a:solidFill>
              </a:rPr>
              <a:t>and MikroTik</a:t>
            </a:r>
            <a:endParaRPr/>
          </a:p>
        </p:txBody>
      </p:sp>
      <p:sp>
        <p:nvSpPr>
          <p:cNvPr id="187" name="Google Shape;187;p5"/>
          <p:cNvSpPr/>
          <p:nvPr/>
        </p:nvSpPr>
        <p:spPr>
          <a:xfrm>
            <a:off x="9525000" y="2343150"/>
            <a:ext cx="2095500" cy="1381125"/>
          </a:xfrm>
          <a:prstGeom prst="roundRect">
            <a:avLst>
              <a:gd fmla="val 8276" name="adj"/>
            </a:avLst>
          </a:prstGeom>
          <a:solidFill>
            <a:srgbClr val="0E2B42"/>
          </a:solidFill>
          <a:ln cap="flat" cmpd="sng" w="9525">
            <a:solidFill>
              <a:srgbClr val="3153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88" name="Google Shape;188;p5"/>
          <p:cNvSpPr/>
          <p:nvPr/>
        </p:nvSpPr>
        <p:spPr>
          <a:xfrm>
            <a:off x="9525000" y="2343150"/>
            <a:ext cx="57150" cy="1381125"/>
          </a:xfrm>
          <a:prstGeom prst="rect">
            <a:avLst/>
          </a:prstGeom>
          <a:solidFill>
            <a:srgbClr val="FF9D42"/>
          </a:solidFill>
          <a:ln cap="flat" cmpd="sng" w="9525">
            <a:solidFill>
              <a:srgbClr val="FF9D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89" name="Google Shape;189;p5"/>
          <p:cNvSpPr/>
          <p:nvPr/>
        </p:nvSpPr>
        <p:spPr>
          <a:xfrm>
            <a:off x="9715500" y="2476500"/>
            <a:ext cx="1790700" cy="495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75">
                <a:solidFill>
                  <a:srgbClr val="F7FBFF"/>
                </a:solidFill>
              </a:rPr>
              <a:t>Upstream edge</a:t>
            </a:r>
            <a:endParaRPr/>
          </a:p>
        </p:txBody>
      </p:sp>
      <p:sp>
        <p:nvSpPr>
          <p:cNvPr id="190" name="Google Shape;190;p5"/>
          <p:cNvSpPr/>
          <p:nvPr/>
        </p:nvSpPr>
        <p:spPr>
          <a:xfrm>
            <a:off x="2647950" y="3009900"/>
            <a:ext cx="685800" cy="38100"/>
          </a:xfrm>
          <a:prstGeom prst="rect">
            <a:avLst/>
          </a:prstGeom>
          <a:solidFill>
            <a:srgbClr val="FF9D42"/>
          </a:solidFill>
          <a:ln cap="flat" cmpd="sng" w="9525">
            <a:solidFill>
              <a:srgbClr val="FF9D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91" name="Google Shape;191;p5"/>
          <p:cNvSpPr/>
          <p:nvPr/>
        </p:nvSpPr>
        <p:spPr>
          <a:xfrm>
            <a:off x="5715000" y="3009900"/>
            <a:ext cx="857250" cy="38100"/>
          </a:xfrm>
          <a:prstGeom prst="rect">
            <a:avLst/>
          </a:prstGeom>
          <a:solidFill>
            <a:srgbClr val="23D5D2"/>
          </a:solidFill>
          <a:ln cap="flat" cmpd="sng" w="9525">
            <a:solidFill>
              <a:srgbClr val="23D5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92" name="Google Shape;192;p5"/>
          <p:cNvSpPr/>
          <p:nvPr/>
        </p:nvSpPr>
        <p:spPr>
          <a:xfrm>
            <a:off x="8763000" y="3009900"/>
            <a:ext cx="762000" cy="38100"/>
          </a:xfrm>
          <a:prstGeom prst="rect">
            <a:avLst/>
          </a:prstGeom>
          <a:solidFill>
            <a:srgbClr val="43D17D"/>
          </a:solidFill>
          <a:ln cap="flat" cmpd="sng" w="9525">
            <a:solidFill>
              <a:srgbClr val="43D1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93" name="Google Shape;193;p5"/>
          <p:cNvSpPr/>
          <p:nvPr/>
        </p:nvSpPr>
        <p:spPr>
          <a:xfrm>
            <a:off x="590550" y="3848100"/>
            <a:ext cx="2095500" cy="590700"/>
          </a:xfrm>
          <a:prstGeom prst="roundRect">
            <a:avLst>
              <a:gd fmla="val 19355" name="adj"/>
            </a:avLst>
          </a:prstGeom>
          <a:solidFill>
            <a:srgbClr val="102C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94" name="Google Shape;194;p5"/>
          <p:cNvSpPr/>
          <p:nvPr/>
        </p:nvSpPr>
        <p:spPr>
          <a:xfrm>
            <a:off x="704850" y="3952875"/>
            <a:ext cx="1866900" cy="400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125">
                <a:solidFill>
                  <a:srgbClr val="F7FBFF"/>
                </a:solidFill>
              </a:rPr>
              <a:t>Subscriber access</a:t>
            </a:r>
            <a:endParaRPr/>
          </a:p>
          <a:p>
            <a:pPr indent="0" lvl="0" marL="0" marR="0" rtl="0" algn="ctr">
              <a:spcBef>
                <a:spcPts val="0"/>
              </a:spcBef>
              <a:spcAft>
                <a:spcPts val="0"/>
              </a:spcAft>
              <a:buNone/>
            </a:pPr>
            <a:r>
              <a:rPr b="1" lang="en-US" sz="1125">
                <a:solidFill>
                  <a:srgbClr val="F7FBFF"/>
                </a:solidFill>
              </a:rPr>
              <a:t>VLANs 100–119</a:t>
            </a:r>
            <a:endParaRPr/>
          </a:p>
        </p:txBody>
      </p:sp>
      <p:sp>
        <p:nvSpPr>
          <p:cNvPr id="195" name="Google Shape;195;p5"/>
          <p:cNvSpPr/>
          <p:nvPr/>
        </p:nvSpPr>
        <p:spPr>
          <a:xfrm>
            <a:off x="4796222" y="3835144"/>
            <a:ext cx="2381400" cy="590700"/>
          </a:xfrm>
          <a:prstGeom prst="roundRect">
            <a:avLst>
              <a:gd fmla="val 19355" name="adj"/>
            </a:avLst>
          </a:prstGeom>
          <a:solidFill>
            <a:srgbClr val="102C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96" name="Google Shape;196;p5"/>
          <p:cNvSpPr/>
          <p:nvPr/>
        </p:nvSpPr>
        <p:spPr>
          <a:xfrm>
            <a:off x="4948622" y="3939919"/>
            <a:ext cx="2076600" cy="400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125">
                <a:solidFill>
                  <a:srgbClr val="F7FBFF"/>
                </a:solidFill>
              </a:rPr>
              <a:t>BNG–FRR transit</a:t>
            </a:r>
            <a:endParaRPr/>
          </a:p>
          <a:p>
            <a:pPr indent="0" lvl="0" marL="0" marR="0" rtl="0" algn="ctr">
              <a:spcBef>
                <a:spcPts val="0"/>
              </a:spcBef>
              <a:spcAft>
                <a:spcPts val="0"/>
              </a:spcAft>
              <a:buNone/>
            </a:pPr>
            <a:r>
              <a:rPr b="1" lang="en-US" sz="1125">
                <a:solidFill>
                  <a:srgbClr val="F7FBFF"/>
                </a:solidFill>
              </a:rPr>
              <a:t>172.31.255.0/29</a:t>
            </a:r>
            <a:endParaRPr/>
          </a:p>
        </p:txBody>
      </p:sp>
      <p:sp>
        <p:nvSpPr>
          <p:cNvPr id="197" name="Google Shape;197;p5"/>
          <p:cNvSpPr/>
          <p:nvPr/>
        </p:nvSpPr>
        <p:spPr>
          <a:xfrm>
            <a:off x="8091525" y="3868126"/>
            <a:ext cx="2190900" cy="590700"/>
          </a:xfrm>
          <a:prstGeom prst="roundRect">
            <a:avLst>
              <a:gd fmla="val 19355" name="adj"/>
            </a:avLst>
          </a:prstGeom>
          <a:solidFill>
            <a:srgbClr val="102C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98" name="Google Shape;198;p5"/>
          <p:cNvSpPr/>
          <p:nvPr/>
        </p:nvSpPr>
        <p:spPr>
          <a:xfrm>
            <a:off x="8181975" y="3963376"/>
            <a:ext cx="1924200" cy="400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125">
                <a:solidFill>
                  <a:srgbClr val="F7FBFF"/>
                </a:solidFill>
              </a:rPr>
              <a:t>FRR–MikroTik uplink</a:t>
            </a:r>
            <a:endParaRPr/>
          </a:p>
          <a:p>
            <a:pPr indent="0" lvl="0" marL="0" marR="0" rtl="0" algn="ctr">
              <a:spcBef>
                <a:spcPts val="0"/>
              </a:spcBef>
              <a:spcAft>
                <a:spcPts val="0"/>
              </a:spcAft>
              <a:buNone/>
            </a:pPr>
            <a:r>
              <a:rPr b="1" lang="en-US" sz="1125">
                <a:solidFill>
                  <a:srgbClr val="F7FBFF"/>
                </a:solidFill>
              </a:rPr>
              <a:t>192.168.88.12 / .13</a:t>
            </a:r>
            <a:endParaRPr/>
          </a:p>
        </p:txBody>
      </p:sp>
      <p:sp>
        <p:nvSpPr>
          <p:cNvPr id="199" name="Google Shape;199;p5"/>
          <p:cNvSpPr/>
          <p:nvPr/>
        </p:nvSpPr>
        <p:spPr>
          <a:xfrm>
            <a:off x="2714625" y="5010150"/>
            <a:ext cx="6858000" cy="799500"/>
          </a:xfrm>
          <a:prstGeom prst="roundRect">
            <a:avLst>
              <a:gd fmla="val 16667" name="adj"/>
            </a:avLst>
          </a:prstGeom>
          <a:solidFill>
            <a:srgbClr val="102C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00" name="Google Shape;200;p5"/>
          <p:cNvSpPr/>
          <p:nvPr/>
        </p:nvSpPr>
        <p:spPr>
          <a:xfrm>
            <a:off x="3000375" y="5191125"/>
            <a:ext cx="6286500" cy="381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425">
                <a:solidFill>
                  <a:srgbClr val="F7FBFF"/>
                </a:solidFill>
              </a:rPr>
              <a:t>Kubernetes manages scheduling, rollout, configuration, secrets, and observability.</a:t>
            </a:r>
            <a:endParaRPr/>
          </a:p>
        </p:txBody>
      </p:sp>
      <p:sp>
        <p:nvSpPr>
          <p:cNvPr id="201" name="Google Shape;201;p5"/>
          <p:cNvSpPr/>
          <p:nvPr/>
        </p:nvSpPr>
        <p:spPr>
          <a:xfrm>
            <a:off x="685800" y="6410325"/>
            <a:ext cx="10820400" cy="9525"/>
          </a:xfrm>
          <a:prstGeom prst="rect">
            <a:avLst/>
          </a:prstGeom>
          <a:solidFill>
            <a:srgbClr val="29485D"/>
          </a:solidFill>
          <a:ln cap="flat" cmpd="sng" w="9525">
            <a:solidFill>
              <a:srgbClr val="29485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02" name="Google Shape;202;p5"/>
          <p:cNvSpPr/>
          <p:nvPr/>
        </p:nvSpPr>
        <p:spPr>
          <a:xfrm>
            <a:off x="10953750" y="6448425"/>
            <a:ext cx="55245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lang="en-US" sz="825">
                <a:solidFill>
                  <a:srgbClr val="23D5D2"/>
                </a:solidFill>
              </a:rPr>
              <a:t>05</a:t>
            </a:r>
            <a:endParaRPr/>
          </a:p>
        </p:txBody>
      </p:sp>
      <p:sp>
        <p:nvSpPr>
          <p:cNvPr id="9013" name="Google Shape;186;p5"/>
          <p:cNvSpPr/>
          <p:nvPr/>
        </p:nvSpPr>
        <p:spPr>
          <a:xfrm>
            <a:off x="9715500" y="3028950"/>
            <a:ext cx="1790700" cy="6000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975">
                <a:solidFill>
                  <a:srgbClr val="A9C1D2"/>
                </a:solidFill>
              </a:rPr>
              <a:t>Regional DC, PE router</a:t>
            </a:r>
            <a:endParaRPr/>
          </a:p>
          <a:p>
            <a:pPr indent="0" lvl="0" marL="0" marR="0" rtl="0" algn="l">
              <a:spcBef>
                <a:spcPts val="0"/>
              </a:spcBef>
              <a:spcAft>
                <a:spcPts val="0"/>
              </a:spcAft>
              <a:buNone/>
            </a:pPr>
            <a:r>
              <a:rPr b="0" lang="en-US" sz="975">
                <a:solidFill>
                  <a:srgbClr val="A9C1D2"/>
                </a:solidFill>
              </a:rPr>
              <a:t>or internet transit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A2B"/>
        </a:solidFill>
      </p:bgPr>
    </p:bg>
    <p:spTree>
      <p:nvGrpSpPr>
        <p:cNvPr id="207" name="Shape 207"/>
        <p:cNvGrpSpPr/>
        <p:nvPr/>
      </p:nvGrpSpPr>
      <p:grpSpPr>
        <a:xfrm>
          <a:off x="0" y="0"/>
          <a:ext cx="0" cy="0"/>
          <a:chOff x="0" y="0"/>
          <a:chExt cx="0" cy="0"/>
        </a:xfrm>
      </p:grpSpPr>
      <p:sp>
        <p:nvSpPr>
          <p:cNvPr id="211" name="Google Shape;211;p6"/>
          <p:cNvSpPr/>
          <p:nvPr/>
        </p:nvSpPr>
        <p:spPr>
          <a:xfrm>
            <a:off x="685800" y="1946910"/>
            <a:ext cx="5048400" cy="4191000"/>
          </a:xfrm>
          <a:prstGeom prst="roundRect">
            <a:avLst>
              <a:gd fmla="val 3636" name="adj"/>
            </a:avLst>
          </a:prstGeom>
          <a:solidFill>
            <a:srgbClr val="0E2B42"/>
          </a:solidFill>
          <a:ln cap="flat" cmpd="sng" w="9525">
            <a:solidFill>
              <a:srgbClr val="31536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212" name="Google Shape;212;p6"/>
          <p:cNvSpPr/>
          <p:nvPr/>
        </p:nvSpPr>
        <p:spPr>
          <a:xfrm>
            <a:off x="952500" y="2185035"/>
            <a:ext cx="4476900" cy="285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23D5D2"/>
                </a:solidFill>
                <a:latin typeface="Arial"/>
                <a:ea typeface="Arial"/>
                <a:cs typeface="Arial"/>
                <a:sym typeface="Arial"/>
              </a:rPr>
              <a:t>Networking and device plugins</a:t>
            </a:r>
            <a:endParaRPr b="1" sz="1600">
              <a:solidFill>
                <a:srgbClr val="23D5D2"/>
              </a:solidFill>
              <a:latin typeface="Arial"/>
              <a:ea typeface="Arial"/>
              <a:cs typeface="Arial"/>
              <a:sym typeface="Arial"/>
            </a:endParaRPr>
          </a:p>
        </p:txBody>
      </p:sp>
      <p:grpSp>
        <p:nvGrpSpPr>
          <p:cNvPr id="213" name="Google Shape;213;p6"/>
          <p:cNvGrpSpPr/>
          <p:nvPr/>
        </p:nvGrpSpPr>
        <p:grpSpPr>
          <a:xfrm>
            <a:off x="952500" y="2594610"/>
            <a:ext cx="4515000" cy="705000"/>
            <a:chOff x="0" y="0"/>
            <a:chExt cx="4515000" cy="705000"/>
          </a:xfrm>
        </p:grpSpPr>
        <p:sp>
          <p:nvSpPr>
            <p:cNvPr id="214" name="Google Shape;214;p6"/>
            <p:cNvSpPr/>
            <p:nvPr/>
          </p:nvSpPr>
          <p:spPr>
            <a:xfrm>
              <a:off x="0" y="0"/>
              <a:ext cx="4515000" cy="705000"/>
            </a:xfrm>
            <a:prstGeom prst="roundRect">
              <a:avLst>
                <a:gd fmla="val 13513" name="adj"/>
              </a:avLst>
            </a:prstGeom>
            <a:solidFill>
              <a:srgbClr val="123652"/>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215" name="Google Shape;215;p6"/>
            <p:cNvSpPr/>
            <p:nvPr/>
          </p:nvSpPr>
          <p:spPr>
            <a:xfrm>
              <a:off x="0" y="0"/>
              <a:ext cx="47700" cy="705000"/>
            </a:xfrm>
            <a:prstGeom prst="roundRect">
              <a:avLst>
                <a:gd fmla="val 40000" name="adj"/>
              </a:avLst>
            </a:prstGeom>
            <a:solidFill>
              <a:srgbClr val="23D5D2"/>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216" name="Google Shape;216;p6"/>
            <p:cNvSpPr txBox="1"/>
            <p:nvPr/>
          </p:nvSpPr>
          <p:spPr>
            <a:xfrm>
              <a:off x="190500" y="114300"/>
              <a:ext cx="4191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F7FBFF"/>
                  </a:solidFill>
                  <a:latin typeface="Arial"/>
                  <a:ea typeface="Arial"/>
                  <a:cs typeface="Arial"/>
                  <a:sym typeface="Arial"/>
                </a:rPr>
                <a:t>Multus CNI</a:t>
              </a:r>
              <a:endParaRPr b="1" sz="1200">
                <a:solidFill>
                  <a:srgbClr val="F7FBFF"/>
                </a:solidFill>
                <a:latin typeface="Arial"/>
                <a:ea typeface="Arial"/>
                <a:cs typeface="Arial"/>
                <a:sym typeface="Arial"/>
              </a:endParaRPr>
            </a:p>
            <a:p>
              <a:pPr indent="0" lvl="0" marL="0" rtl="0" algn="l">
                <a:spcBef>
                  <a:spcPts val="300"/>
                </a:spcBef>
                <a:spcAft>
                  <a:spcPts val="0"/>
                </a:spcAft>
                <a:buNone/>
              </a:pPr>
              <a:r>
                <a:rPr b="0" lang="en-US" sz="1050">
                  <a:solidFill>
                    <a:srgbClr val="A9C1D2"/>
                  </a:solidFill>
                  <a:latin typeface="Arial"/>
                  <a:ea typeface="Arial"/>
                  <a:cs typeface="Arial"/>
                  <a:sym typeface="Arial"/>
                </a:rPr>
                <a:t>Adds secondary networks to the FRR and BNG Blaster pods</a:t>
              </a:r>
              <a:endParaRPr b="0" sz="1050">
                <a:solidFill>
                  <a:srgbClr val="A9C1D2"/>
                </a:solidFill>
                <a:latin typeface="Arial"/>
                <a:ea typeface="Arial"/>
                <a:cs typeface="Arial"/>
                <a:sym typeface="Arial"/>
              </a:endParaRPr>
            </a:p>
          </p:txBody>
        </p:sp>
      </p:grpSp>
      <p:grpSp>
        <p:nvGrpSpPr>
          <p:cNvPr id="217" name="Google Shape;217;p6"/>
          <p:cNvGrpSpPr/>
          <p:nvPr/>
        </p:nvGrpSpPr>
        <p:grpSpPr>
          <a:xfrm>
            <a:off x="952500" y="3432810"/>
            <a:ext cx="4515000" cy="705000"/>
            <a:chOff x="0" y="0"/>
            <a:chExt cx="4515000" cy="705000"/>
          </a:xfrm>
        </p:grpSpPr>
        <p:sp>
          <p:nvSpPr>
            <p:cNvPr id="218" name="Google Shape;218;p6"/>
            <p:cNvSpPr/>
            <p:nvPr/>
          </p:nvSpPr>
          <p:spPr>
            <a:xfrm>
              <a:off x="0" y="0"/>
              <a:ext cx="4515000" cy="705000"/>
            </a:xfrm>
            <a:prstGeom prst="roundRect">
              <a:avLst>
                <a:gd fmla="val 13513" name="adj"/>
              </a:avLst>
            </a:prstGeom>
            <a:solidFill>
              <a:srgbClr val="123652"/>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219" name="Google Shape;219;p6"/>
            <p:cNvSpPr/>
            <p:nvPr/>
          </p:nvSpPr>
          <p:spPr>
            <a:xfrm>
              <a:off x="0" y="0"/>
              <a:ext cx="47700" cy="705000"/>
            </a:xfrm>
            <a:prstGeom prst="roundRect">
              <a:avLst>
                <a:gd fmla="val 40000" name="adj"/>
              </a:avLst>
            </a:prstGeom>
            <a:solidFill>
              <a:srgbClr val="FF9D42"/>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220" name="Google Shape;220;p6"/>
            <p:cNvSpPr txBox="1"/>
            <p:nvPr/>
          </p:nvSpPr>
          <p:spPr>
            <a:xfrm>
              <a:off x="190500" y="114300"/>
              <a:ext cx="4191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F7FBFF"/>
                  </a:solidFill>
                  <a:latin typeface="Arial"/>
                  <a:ea typeface="Arial"/>
                  <a:cs typeface="Arial"/>
                  <a:sym typeface="Arial"/>
                </a:rPr>
                <a:t>SR-IOV Device Plugin</a:t>
              </a:r>
              <a:endParaRPr b="1" sz="1200">
                <a:solidFill>
                  <a:srgbClr val="F7FBFF"/>
                </a:solidFill>
                <a:latin typeface="Arial"/>
                <a:ea typeface="Arial"/>
                <a:cs typeface="Arial"/>
                <a:sym typeface="Arial"/>
              </a:endParaRPr>
            </a:p>
            <a:p>
              <a:pPr indent="0" lvl="0" marL="0" rtl="0" algn="l">
                <a:spcBef>
                  <a:spcPts val="300"/>
                </a:spcBef>
                <a:spcAft>
                  <a:spcPts val="0"/>
                </a:spcAft>
                <a:buNone/>
              </a:pPr>
              <a:r>
                <a:rPr b="0" lang="en-US" sz="1050">
                  <a:solidFill>
                    <a:srgbClr val="A9C1D2"/>
                  </a:solidFill>
                  <a:latin typeface="Arial"/>
                  <a:ea typeface="Arial"/>
                  <a:cs typeface="Arial"/>
                  <a:sym typeface="Arial"/>
                </a:rPr>
                <a:t>Assigns two VFIO-bound virtio NICs to each BNG pod</a:t>
              </a:r>
              <a:endParaRPr b="0" sz="1050">
                <a:solidFill>
                  <a:srgbClr val="A9C1D2"/>
                </a:solidFill>
                <a:latin typeface="Arial"/>
                <a:ea typeface="Arial"/>
                <a:cs typeface="Arial"/>
                <a:sym typeface="Arial"/>
              </a:endParaRPr>
            </a:p>
          </p:txBody>
        </p:sp>
      </p:grpSp>
      <p:grpSp>
        <p:nvGrpSpPr>
          <p:cNvPr id="221" name="Google Shape;221;p6"/>
          <p:cNvGrpSpPr/>
          <p:nvPr/>
        </p:nvGrpSpPr>
        <p:grpSpPr>
          <a:xfrm>
            <a:off x="952500" y="4271010"/>
            <a:ext cx="4515000" cy="705000"/>
            <a:chOff x="0" y="0"/>
            <a:chExt cx="4515000" cy="705000"/>
          </a:xfrm>
        </p:grpSpPr>
        <p:sp>
          <p:nvSpPr>
            <p:cNvPr id="222" name="Google Shape;222;p6"/>
            <p:cNvSpPr/>
            <p:nvPr/>
          </p:nvSpPr>
          <p:spPr>
            <a:xfrm>
              <a:off x="0" y="0"/>
              <a:ext cx="4515000" cy="705000"/>
            </a:xfrm>
            <a:prstGeom prst="roundRect">
              <a:avLst>
                <a:gd fmla="val 13513" name="adj"/>
              </a:avLst>
            </a:prstGeom>
            <a:solidFill>
              <a:srgbClr val="123652"/>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223" name="Google Shape;223;p6"/>
            <p:cNvSpPr/>
            <p:nvPr/>
          </p:nvSpPr>
          <p:spPr>
            <a:xfrm>
              <a:off x="0" y="0"/>
              <a:ext cx="47700" cy="705000"/>
            </a:xfrm>
            <a:prstGeom prst="roundRect">
              <a:avLst>
                <a:gd fmla="val 40000" name="adj"/>
              </a:avLst>
            </a:prstGeom>
            <a:solidFill>
              <a:srgbClr val="43D17D"/>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224" name="Google Shape;224;p6"/>
            <p:cNvSpPr txBox="1"/>
            <p:nvPr/>
          </p:nvSpPr>
          <p:spPr>
            <a:xfrm>
              <a:off x="190500" y="114300"/>
              <a:ext cx="4191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F7FBFF"/>
                  </a:solidFill>
                  <a:latin typeface="Arial"/>
                  <a:ea typeface="Arial"/>
                  <a:cs typeface="Arial"/>
                  <a:sym typeface="Arial"/>
                </a:rPr>
                <a:t>host-device CNI</a:t>
              </a:r>
              <a:endParaRPr b="1" sz="1200">
                <a:solidFill>
                  <a:srgbClr val="F7FBFF"/>
                </a:solidFill>
                <a:latin typeface="Arial"/>
                <a:ea typeface="Arial"/>
                <a:cs typeface="Arial"/>
                <a:sym typeface="Arial"/>
              </a:endParaRPr>
            </a:p>
            <a:p>
              <a:pPr indent="0" lvl="0" marL="0" rtl="0" algn="l">
                <a:spcBef>
                  <a:spcPts val="300"/>
                </a:spcBef>
                <a:spcAft>
                  <a:spcPts val="0"/>
                </a:spcAft>
                <a:buNone/>
              </a:pPr>
              <a:r>
                <a:rPr b="0" lang="en-US" sz="1050">
                  <a:solidFill>
                    <a:srgbClr val="A9C1D2"/>
                  </a:solidFill>
                  <a:latin typeface="Arial"/>
                  <a:ea typeface="Arial"/>
                  <a:cs typeface="Arial"/>
                  <a:sym typeface="Arial"/>
                </a:rPr>
                <a:t>Moves a dedicated NIC into the BNG Blaster pod</a:t>
              </a:r>
              <a:endParaRPr b="0" sz="1050">
                <a:solidFill>
                  <a:srgbClr val="A9C1D2"/>
                </a:solidFill>
                <a:latin typeface="Arial"/>
                <a:ea typeface="Arial"/>
                <a:cs typeface="Arial"/>
                <a:sym typeface="Arial"/>
              </a:endParaRPr>
            </a:p>
          </p:txBody>
        </p:sp>
      </p:grpSp>
      <p:grpSp>
        <p:nvGrpSpPr>
          <p:cNvPr id="225" name="Google Shape;225;p6"/>
          <p:cNvGrpSpPr/>
          <p:nvPr/>
        </p:nvGrpSpPr>
        <p:grpSpPr>
          <a:xfrm>
            <a:off x="952500" y="5109210"/>
            <a:ext cx="4515000" cy="705000"/>
            <a:chOff x="0" y="0"/>
            <a:chExt cx="4515000" cy="705000"/>
          </a:xfrm>
        </p:grpSpPr>
        <p:sp>
          <p:nvSpPr>
            <p:cNvPr id="226" name="Google Shape;226;p6"/>
            <p:cNvSpPr/>
            <p:nvPr/>
          </p:nvSpPr>
          <p:spPr>
            <a:xfrm>
              <a:off x="0" y="0"/>
              <a:ext cx="4515000" cy="705000"/>
            </a:xfrm>
            <a:prstGeom prst="roundRect">
              <a:avLst>
                <a:gd fmla="val 13513" name="adj"/>
              </a:avLst>
            </a:prstGeom>
            <a:solidFill>
              <a:srgbClr val="123652"/>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227" name="Google Shape;227;p6"/>
            <p:cNvSpPr/>
            <p:nvPr/>
          </p:nvSpPr>
          <p:spPr>
            <a:xfrm>
              <a:off x="0" y="0"/>
              <a:ext cx="47700" cy="705000"/>
            </a:xfrm>
            <a:prstGeom prst="roundRect">
              <a:avLst>
                <a:gd fmla="val 40000" name="adj"/>
              </a:avLst>
            </a:prstGeom>
            <a:solidFill>
              <a:srgbClr val="23D5D2"/>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228" name="Google Shape;228;p6"/>
            <p:cNvSpPr txBox="1"/>
            <p:nvPr/>
          </p:nvSpPr>
          <p:spPr>
            <a:xfrm>
              <a:off x="190500" y="114300"/>
              <a:ext cx="4191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F7FBFF"/>
                  </a:solidFill>
                  <a:latin typeface="Arial"/>
                  <a:ea typeface="Arial"/>
                  <a:cs typeface="Arial"/>
                  <a:sym typeface="Arial"/>
                </a:rPr>
                <a:t>macvlan CNI</a:t>
              </a:r>
              <a:endParaRPr b="1" sz="1200">
                <a:solidFill>
                  <a:srgbClr val="F7FBFF"/>
                </a:solidFill>
                <a:latin typeface="Arial"/>
                <a:ea typeface="Arial"/>
                <a:cs typeface="Arial"/>
                <a:sym typeface="Arial"/>
              </a:endParaRPr>
            </a:p>
            <a:p>
              <a:pPr indent="0" lvl="0" marL="0" rtl="0" algn="l">
                <a:spcBef>
                  <a:spcPts val="300"/>
                </a:spcBef>
                <a:spcAft>
                  <a:spcPts val="0"/>
                </a:spcAft>
                <a:buNone/>
              </a:pPr>
              <a:r>
                <a:rPr b="0" lang="en-US" sz="1050">
                  <a:solidFill>
                    <a:srgbClr val="A9C1D2"/>
                  </a:solidFill>
                  <a:latin typeface="Arial"/>
                  <a:ea typeface="Arial"/>
                  <a:cs typeface="Arial"/>
                  <a:sym typeface="Arial"/>
                </a:rPr>
                <a:t>Connects FRR core and upstream interfaces</a:t>
              </a:r>
              <a:endParaRPr b="0" sz="1050">
                <a:solidFill>
                  <a:srgbClr val="A9C1D2"/>
                </a:solidFill>
                <a:latin typeface="Arial"/>
                <a:ea typeface="Arial"/>
                <a:cs typeface="Arial"/>
                <a:sym typeface="Arial"/>
              </a:endParaRPr>
            </a:p>
          </p:txBody>
        </p:sp>
      </p:grpSp>
      <p:sp>
        <p:nvSpPr>
          <p:cNvPr id="229" name="Google Shape;229;p6"/>
          <p:cNvSpPr/>
          <p:nvPr/>
        </p:nvSpPr>
        <p:spPr>
          <a:xfrm>
            <a:off x="6000750" y="1946910"/>
            <a:ext cx="5505600" cy="4191000"/>
          </a:xfrm>
          <a:prstGeom prst="roundRect">
            <a:avLst>
              <a:gd fmla="val 2727" name="adj"/>
            </a:avLst>
          </a:prstGeom>
          <a:solidFill>
            <a:srgbClr val="040D15"/>
          </a:solidFill>
          <a:ln cap="flat" cmpd="sng" w="9525">
            <a:solidFill>
              <a:srgbClr val="1E3D5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grpSp>
        <p:nvGrpSpPr>
          <p:cNvPr id="230" name="Google Shape;230;p6"/>
          <p:cNvGrpSpPr/>
          <p:nvPr/>
        </p:nvGrpSpPr>
        <p:grpSpPr>
          <a:xfrm>
            <a:off x="6000750" y="1946910"/>
            <a:ext cx="5505600" cy="400200"/>
            <a:chOff x="0" y="0"/>
            <a:chExt cx="5505600" cy="400200"/>
          </a:xfrm>
        </p:grpSpPr>
        <p:sp>
          <p:nvSpPr>
            <p:cNvPr id="231" name="Google Shape;231;p6"/>
            <p:cNvSpPr/>
            <p:nvPr/>
          </p:nvSpPr>
          <p:spPr>
            <a:xfrm>
              <a:off x="0" y="0"/>
              <a:ext cx="5505600" cy="400200"/>
            </a:xfrm>
            <a:custGeom>
              <a:rect b="b" l="l" r="r" t="t"/>
              <a:pathLst>
                <a:path extrusionOk="0" h="120000" w="120000">
                  <a:moveTo>
                    <a:pt x="0" y="34286"/>
                  </a:moveTo>
                  <a:cubicBezTo>
                    <a:pt x="0" y="25193"/>
                    <a:pt x="262" y="16472"/>
                    <a:pt x="730" y="10042"/>
                  </a:cubicBezTo>
                  <a:cubicBezTo>
                    <a:pt x="1197" y="3612"/>
                    <a:pt x="1831" y="0"/>
                    <a:pt x="2491" y="0"/>
                  </a:cubicBezTo>
                  <a:lnTo>
                    <a:pt x="117509" y="0"/>
                  </a:lnTo>
                  <a:cubicBezTo>
                    <a:pt x="118885" y="3"/>
                    <a:pt x="120000" y="15352"/>
                    <a:pt x="120000" y="34286"/>
                  </a:cubicBezTo>
                  <a:lnTo>
                    <a:pt x="120000" y="120000"/>
                  </a:lnTo>
                  <a:lnTo>
                    <a:pt x="0" y="120000"/>
                  </a:lnTo>
                  <a:close/>
                </a:path>
              </a:pathLst>
            </a:custGeom>
            <a:solidFill>
              <a:srgbClr val="0B2030"/>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232" name="Google Shape;232;p6"/>
            <p:cNvSpPr/>
            <p:nvPr/>
          </p:nvSpPr>
          <p:spPr>
            <a:xfrm>
              <a:off x="142875" y="152400"/>
              <a:ext cx="95400" cy="95400"/>
            </a:xfrm>
            <a:prstGeom prst="ellipse">
              <a:avLst/>
            </a:prstGeom>
            <a:solidFill>
              <a:srgbClr val="FF5F56"/>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233" name="Google Shape;233;p6"/>
            <p:cNvSpPr/>
            <p:nvPr/>
          </p:nvSpPr>
          <p:spPr>
            <a:xfrm>
              <a:off x="295275" y="152400"/>
              <a:ext cx="95400" cy="95400"/>
            </a:xfrm>
            <a:prstGeom prst="ellipse">
              <a:avLst/>
            </a:prstGeom>
            <a:solidFill>
              <a:srgbClr val="FFBD2E"/>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234" name="Google Shape;234;p6"/>
            <p:cNvSpPr/>
            <p:nvPr/>
          </p:nvSpPr>
          <p:spPr>
            <a:xfrm>
              <a:off x="447675" y="152400"/>
              <a:ext cx="95400" cy="95400"/>
            </a:xfrm>
            <a:prstGeom prst="ellipse">
              <a:avLst/>
            </a:prstGeom>
            <a:solidFill>
              <a:srgbClr val="27C93F"/>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grpSp>
      <p:sp>
        <p:nvSpPr>
          <p:cNvPr id="235" name="Google Shape;235;p6"/>
          <p:cNvSpPr/>
          <p:nvPr/>
        </p:nvSpPr>
        <p:spPr>
          <a:xfrm>
            <a:off x="6667500" y="2051685"/>
            <a:ext cx="46674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23D5D2"/>
                </a:solidFill>
                <a:latin typeface="Courier New"/>
                <a:ea typeface="Courier New"/>
                <a:cs typeface="Courier New"/>
                <a:sym typeface="Courier New"/>
              </a:rPr>
              <a:t>kubectl get pods -n osvbng-ha</a:t>
            </a:r>
            <a:endParaRPr b="1" sz="1000">
              <a:solidFill>
                <a:srgbClr val="23D5D2"/>
              </a:solidFill>
              <a:latin typeface="Courier New"/>
              <a:ea typeface="Courier New"/>
              <a:cs typeface="Courier New"/>
              <a:sym typeface="Courier New"/>
            </a:endParaRPr>
          </a:p>
        </p:txBody>
      </p:sp>
      <p:sp>
        <p:nvSpPr>
          <p:cNvPr id="236" name="Google Shape;236;p6"/>
          <p:cNvSpPr/>
          <p:nvPr/>
        </p:nvSpPr>
        <p:spPr>
          <a:xfrm>
            <a:off x="6191250" y="2499360"/>
            <a:ext cx="5124600" cy="3429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000">
                <a:solidFill>
                  <a:srgbClr val="6C8EA4"/>
                </a:solidFill>
                <a:latin typeface="Courier New"/>
                <a:ea typeface="Courier New"/>
                <a:cs typeface="Courier New"/>
                <a:sym typeface="Courier New"/>
              </a:rPr>
              <a:t>NAME                        READY   STATUS    NODE</a:t>
            </a:r>
            <a:endParaRPr b="1" i="0" sz="1000">
              <a:solidFill>
                <a:srgbClr val="6C8EA4"/>
              </a:solidFill>
              <a:latin typeface="Courier New"/>
              <a:ea typeface="Courier New"/>
              <a:cs typeface="Courier New"/>
              <a:sym typeface="Courier New"/>
            </a:endParaRPr>
          </a:p>
          <a:p>
            <a:pPr indent="0" lvl="0" marL="0" rtl="0" algn="l">
              <a:spcBef>
                <a:spcPts val="900"/>
              </a:spcBef>
              <a:spcAft>
                <a:spcPts val="0"/>
              </a:spcAft>
              <a:buNone/>
            </a:pPr>
            <a:r>
              <a:rPr b="0" i="0" lang="en-US" sz="1000">
                <a:solidFill>
                  <a:srgbClr val="D1E5F0"/>
                </a:solidFill>
                <a:latin typeface="Courier New"/>
                <a:ea typeface="Courier New"/>
                <a:cs typeface="Courier New"/>
                <a:sym typeface="Courier New"/>
              </a:rPr>
              <a:t>osvbng-0                    1/1     </a:t>
            </a:r>
            <a:r>
              <a:rPr b="1" i="0" lang="en-US" sz="1000">
                <a:solidFill>
                  <a:srgbClr val="43D17D"/>
                </a:solidFill>
                <a:latin typeface="Courier New"/>
                <a:ea typeface="Courier New"/>
                <a:cs typeface="Courier New"/>
                <a:sym typeface="Courier New"/>
              </a:rPr>
              <a:t>Running   </a:t>
            </a:r>
            <a:r>
              <a:rPr b="0" i="0" lang="en-US" sz="1000">
                <a:solidFill>
                  <a:srgbClr val="D1E5F0"/>
                </a:solidFill>
                <a:latin typeface="Courier New"/>
                <a:ea typeface="Courier New"/>
                <a:cs typeface="Courier New"/>
                <a:sym typeface="Courier New"/>
              </a:rPr>
              <a:t>node-01</a:t>
            </a:r>
            <a:endParaRPr b="1" i="0" sz="1000">
              <a:solidFill>
                <a:srgbClr val="6C8EA4"/>
              </a:solidFill>
              <a:latin typeface="Courier New"/>
              <a:ea typeface="Courier New"/>
              <a:cs typeface="Courier New"/>
              <a:sym typeface="Courier New"/>
            </a:endParaRPr>
          </a:p>
          <a:p>
            <a:pPr indent="0" lvl="0" marL="0" rtl="0" algn="l">
              <a:spcBef>
                <a:spcPts val="900"/>
              </a:spcBef>
              <a:spcAft>
                <a:spcPts val="0"/>
              </a:spcAft>
              <a:buNone/>
            </a:pPr>
            <a:r>
              <a:rPr b="0" i="0" lang="en-US" sz="1000">
                <a:solidFill>
                  <a:srgbClr val="D1E5F0"/>
                </a:solidFill>
                <a:latin typeface="Courier New"/>
                <a:ea typeface="Courier New"/>
                <a:cs typeface="Courier New"/>
                <a:sym typeface="Courier New"/>
              </a:rPr>
              <a:t>osvbng-1                    1/1     </a:t>
            </a:r>
            <a:r>
              <a:rPr b="1" i="0" lang="en-US" sz="1000">
                <a:solidFill>
                  <a:srgbClr val="43D17D"/>
                </a:solidFill>
                <a:latin typeface="Courier New"/>
                <a:ea typeface="Courier New"/>
                <a:cs typeface="Courier New"/>
                <a:sym typeface="Courier New"/>
              </a:rPr>
              <a:t>Running   </a:t>
            </a:r>
            <a:r>
              <a:rPr b="0" i="0" lang="en-US" sz="1000">
                <a:solidFill>
                  <a:srgbClr val="D1E5F0"/>
                </a:solidFill>
                <a:latin typeface="Courier New"/>
                <a:ea typeface="Courier New"/>
                <a:cs typeface="Courier New"/>
                <a:sym typeface="Courier New"/>
              </a:rPr>
              <a:t>node-02</a:t>
            </a:r>
            <a:endParaRPr b="1" i="0" sz="1000">
              <a:solidFill>
                <a:srgbClr val="6C8EA4"/>
              </a:solidFill>
              <a:latin typeface="Courier New"/>
              <a:ea typeface="Courier New"/>
              <a:cs typeface="Courier New"/>
              <a:sym typeface="Courier New"/>
            </a:endParaRPr>
          </a:p>
          <a:p>
            <a:pPr indent="0" lvl="0" marL="0" rtl="0" algn="l">
              <a:spcBef>
                <a:spcPts val="900"/>
              </a:spcBef>
              <a:spcAft>
                <a:spcPts val="0"/>
              </a:spcAft>
              <a:buNone/>
            </a:pPr>
            <a:r>
              <a:rPr b="0" i="0" lang="en-US" sz="1000">
                <a:solidFill>
                  <a:srgbClr val="D1E5F0"/>
                </a:solidFill>
                <a:latin typeface="Courier New"/>
                <a:ea typeface="Courier New"/>
                <a:cs typeface="Courier New"/>
                <a:sym typeface="Courier New"/>
              </a:rPr>
              <a:t>osvbng-frr-isp-a            1/1     </a:t>
            </a:r>
            <a:r>
              <a:rPr b="1" i="0" lang="en-US" sz="1000">
                <a:solidFill>
                  <a:srgbClr val="43D17D"/>
                </a:solidFill>
                <a:latin typeface="Courier New"/>
                <a:ea typeface="Courier New"/>
                <a:cs typeface="Courier New"/>
                <a:sym typeface="Courier New"/>
              </a:rPr>
              <a:t>Running   </a:t>
            </a:r>
            <a:r>
              <a:rPr b="0" i="0" lang="en-US" sz="1000">
                <a:solidFill>
                  <a:srgbClr val="D1E5F0"/>
                </a:solidFill>
                <a:latin typeface="Courier New"/>
                <a:ea typeface="Courier New"/>
                <a:cs typeface="Courier New"/>
                <a:sym typeface="Courier New"/>
              </a:rPr>
              <a:t>node-02</a:t>
            </a:r>
            <a:endParaRPr b="1" i="0" sz="1000">
              <a:solidFill>
                <a:srgbClr val="6C8EA4"/>
              </a:solidFill>
              <a:latin typeface="Courier New"/>
              <a:ea typeface="Courier New"/>
              <a:cs typeface="Courier New"/>
              <a:sym typeface="Courier New"/>
            </a:endParaRPr>
          </a:p>
          <a:p>
            <a:pPr indent="0" lvl="0" marL="0" rtl="0" algn="l">
              <a:spcBef>
                <a:spcPts val="900"/>
              </a:spcBef>
              <a:spcAft>
                <a:spcPts val="0"/>
              </a:spcAft>
              <a:buNone/>
            </a:pPr>
            <a:r>
              <a:rPr b="0" i="0" lang="en-US" sz="1000">
                <a:solidFill>
                  <a:srgbClr val="D1E5F0"/>
                </a:solidFill>
                <a:latin typeface="Courier New"/>
                <a:ea typeface="Courier New"/>
                <a:cs typeface="Courier New"/>
                <a:sym typeface="Courier New"/>
              </a:rPr>
              <a:t>osvbng-frr-isp-b            1/1     </a:t>
            </a:r>
            <a:r>
              <a:rPr b="1" i="0" lang="en-US" sz="1000">
                <a:solidFill>
                  <a:srgbClr val="43D17D"/>
                </a:solidFill>
                <a:latin typeface="Courier New"/>
                <a:ea typeface="Courier New"/>
                <a:cs typeface="Courier New"/>
                <a:sym typeface="Courier New"/>
              </a:rPr>
              <a:t>Running   </a:t>
            </a:r>
            <a:r>
              <a:rPr b="0" i="0" lang="en-US" sz="1000">
                <a:solidFill>
                  <a:srgbClr val="D1E5F0"/>
                </a:solidFill>
                <a:latin typeface="Courier New"/>
                <a:ea typeface="Courier New"/>
                <a:cs typeface="Courier New"/>
                <a:sym typeface="Courier New"/>
              </a:rPr>
              <a:t>node-01</a:t>
            </a:r>
            <a:endParaRPr b="1" i="0" sz="1000">
              <a:solidFill>
                <a:srgbClr val="6C8EA4"/>
              </a:solidFill>
              <a:latin typeface="Courier New"/>
              <a:ea typeface="Courier New"/>
              <a:cs typeface="Courier New"/>
              <a:sym typeface="Courier New"/>
            </a:endParaRPr>
          </a:p>
          <a:p>
            <a:pPr indent="0" lvl="0" marL="0" rtl="0" algn="l">
              <a:spcBef>
                <a:spcPts val="900"/>
              </a:spcBef>
              <a:spcAft>
                <a:spcPts val="0"/>
              </a:spcAft>
              <a:buNone/>
            </a:pPr>
            <a:r>
              <a:rPr b="0" i="0" lang="en-US" sz="1000">
                <a:solidFill>
                  <a:srgbClr val="D1E5F0"/>
                </a:solidFill>
                <a:latin typeface="Courier New"/>
                <a:ea typeface="Courier New"/>
                <a:cs typeface="Courier New"/>
                <a:sym typeface="Courier New"/>
              </a:rPr>
              <a:t>osvbng-freeradius           1/1     </a:t>
            </a:r>
            <a:r>
              <a:rPr b="1" i="0" lang="en-US" sz="1000">
                <a:solidFill>
                  <a:srgbClr val="43D17D"/>
                </a:solidFill>
                <a:latin typeface="Courier New"/>
                <a:ea typeface="Courier New"/>
                <a:cs typeface="Courier New"/>
                <a:sym typeface="Courier New"/>
              </a:rPr>
              <a:t>Running   </a:t>
            </a:r>
            <a:r>
              <a:rPr b="0" i="0" lang="en-US" sz="1000">
                <a:solidFill>
                  <a:srgbClr val="D1E5F0"/>
                </a:solidFill>
                <a:latin typeface="Courier New"/>
                <a:ea typeface="Courier New"/>
                <a:cs typeface="Courier New"/>
                <a:sym typeface="Courier New"/>
              </a:rPr>
              <a:t>node-03</a:t>
            </a:r>
            <a:endParaRPr b="1" i="0" sz="1000">
              <a:solidFill>
                <a:srgbClr val="6C8EA4"/>
              </a:solidFill>
              <a:latin typeface="Courier New"/>
              <a:ea typeface="Courier New"/>
              <a:cs typeface="Courier New"/>
              <a:sym typeface="Courier New"/>
            </a:endParaRPr>
          </a:p>
          <a:p>
            <a:pPr indent="0" lvl="0" marL="0" rtl="0" algn="l">
              <a:spcBef>
                <a:spcPts val="900"/>
              </a:spcBef>
              <a:spcAft>
                <a:spcPts val="0"/>
              </a:spcAft>
              <a:buNone/>
            </a:pPr>
            <a:r>
              <a:rPr b="0" i="0" lang="en-US" sz="1000">
                <a:solidFill>
                  <a:srgbClr val="D1E5F0"/>
                </a:solidFill>
                <a:latin typeface="Courier New"/>
                <a:ea typeface="Courier New"/>
                <a:cs typeface="Courier New"/>
                <a:sym typeface="Courier New"/>
              </a:rPr>
              <a:t>osvbng-radius-postgresql-0  1/1     </a:t>
            </a:r>
            <a:r>
              <a:rPr b="1" i="0" lang="en-US" sz="1000">
                <a:solidFill>
                  <a:srgbClr val="43D17D"/>
                </a:solidFill>
                <a:latin typeface="Courier New"/>
                <a:ea typeface="Courier New"/>
                <a:cs typeface="Courier New"/>
                <a:sym typeface="Courier New"/>
              </a:rPr>
              <a:t>Running   </a:t>
            </a:r>
            <a:r>
              <a:rPr b="0" i="0" lang="en-US" sz="1000">
                <a:solidFill>
                  <a:srgbClr val="D1E5F0"/>
                </a:solidFill>
                <a:latin typeface="Courier New"/>
                <a:ea typeface="Courier New"/>
                <a:cs typeface="Courier New"/>
                <a:sym typeface="Courier New"/>
              </a:rPr>
              <a:t>node-03</a:t>
            </a:r>
            <a:endParaRPr b="1" i="0" sz="1000">
              <a:solidFill>
                <a:srgbClr val="6C8EA4"/>
              </a:solidFill>
              <a:latin typeface="Courier New"/>
              <a:ea typeface="Courier New"/>
              <a:cs typeface="Courier New"/>
              <a:sym typeface="Courier New"/>
            </a:endParaRPr>
          </a:p>
          <a:p>
            <a:pPr indent="0" lvl="0" marL="0" rtl="0" algn="l">
              <a:spcBef>
                <a:spcPts val="900"/>
              </a:spcBef>
              <a:spcAft>
                <a:spcPts val="900"/>
              </a:spcAft>
              <a:buNone/>
            </a:pPr>
            <a:r>
              <a:rPr b="0" i="0" lang="en-US" sz="1000">
                <a:solidFill>
                  <a:srgbClr val="386078"/>
                </a:solidFill>
                <a:latin typeface="Courier New"/>
                <a:ea typeface="Courier New"/>
                <a:cs typeface="Courier New"/>
                <a:sym typeface="Courier New"/>
              </a:rPr>
              <a:t>$ _</a:t>
            </a:r>
            <a:endParaRPr b="1" i="0" sz="1000">
              <a:solidFill>
                <a:srgbClr val="6C8EA4"/>
              </a:solidFill>
              <a:latin typeface="Courier New"/>
              <a:ea typeface="Courier New"/>
              <a:cs typeface="Courier New"/>
              <a:sym typeface="Courier New"/>
            </a:endParaRPr>
          </a:p>
        </p:txBody>
      </p:sp>
      <p:sp>
        <p:nvSpPr>
          <p:cNvPr id="237" name="Google Shape;237;p6"/>
          <p:cNvSpPr/>
          <p:nvPr/>
        </p:nvSpPr>
        <p:spPr>
          <a:xfrm>
            <a:off x="685800" y="6423660"/>
            <a:ext cx="10820400" cy="9600"/>
          </a:xfrm>
          <a:prstGeom prst="rect">
            <a:avLst/>
          </a:prstGeom>
          <a:solidFill>
            <a:srgbClr val="29485D"/>
          </a:solidFill>
          <a:ln cap="flat" cmpd="sng" w="9525">
            <a:solidFill>
              <a:srgbClr val="29485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238" name="Google Shape;238;p6"/>
          <p:cNvSpPr/>
          <p:nvPr/>
        </p:nvSpPr>
        <p:spPr>
          <a:xfrm>
            <a:off x="685800" y="6400800"/>
            <a:ext cx="9525000" cy="190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850">
                <a:solidFill>
                  <a:srgbClr val="A9C1D2"/>
                </a:solidFill>
                <a:latin typeface="Arial"/>
                <a:ea typeface="Arial"/>
                <a:cs typeface="Arial"/>
                <a:sym typeface="Arial"/>
              </a:rPr>
              <a:t>Observed from the running cluster on 10 October 2026.</a:t>
            </a:r>
            <a:endParaRPr b="0" sz="850">
              <a:solidFill>
                <a:srgbClr val="A9C1D2"/>
              </a:solidFill>
              <a:latin typeface="Arial"/>
              <a:ea typeface="Arial"/>
              <a:cs typeface="Arial"/>
              <a:sym typeface="Arial"/>
            </a:endParaRPr>
          </a:p>
        </p:txBody>
      </p:sp>
      <p:sp>
        <p:nvSpPr>
          <p:cNvPr id="239" name="Google Shape;239;p6"/>
          <p:cNvSpPr/>
          <p:nvPr/>
        </p:nvSpPr>
        <p:spPr>
          <a:xfrm>
            <a:off x="10953750" y="6400800"/>
            <a:ext cx="552600" cy="190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r">
              <a:spcBef>
                <a:spcPts val="0"/>
              </a:spcBef>
              <a:spcAft>
                <a:spcPts val="0"/>
              </a:spcAft>
              <a:buNone/>
            </a:pPr>
            <a:r>
              <a:rPr b="1" lang="en-US" sz="850">
                <a:solidFill>
                  <a:srgbClr val="23D5D2"/>
                </a:solidFill>
                <a:latin typeface="Arial"/>
                <a:ea typeface="Arial"/>
                <a:cs typeface="Arial"/>
                <a:sym typeface="Arial"/>
              </a:rPr>
              <a:t>06</a:t>
            </a:r>
            <a:endParaRPr b="1" sz="850">
              <a:solidFill>
                <a:srgbClr val="23D5D2"/>
              </a:solidFill>
              <a:latin typeface="Arial"/>
              <a:ea typeface="Arial"/>
              <a:cs typeface="Arial"/>
              <a:sym typeface="Arial"/>
            </a:endParaRPr>
          </a:p>
        </p:txBody>
      </p:sp>
      <p:sp>
        <p:nvSpPr>
          <p:cNvPr id="9004" name="Google Shape;138;p4"/>
          <p:cNvSpPr/>
          <p:nvPr/>
        </p:nvSpPr>
        <p:spPr>
          <a:xfrm>
            <a:off x="685800" y="457200"/>
            <a:ext cx="47625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975">
                <a:solidFill>
                  <a:srgbClr val="23D5D2"/>
                </a:solidFill>
              </a:rPr>
              <a:t>04 • KUBERNETES INTEGRATION</a:t>
            </a:r>
            <a:endParaRPr/>
          </a:p>
        </p:txBody>
      </p:sp>
      <p:sp>
        <p:nvSpPr>
          <p:cNvPr id="9005" name="Google Shape;139;p4"/>
          <p:cNvSpPr/>
          <p:nvPr/>
        </p:nvSpPr>
        <p:spPr>
          <a:xfrm>
            <a:off x="685800" y="819150"/>
            <a:ext cx="10820400"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50">
                <a:solidFill>
                  <a:srgbClr val="F7FBFF"/>
                </a:solidFill>
              </a:rPr>
              <a:t>Four plugins wire every data-plane interface</a:t>
            </a:r>
            <a:endParaRPr/>
          </a:p>
        </p:txBody>
      </p:sp>
      <p:sp>
        <p:nvSpPr>
          <p:cNvPr id="9006" name="Google Shape;140;p4"/>
          <p:cNvSpPr/>
          <p:nvPr/>
        </p:nvSpPr>
        <p:spPr>
          <a:xfrm>
            <a:off x="685800" y="1457325"/>
            <a:ext cx="10287000" cy="2926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350">
                <a:solidFill>
                  <a:srgbClr val="A9C1D2"/>
                </a:solidFill>
              </a:rPr>
              <a:t>The BNG requests its NICs like CPU or memory; Multus wires the routers and test subscribers — shown on the running cluster.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A2B"/>
        </a:solidFill>
      </p:bgPr>
    </p:bg>
    <p:spTree>
      <p:nvGrpSpPr>
        <p:cNvPr id="244" name="Shape 244"/>
        <p:cNvGrpSpPr/>
        <p:nvPr/>
      </p:nvGrpSpPr>
      <p:grpSpPr>
        <a:xfrm>
          <a:off x="0" y="0"/>
          <a:ext cx="0" cy="0"/>
          <a:chOff x="0" y="0"/>
          <a:chExt cx="0" cy="0"/>
        </a:xfrm>
      </p:grpSpPr>
      <p:sp>
        <p:nvSpPr>
          <p:cNvPr id="245" name="Google Shape;245;p7"/>
          <p:cNvSpPr/>
          <p:nvPr/>
        </p:nvSpPr>
        <p:spPr>
          <a:xfrm>
            <a:off x="685800" y="457200"/>
            <a:ext cx="47625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975">
                <a:solidFill>
                  <a:srgbClr val="23D5D2"/>
                </a:solidFill>
              </a:rPr>
              <a:t>05 • THE PACKET WALK</a:t>
            </a:r>
            <a:endParaRPr/>
          </a:p>
        </p:txBody>
      </p:sp>
      <p:sp>
        <p:nvSpPr>
          <p:cNvPr id="246" name="Google Shape;246;p7"/>
          <p:cNvSpPr/>
          <p:nvPr/>
        </p:nvSpPr>
        <p:spPr>
          <a:xfrm>
            <a:off x="685800" y="819150"/>
            <a:ext cx="10820400" cy="590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50">
                <a:solidFill>
                  <a:srgbClr val="F7FBFF"/>
                </a:solidFill>
              </a:rPr>
              <a:t>From a subscriber packet to the internet and back</a:t>
            </a:r>
            <a:endParaRPr/>
          </a:p>
        </p:txBody>
      </p:sp>
      <p:sp>
        <p:nvSpPr>
          <p:cNvPr id="247" name="Google Shape;247;p7"/>
          <p:cNvSpPr/>
          <p:nvPr/>
        </p:nvSpPr>
        <p:spPr>
          <a:xfrm>
            <a:off x="685800" y="1457325"/>
            <a:ext cx="102870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350">
                <a:solidFill>
                  <a:srgbClr val="A9C1D2"/>
                </a:solidFill>
              </a:rPr>
              <a:t>A successful end-to-end ping proves the session, CGNAT, routing, and the return path together.</a:t>
            </a:r>
            <a:endParaRPr/>
          </a:p>
        </p:txBody>
      </p:sp>
      <p:sp>
        <p:nvSpPr>
          <p:cNvPr id="248" name="Google Shape;248;p7"/>
          <p:cNvSpPr/>
          <p:nvPr/>
        </p:nvSpPr>
        <p:spPr>
          <a:xfrm>
            <a:off x="523875" y="1997202"/>
            <a:ext cx="1981200" cy="1755648"/>
          </a:xfrm>
          <a:prstGeom prst="roundRect">
            <a:avLst>
              <a:gd fmla="val 7692" name="adj"/>
            </a:avLst>
          </a:prstGeom>
          <a:solidFill>
            <a:srgbClr val="0E2B42"/>
          </a:solidFill>
          <a:ln cap="flat" cmpd="sng" w="9525">
            <a:solidFill>
              <a:srgbClr val="3153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49" name="Google Shape;249;p7"/>
          <p:cNvSpPr/>
          <p:nvPr/>
        </p:nvSpPr>
        <p:spPr>
          <a:xfrm>
            <a:off x="695325" y="2187702"/>
            <a:ext cx="400200" cy="324000"/>
          </a:xfrm>
          <a:prstGeom prst="roundRect">
            <a:avLst>
              <a:gd fmla="val 50000" name="adj"/>
            </a:avLst>
          </a:prstGeom>
          <a:solidFill>
            <a:srgbClr val="23D5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50" name="Google Shape;250;p7"/>
          <p:cNvSpPr/>
          <p:nvPr/>
        </p:nvSpPr>
        <p:spPr>
          <a:xfrm>
            <a:off x="809625" y="2254377"/>
            <a:ext cx="171600" cy="1905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975">
                <a:solidFill>
                  <a:srgbClr val="071A2B"/>
                </a:solidFill>
              </a:rPr>
              <a:t>1</a:t>
            </a:r>
            <a:endParaRPr/>
          </a:p>
        </p:txBody>
      </p:sp>
      <p:sp>
        <p:nvSpPr>
          <p:cNvPr id="251" name="Google Shape;251;p7"/>
          <p:cNvSpPr/>
          <p:nvPr/>
        </p:nvSpPr>
        <p:spPr>
          <a:xfrm>
            <a:off x="695325" y="2721102"/>
            <a:ext cx="16191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50">
                <a:solidFill>
                  <a:srgbClr val="F7FBFF"/>
                </a:solidFill>
              </a:rPr>
              <a:t>Attach</a:t>
            </a:r>
            <a:endParaRPr/>
          </a:p>
        </p:txBody>
      </p:sp>
      <p:sp>
        <p:nvSpPr>
          <p:cNvPr id="252" name="Google Shape;252;p7"/>
          <p:cNvSpPr/>
          <p:nvPr/>
        </p:nvSpPr>
        <p:spPr>
          <a:xfrm>
            <a:off x="695325" y="3159252"/>
            <a:ext cx="1619100" cy="523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A9C1D2"/>
                </a:solidFill>
              </a:rPr>
              <a:t>DHCP / IPoE</a:t>
            </a:r>
            <a:endParaRPr/>
          </a:p>
          <a:p>
            <a:pPr indent="0" lvl="0" marL="0" marR="0" rtl="0" algn="l">
              <a:spcBef>
                <a:spcPts val="0"/>
              </a:spcBef>
              <a:spcAft>
                <a:spcPts val="0"/>
              </a:spcAft>
              <a:buNone/>
            </a:pPr>
            <a:r>
              <a:rPr b="0" lang="en-US" sz="1125">
                <a:solidFill>
                  <a:srgbClr val="A9C1D2"/>
                </a:solidFill>
              </a:rPr>
              <a:t>creates a UE session</a:t>
            </a:r>
            <a:endParaRPr/>
          </a:p>
        </p:txBody>
      </p:sp>
      <p:sp>
        <p:nvSpPr>
          <p:cNvPr id="253" name="Google Shape;253;p7"/>
          <p:cNvSpPr/>
          <p:nvPr/>
        </p:nvSpPr>
        <p:spPr>
          <a:xfrm>
            <a:off x="2505075" y="2852928"/>
            <a:ext cx="324000" cy="38100"/>
          </a:xfrm>
          <a:prstGeom prst="rect">
            <a:avLst/>
          </a:prstGeom>
          <a:solidFill>
            <a:srgbClr val="23D5D2"/>
          </a:solidFill>
          <a:ln cap="flat" cmpd="sng" w="9525">
            <a:solidFill>
              <a:srgbClr val="23D5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54" name="Google Shape;254;p7"/>
          <p:cNvSpPr/>
          <p:nvPr/>
        </p:nvSpPr>
        <p:spPr>
          <a:xfrm>
            <a:off x="2828925" y="1997202"/>
            <a:ext cx="1981200" cy="1755648"/>
          </a:xfrm>
          <a:prstGeom prst="roundRect">
            <a:avLst>
              <a:gd fmla="val 7692" name="adj"/>
            </a:avLst>
          </a:prstGeom>
          <a:solidFill>
            <a:srgbClr val="0E2B42"/>
          </a:solidFill>
          <a:ln cap="flat" cmpd="sng" w="9525">
            <a:solidFill>
              <a:srgbClr val="3153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55" name="Google Shape;255;p7"/>
          <p:cNvSpPr/>
          <p:nvPr/>
        </p:nvSpPr>
        <p:spPr>
          <a:xfrm>
            <a:off x="3000375" y="2187702"/>
            <a:ext cx="400200" cy="324000"/>
          </a:xfrm>
          <a:prstGeom prst="roundRect">
            <a:avLst>
              <a:gd fmla="val 50000" name="adj"/>
            </a:avLst>
          </a:prstGeom>
          <a:solidFill>
            <a:srgbClr val="23D5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56" name="Google Shape;256;p7"/>
          <p:cNvSpPr/>
          <p:nvPr/>
        </p:nvSpPr>
        <p:spPr>
          <a:xfrm>
            <a:off x="3114675" y="2254377"/>
            <a:ext cx="171600" cy="1905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975">
                <a:solidFill>
                  <a:srgbClr val="071A2B"/>
                </a:solidFill>
              </a:rPr>
              <a:t>2</a:t>
            </a:r>
            <a:endParaRPr/>
          </a:p>
        </p:txBody>
      </p:sp>
      <p:sp>
        <p:nvSpPr>
          <p:cNvPr id="257" name="Google Shape;257;p7"/>
          <p:cNvSpPr/>
          <p:nvPr/>
        </p:nvSpPr>
        <p:spPr>
          <a:xfrm>
            <a:off x="3000375" y="2721102"/>
            <a:ext cx="16191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50">
                <a:solidFill>
                  <a:srgbClr val="F7FBFF"/>
                </a:solidFill>
              </a:rPr>
              <a:t>Classify</a:t>
            </a:r>
            <a:endParaRPr/>
          </a:p>
        </p:txBody>
      </p:sp>
      <p:sp>
        <p:nvSpPr>
          <p:cNvPr id="258" name="Google Shape;258;p7"/>
          <p:cNvSpPr/>
          <p:nvPr/>
        </p:nvSpPr>
        <p:spPr>
          <a:xfrm>
            <a:off x="3000375" y="3159252"/>
            <a:ext cx="1619100" cy="523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A9C1D2"/>
                </a:solidFill>
              </a:rPr>
              <a:t>VLAN and policy</a:t>
            </a:r>
            <a:endParaRPr/>
          </a:p>
          <a:p>
            <a:pPr indent="0" lvl="0" marL="0" marR="0" rtl="0" algn="l">
              <a:spcBef>
                <a:spcPts val="0"/>
              </a:spcBef>
              <a:spcAft>
                <a:spcPts val="0"/>
              </a:spcAft>
              <a:buNone/>
            </a:pPr>
            <a:r>
              <a:rPr b="0" lang="en-US" sz="1125">
                <a:solidFill>
                  <a:srgbClr val="A9C1D2"/>
                </a:solidFill>
              </a:rPr>
              <a:t>select service</a:t>
            </a:r>
            <a:endParaRPr/>
          </a:p>
        </p:txBody>
      </p:sp>
      <p:sp>
        <p:nvSpPr>
          <p:cNvPr id="259" name="Google Shape;259;p7"/>
          <p:cNvSpPr/>
          <p:nvPr/>
        </p:nvSpPr>
        <p:spPr>
          <a:xfrm>
            <a:off x="4810125" y="2852928"/>
            <a:ext cx="324000" cy="38100"/>
          </a:xfrm>
          <a:prstGeom prst="rect">
            <a:avLst/>
          </a:prstGeom>
          <a:solidFill>
            <a:srgbClr val="23D5D2"/>
          </a:solidFill>
          <a:ln cap="flat" cmpd="sng" w="9525">
            <a:solidFill>
              <a:srgbClr val="23D5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60" name="Google Shape;260;p7"/>
          <p:cNvSpPr/>
          <p:nvPr/>
        </p:nvSpPr>
        <p:spPr>
          <a:xfrm>
            <a:off x="5133975" y="1997202"/>
            <a:ext cx="1981200" cy="1755648"/>
          </a:xfrm>
          <a:prstGeom prst="roundRect">
            <a:avLst>
              <a:gd fmla="val 7692" name="adj"/>
            </a:avLst>
          </a:prstGeom>
          <a:solidFill>
            <a:srgbClr val="0E2B42"/>
          </a:solidFill>
          <a:ln cap="flat" cmpd="sng" w="9525">
            <a:solidFill>
              <a:srgbClr val="31536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261" name="Google Shape;261;p7"/>
          <p:cNvSpPr/>
          <p:nvPr/>
        </p:nvSpPr>
        <p:spPr>
          <a:xfrm>
            <a:off x="5305425" y="2187702"/>
            <a:ext cx="400200" cy="324000"/>
          </a:xfrm>
          <a:prstGeom prst="roundRect">
            <a:avLst>
              <a:gd fmla="val 50000" name="adj"/>
            </a:avLst>
          </a:prstGeom>
          <a:solidFill>
            <a:srgbClr val="23D5D2"/>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262" name="Google Shape;262;p7"/>
          <p:cNvSpPr/>
          <p:nvPr/>
        </p:nvSpPr>
        <p:spPr>
          <a:xfrm>
            <a:off x="5419725" y="2254377"/>
            <a:ext cx="171600" cy="1905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975">
                <a:solidFill>
                  <a:srgbClr val="071A2B"/>
                </a:solidFill>
              </a:rPr>
              <a:t>3</a:t>
            </a:r>
            <a:endParaRPr/>
          </a:p>
        </p:txBody>
      </p:sp>
      <p:sp>
        <p:nvSpPr>
          <p:cNvPr id="263" name="Google Shape;263;p7"/>
          <p:cNvSpPr/>
          <p:nvPr/>
        </p:nvSpPr>
        <p:spPr>
          <a:xfrm>
            <a:off x="5305425" y="2721102"/>
            <a:ext cx="16191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50">
                <a:solidFill>
                  <a:srgbClr val="F7FBFF"/>
                </a:solidFill>
              </a:rPr>
              <a:t>Translate</a:t>
            </a:r>
            <a:endParaRPr/>
          </a:p>
        </p:txBody>
      </p:sp>
      <p:sp>
        <p:nvSpPr>
          <p:cNvPr id="264" name="Google Shape;264;p7"/>
          <p:cNvSpPr/>
          <p:nvPr/>
        </p:nvSpPr>
        <p:spPr>
          <a:xfrm>
            <a:off x="5305425" y="3159252"/>
            <a:ext cx="1619100" cy="523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A9C1D2"/>
                </a:solidFill>
              </a:rPr>
              <a:t>CGNAT maps UE</a:t>
            </a:r>
            <a:endParaRPr/>
          </a:p>
          <a:p>
            <a:pPr indent="0" lvl="0" marL="0" marR="0" rtl="0" algn="l">
              <a:spcBef>
                <a:spcPts val="0"/>
              </a:spcBef>
              <a:spcAft>
                <a:spcPts val="0"/>
              </a:spcAft>
              <a:buNone/>
            </a:pPr>
            <a:r>
              <a:rPr b="0" lang="en-US" sz="1125">
                <a:solidFill>
                  <a:srgbClr val="A9C1D2"/>
                </a:solidFill>
              </a:rPr>
              <a:t>to public pool</a:t>
            </a:r>
            <a:endParaRPr/>
          </a:p>
        </p:txBody>
      </p:sp>
      <p:sp>
        <p:nvSpPr>
          <p:cNvPr id="265" name="Google Shape;265;p7"/>
          <p:cNvSpPr/>
          <p:nvPr/>
        </p:nvSpPr>
        <p:spPr>
          <a:xfrm>
            <a:off x="7115175" y="2852928"/>
            <a:ext cx="324000" cy="38100"/>
          </a:xfrm>
          <a:prstGeom prst="rect">
            <a:avLst/>
          </a:prstGeom>
          <a:solidFill>
            <a:srgbClr val="23D5D2"/>
          </a:solidFill>
          <a:ln cap="flat" cmpd="sng" w="9525">
            <a:solidFill>
              <a:srgbClr val="23D5D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266" name="Google Shape;266;p7"/>
          <p:cNvSpPr/>
          <p:nvPr/>
        </p:nvSpPr>
        <p:spPr>
          <a:xfrm>
            <a:off x="7439025" y="1997202"/>
            <a:ext cx="1981200" cy="1755648"/>
          </a:xfrm>
          <a:prstGeom prst="roundRect">
            <a:avLst>
              <a:gd fmla="val 7692" name="adj"/>
            </a:avLst>
          </a:prstGeom>
          <a:solidFill>
            <a:srgbClr val="0E2B42"/>
          </a:solidFill>
          <a:ln cap="flat" cmpd="sng" w="9525">
            <a:solidFill>
              <a:srgbClr val="3153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67" name="Google Shape;267;p7"/>
          <p:cNvSpPr/>
          <p:nvPr/>
        </p:nvSpPr>
        <p:spPr>
          <a:xfrm>
            <a:off x="7610475" y="2187702"/>
            <a:ext cx="400200" cy="324000"/>
          </a:xfrm>
          <a:prstGeom prst="roundRect">
            <a:avLst>
              <a:gd fmla="val 50000" name="adj"/>
            </a:avLst>
          </a:prstGeom>
          <a:solidFill>
            <a:srgbClr val="23D5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68" name="Google Shape;268;p7"/>
          <p:cNvSpPr/>
          <p:nvPr/>
        </p:nvSpPr>
        <p:spPr>
          <a:xfrm>
            <a:off x="7724775" y="2254377"/>
            <a:ext cx="171600" cy="1905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975">
                <a:solidFill>
                  <a:srgbClr val="071A2B"/>
                </a:solidFill>
              </a:rPr>
              <a:t>4</a:t>
            </a:r>
            <a:endParaRPr/>
          </a:p>
        </p:txBody>
      </p:sp>
      <p:sp>
        <p:nvSpPr>
          <p:cNvPr id="269" name="Google Shape;269;p7"/>
          <p:cNvSpPr/>
          <p:nvPr/>
        </p:nvSpPr>
        <p:spPr>
          <a:xfrm>
            <a:off x="7610475" y="2721102"/>
            <a:ext cx="16191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50">
                <a:solidFill>
                  <a:srgbClr val="F7FBFF"/>
                </a:solidFill>
              </a:rPr>
              <a:t>Route</a:t>
            </a:r>
            <a:endParaRPr/>
          </a:p>
        </p:txBody>
      </p:sp>
      <p:sp>
        <p:nvSpPr>
          <p:cNvPr id="270" name="Google Shape;270;p7"/>
          <p:cNvSpPr/>
          <p:nvPr/>
        </p:nvSpPr>
        <p:spPr>
          <a:xfrm>
            <a:off x="7610475" y="3159252"/>
            <a:ext cx="1619100" cy="523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A9C1D2"/>
                </a:solidFill>
              </a:rPr>
              <a:t>BGP selects an</a:t>
            </a:r>
            <a:endParaRPr/>
          </a:p>
          <a:p>
            <a:pPr indent="0" lvl="0" marL="0" marR="0" rtl="0" algn="l">
              <a:spcBef>
                <a:spcPts val="0"/>
              </a:spcBef>
              <a:spcAft>
                <a:spcPts val="0"/>
              </a:spcAft>
              <a:buNone/>
            </a:pPr>
            <a:r>
              <a:rPr b="0" lang="en-US" sz="1125">
                <a:solidFill>
                  <a:srgbClr val="A9C1D2"/>
                </a:solidFill>
              </a:rPr>
              <a:t>FRR next hop</a:t>
            </a:r>
            <a:endParaRPr/>
          </a:p>
        </p:txBody>
      </p:sp>
      <p:sp>
        <p:nvSpPr>
          <p:cNvPr id="271" name="Google Shape;271;p7"/>
          <p:cNvSpPr/>
          <p:nvPr/>
        </p:nvSpPr>
        <p:spPr>
          <a:xfrm>
            <a:off x="9420225" y="2852928"/>
            <a:ext cx="324000" cy="38100"/>
          </a:xfrm>
          <a:prstGeom prst="rect">
            <a:avLst/>
          </a:prstGeom>
          <a:solidFill>
            <a:srgbClr val="23D5D2"/>
          </a:solidFill>
          <a:ln cap="flat" cmpd="sng" w="9525">
            <a:solidFill>
              <a:srgbClr val="23D5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72" name="Google Shape;272;p7"/>
          <p:cNvSpPr/>
          <p:nvPr/>
        </p:nvSpPr>
        <p:spPr>
          <a:xfrm>
            <a:off x="9744075" y="1997202"/>
            <a:ext cx="1981200" cy="1755648"/>
          </a:xfrm>
          <a:prstGeom prst="roundRect">
            <a:avLst>
              <a:gd fmla="val 7692" name="adj"/>
            </a:avLst>
          </a:prstGeom>
          <a:solidFill>
            <a:srgbClr val="0E2B42"/>
          </a:solidFill>
          <a:ln cap="flat" cmpd="sng" w="9525">
            <a:solidFill>
              <a:srgbClr val="3153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73" name="Google Shape;273;p7"/>
          <p:cNvSpPr/>
          <p:nvPr/>
        </p:nvSpPr>
        <p:spPr>
          <a:xfrm>
            <a:off x="9915525" y="2187702"/>
            <a:ext cx="400200" cy="324000"/>
          </a:xfrm>
          <a:prstGeom prst="roundRect">
            <a:avLst>
              <a:gd fmla="val 50000" name="adj"/>
            </a:avLst>
          </a:prstGeom>
          <a:solidFill>
            <a:srgbClr val="23D5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74" name="Google Shape;274;p7"/>
          <p:cNvSpPr/>
          <p:nvPr/>
        </p:nvSpPr>
        <p:spPr>
          <a:xfrm>
            <a:off x="10029825" y="2254377"/>
            <a:ext cx="171600" cy="1905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975">
                <a:solidFill>
                  <a:srgbClr val="071A2B"/>
                </a:solidFill>
              </a:rPr>
              <a:t>5</a:t>
            </a:r>
            <a:endParaRPr/>
          </a:p>
        </p:txBody>
      </p:sp>
      <p:sp>
        <p:nvSpPr>
          <p:cNvPr id="275" name="Google Shape;275;p7"/>
          <p:cNvSpPr/>
          <p:nvPr/>
        </p:nvSpPr>
        <p:spPr>
          <a:xfrm>
            <a:off x="9915525" y="2721102"/>
            <a:ext cx="16191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50">
                <a:solidFill>
                  <a:srgbClr val="F7FBFF"/>
                </a:solidFill>
              </a:rPr>
              <a:t>Return</a:t>
            </a:r>
            <a:endParaRPr/>
          </a:p>
        </p:txBody>
      </p:sp>
      <p:sp>
        <p:nvSpPr>
          <p:cNvPr id="276" name="Google Shape;276;p7"/>
          <p:cNvSpPr/>
          <p:nvPr/>
        </p:nvSpPr>
        <p:spPr>
          <a:xfrm>
            <a:off x="9915525" y="3159252"/>
            <a:ext cx="1619100" cy="523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A9C1D2"/>
                </a:solidFill>
              </a:rPr>
              <a:t>MikroTik learns</a:t>
            </a:r>
            <a:endParaRPr/>
          </a:p>
          <a:p>
            <a:pPr indent="0" lvl="0" marL="0" marR="0" rtl="0" algn="l">
              <a:spcBef>
                <a:spcPts val="0"/>
              </a:spcBef>
              <a:spcAft>
                <a:spcPts val="0"/>
              </a:spcAft>
              <a:buNone/>
            </a:pPr>
            <a:r>
              <a:rPr b="0" lang="en-US" sz="1125">
                <a:solidFill>
                  <a:srgbClr val="A9C1D2"/>
                </a:solidFill>
              </a:rPr>
              <a:t>the CGNAT prefix</a:t>
            </a:r>
            <a:endParaRPr/>
          </a:p>
        </p:txBody>
      </p:sp>
      <p:sp>
        <p:nvSpPr>
          <p:cNvPr id="280" name="Google Shape;280;p7"/>
          <p:cNvSpPr/>
          <p:nvPr/>
        </p:nvSpPr>
        <p:spPr>
          <a:xfrm>
            <a:off x="685800" y="6410325"/>
            <a:ext cx="10820400" cy="9600"/>
          </a:xfrm>
          <a:prstGeom prst="rect">
            <a:avLst/>
          </a:prstGeom>
          <a:solidFill>
            <a:srgbClr val="29485D"/>
          </a:solidFill>
          <a:ln cap="flat" cmpd="sng" w="9525">
            <a:solidFill>
              <a:srgbClr val="29485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81" name="Google Shape;281;p7"/>
          <p:cNvSpPr/>
          <p:nvPr/>
        </p:nvSpPr>
        <p:spPr>
          <a:xfrm>
            <a:off x="10953750" y="6448425"/>
            <a:ext cx="5526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lang="en-US" sz="825">
                <a:solidFill>
                  <a:srgbClr val="23D5D2"/>
                </a:solidFill>
              </a:rPr>
              <a:t>07</a:t>
            </a:r>
            <a:endParaRPr/>
          </a:p>
        </p:txBody>
      </p:sp>
      <p:sp>
        <p:nvSpPr>
          <p:cNvPr id="9501" name="Google Shape;245;p7"/>
          <p:cNvSpPr/>
          <p:nvPr/>
        </p:nvSpPr>
        <p:spPr>
          <a:xfrm>
            <a:off x="685800" y="3931920"/>
            <a:ext cx="7315200" cy="26517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975">
                <a:solidFill>
                  <a:srgbClr val="23D5D2"/>
                </a:solidFill>
              </a:rPr>
              <a:t>VALIDATED IN THE LAB • PROXMOX VE 9 (QEMU 10.1) VMS, 4-NODE MICROK8S, CLEAN INSTALL 11 OCT 2026</a:t>
            </a:r>
            <a:endParaRPr/>
          </a:p>
        </p:txBody>
      </p:sp>
      <p:sp>
        <p:nvSpPr>
          <p:cNvPr id="9502" name="Google Shape;248;p7"/>
          <p:cNvSpPr/>
          <p:nvPr/>
        </p:nvSpPr>
        <p:spPr>
          <a:xfrm>
            <a:off x="521207" y="4279392"/>
            <a:ext cx="2596896" cy="1298448"/>
          </a:xfrm>
          <a:prstGeom prst="roundRect">
            <a:avLst>
              <a:gd fmla="val 7692" name="adj"/>
            </a:avLst>
          </a:prstGeom>
          <a:solidFill>
            <a:srgbClr val="0E2B42"/>
          </a:solidFill>
          <a:ln cap="flat" cmpd="sng" w="9525">
            <a:solidFill>
              <a:srgbClr val="3153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9503" name="Google Shape;251;p7"/>
          <p:cNvSpPr/>
          <p:nvPr/>
        </p:nvSpPr>
        <p:spPr>
          <a:xfrm>
            <a:off x="704088" y="4389120"/>
            <a:ext cx="2231136"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rgbClr val="23D5D2"/>
                </a:solidFill>
              </a:rPr>
              <a:t>20 / 20</a:t>
            </a:r>
            <a:endParaRPr/>
          </a:p>
        </p:txBody>
      </p:sp>
      <p:sp>
        <p:nvSpPr>
          <p:cNvPr id="9504" name="Google Shape;252;p7"/>
          <p:cNvSpPr/>
          <p:nvPr/>
        </p:nvSpPr>
        <p:spPr>
          <a:xfrm>
            <a:off x="704088" y="4873752"/>
            <a:ext cx="2231136"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00">
                <a:solidFill>
                  <a:srgbClr val="A9C1D2"/>
                </a:solidFill>
              </a:rPr>
              <a:t>IPoE sessions established and DHCP-bound, one namespace per UE</a:t>
            </a:r>
            <a:endParaRPr/>
          </a:p>
        </p:txBody>
      </p:sp>
      <p:sp>
        <p:nvSpPr>
          <p:cNvPr id="9505" name="Google Shape;248;p7"/>
          <p:cNvSpPr/>
          <p:nvPr/>
        </p:nvSpPr>
        <p:spPr>
          <a:xfrm>
            <a:off x="3392423" y="4279392"/>
            <a:ext cx="2596896" cy="1298448"/>
          </a:xfrm>
          <a:prstGeom prst="roundRect">
            <a:avLst>
              <a:gd fmla="val 7692" name="adj"/>
            </a:avLst>
          </a:prstGeom>
          <a:solidFill>
            <a:srgbClr val="0E2B42"/>
          </a:solidFill>
          <a:ln cap="flat" cmpd="sng" w="9525">
            <a:solidFill>
              <a:srgbClr val="3153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9506" name="Google Shape;251;p7"/>
          <p:cNvSpPr/>
          <p:nvPr/>
        </p:nvSpPr>
        <p:spPr>
          <a:xfrm>
            <a:off x="3575303" y="4389120"/>
            <a:ext cx="2231136"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rgbClr val="FF9D42"/>
                </a:solidFill>
              </a:rPr>
              <a:t>60 / 60</a:t>
            </a:r>
            <a:endParaRPr/>
          </a:p>
        </p:txBody>
      </p:sp>
      <p:sp>
        <p:nvSpPr>
          <p:cNvPr id="9507" name="Google Shape;252;p7"/>
          <p:cNvSpPr/>
          <p:nvPr/>
        </p:nvSpPr>
        <p:spPr>
          <a:xfrm>
            <a:off x="3575303" y="4873752"/>
            <a:ext cx="2231136"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00">
                <a:solidFill>
                  <a:srgbClr val="A9C1D2"/>
                </a:solidFill>
              </a:rPr>
              <a:t>internet pings to 4.2.2.2 answered: 0% loss across all 20 UEs, ~9 ms avg</a:t>
            </a:r>
            <a:endParaRPr/>
          </a:p>
        </p:txBody>
      </p:sp>
      <p:sp>
        <p:nvSpPr>
          <p:cNvPr id="9508" name="Google Shape;248;p7"/>
          <p:cNvSpPr/>
          <p:nvPr/>
        </p:nvSpPr>
        <p:spPr>
          <a:xfrm>
            <a:off x="6263640" y="4279392"/>
            <a:ext cx="2596896" cy="1298448"/>
          </a:xfrm>
          <a:prstGeom prst="roundRect">
            <a:avLst>
              <a:gd fmla="val 7692" name="adj"/>
            </a:avLst>
          </a:prstGeom>
          <a:solidFill>
            <a:srgbClr val="0E2B42"/>
          </a:solidFill>
          <a:ln cap="flat" cmpd="sng" w="9525">
            <a:solidFill>
              <a:srgbClr val="3153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9509" name="Google Shape;251;p7"/>
          <p:cNvSpPr/>
          <p:nvPr/>
        </p:nvSpPr>
        <p:spPr>
          <a:xfrm>
            <a:off x="6446520" y="4389120"/>
            <a:ext cx="2231136"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rgbClr val="23D5D2"/>
                </a:solidFill>
              </a:rPr>
              <a:t>4 / 4</a:t>
            </a:r>
            <a:endParaRPr/>
          </a:p>
        </p:txBody>
      </p:sp>
      <p:sp>
        <p:nvSpPr>
          <p:cNvPr id="9510" name="Google Shape;252;p7"/>
          <p:cNvSpPr/>
          <p:nvPr/>
        </p:nvSpPr>
        <p:spPr>
          <a:xfrm>
            <a:off x="6446520" y="4873752"/>
            <a:ext cx="2231136"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00">
                <a:solidFill>
                  <a:srgbClr val="A9C1D2"/>
                </a:solidFill>
              </a:rPr>
              <a:t>BNG–FRR BGP sessions up; both FRRs peer eBGP with the MikroTik</a:t>
            </a:r>
            <a:endParaRPr/>
          </a:p>
        </p:txBody>
      </p:sp>
      <p:sp>
        <p:nvSpPr>
          <p:cNvPr id="9511" name="Google Shape;248;p7"/>
          <p:cNvSpPr/>
          <p:nvPr/>
        </p:nvSpPr>
        <p:spPr>
          <a:xfrm>
            <a:off x="9134855" y="4279392"/>
            <a:ext cx="2596896" cy="1298448"/>
          </a:xfrm>
          <a:prstGeom prst="roundRect">
            <a:avLst>
              <a:gd fmla="val 7692" name="adj"/>
            </a:avLst>
          </a:prstGeom>
          <a:solidFill>
            <a:srgbClr val="0E2B42"/>
          </a:solidFill>
          <a:ln cap="flat" cmpd="sng" w="9525">
            <a:solidFill>
              <a:srgbClr val="3153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9512" name="Google Shape;251;p7"/>
          <p:cNvSpPr/>
          <p:nvPr/>
        </p:nvSpPr>
        <p:spPr>
          <a:xfrm>
            <a:off x="9317735" y="4389120"/>
            <a:ext cx="2231136"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rgbClr val="23D5D2"/>
                </a:solidFill>
              </a:rPr>
              <a:t>20 / 256</a:t>
            </a:r>
            <a:endParaRPr/>
          </a:p>
        </p:txBody>
      </p:sp>
      <p:sp>
        <p:nvSpPr>
          <p:cNvPr id="9513" name="Google Shape;252;p7"/>
          <p:cNvSpPr/>
          <p:nvPr/>
        </p:nvSpPr>
        <p:spPr>
          <a:xfrm>
            <a:off x="9317735" y="4873752"/>
            <a:ext cx="2231136"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00">
                <a:solidFill>
                  <a:srgbClr val="A9C1D2"/>
                </a:solidFill>
              </a:rPr>
              <a:t>CGNAT addresses in use from 100.64.100.0/24, 32,236 port blocks free</a:t>
            </a:r>
            <a:endParaRPr/>
          </a:p>
        </p:txBody>
      </p:sp>
      <p:sp>
        <p:nvSpPr>
          <p:cNvPr id="9514" name="Google Shape;252;p7"/>
          <p:cNvSpPr/>
          <p:nvPr/>
        </p:nvSpPr>
        <p:spPr>
          <a:xfrm>
            <a:off x="685800" y="5760720"/>
            <a:ext cx="1078992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00">
                <a:solidFill>
                  <a:srgbClr val="A9C1D2"/>
                </a:solidFill>
              </a:rPr>
              <a:t>Upstream OSVBNG: 691 control-plane test cases across 53 suites. Dataplane load tests run manually on Cisco TRex (64 B to IMIX); results are not yet published, and the README cites 400+ Gbps and 20,000+ sessions as targets.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A2B"/>
        </a:solidFill>
      </p:bgPr>
    </p:bg>
    <p:spTree>
      <p:nvGrpSpPr>
        <p:cNvPr id="322" name="Shape 322"/>
        <p:cNvGrpSpPr/>
        <p:nvPr/>
      </p:nvGrpSpPr>
      <p:grpSpPr>
        <a:xfrm>
          <a:off x="0" y="0"/>
          <a:ext cx="0" cy="0"/>
          <a:chOff x="0" y="0"/>
          <a:chExt cx="0" cy="0"/>
        </a:xfrm>
      </p:grpSpPr>
      <p:grpSp>
        <p:nvGrpSpPr>
          <p:cNvPr id="325" name="Google Shape;325;p9"/>
          <p:cNvGrpSpPr/>
          <p:nvPr/>
        </p:nvGrpSpPr>
        <p:grpSpPr>
          <a:xfrm>
            <a:off x="685800" y="1952625"/>
            <a:ext cx="6858000" cy="609600"/>
            <a:chOff x="0" y="0"/>
            <a:chExt cx="6858000" cy="609600"/>
          </a:xfrm>
        </p:grpSpPr>
        <p:sp>
          <p:nvSpPr>
            <p:cNvPr id="326" name="Google Shape;326;p9"/>
            <p:cNvSpPr/>
            <p:nvPr/>
          </p:nvSpPr>
          <p:spPr>
            <a:xfrm>
              <a:off x="0" y="0"/>
              <a:ext cx="6858000" cy="609600"/>
            </a:xfrm>
            <a:prstGeom prst="roundRect">
              <a:avLst>
                <a:gd fmla="val 15625" name="adj"/>
              </a:avLst>
            </a:prstGeom>
            <a:solidFill>
              <a:srgbClr val="0E2B42"/>
            </a:solidFill>
            <a:ln cap="flat" cmpd="sng" w="9525">
              <a:solidFill>
                <a:srgbClr val="1E3D5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327" name="Google Shape;327;p9"/>
            <p:cNvSpPr/>
            <p:nvPr/>
          </p:nvSpPr>
          <p:spPr>
            <a:xfrm>
              <a:off x="133350" y="133350"/>
              <a:ext cx="342900" cy="342900"/>
            </a:xfrm>
            <a:prstGeom prst="roundRect">
              <a:avLst>
                <a:gd fmla="val 22222" name="adj"/>
              </a:avLst>
            </a:prstGeom>
            <a:solidFill>
              <a:srgbClr val="103B3C"/>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328" name="Google Shape;328;p9"/>
            <p:cNvSpPr txBox="1"/>
            <p:nvPr/>
          </p:nvSpPr>
          <p:spPr>
            <a:xfrm>
              <a:off x="133350" y="13335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200">
                  <a:solidFill>
                    <a:srgbClr val="43D17D"/>
                  </a:solidFill>
                  <a:latin typeface="Arial"/>
                  <a:ea typeface="Arial"/>
                  <a:cs typeface="Arial"/>
                  <a:sym typeface="Arial"/>
                </a:rPr>
                <a:t>01</a:t>
              </a:r>
              <a:endParaRPr b="1" sz="1200">
                <a:solidFill>
                  <a:srgbClr val="43D17D"/>
                </a:solidFill>
                <a:latin typeface="Arial"/>
                <a:ea typeface="Arial"/>
                <a:cs typeface="Arial"/>
                <a:sym typeface="Arial"/>
              </a:endParaRPr>
            </a:p>
          </p:txBody>
        </p:sp>
        <p:sp>
          <p:nvSpPr>
            <p:cNvPr id="329" name="Google Shape;329;p9"/>
            <p:cNvSpPr txBox="1"/>
            <p:nvPr/>
          </p:nvSpPr>
          <p:spPr>
            <a:xfrm>
              <a:off x="609600" y="104775"/>
              <a:ext cx="6096000" cy="4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F7FBFF"/>
                  </a:solidFill>
                  <a:latin typeface="Arial"/>
                  <a:ea typeface="Arial"/>
                  <a:cs typeface="Arial"/>
                  <a:sym typeface="Arial"/>
                </a:rPr>
                <a:t>Capacity profile</a:t>
              </a:r>
              <a:endParaRPr b="1" sz="1300">
                <a:solidFill>
                  <a:srgbClr val="F7FBFF"/>
                </a:solidFill>
                <a:latin typeface="Arial"/>
                <a:ea typeface="Arial"/>
                <a:cs typeface="Arial"/>
                <a:sym typeface="Arial"/>
              </a:endParaRPr>
            </a:p>
            <a:p>
              <a:pPr indent="0" lvl="0" marL="0" rtl="0" algn="l">
                <a:spcBef>
                  <a:spcPts val="150"/>
                </a:spcBef>
                <a:spcAft>
                  <a:spcPts val="0"/>
                </a:spcAft>
                <a:buNone/>
              </a:pPr>
              <a:r>
                <a:rPr b="0" lang="en-US" sz="1050">
                  <a:solidFill>
                    <a:srgbClr val="A9C1D2"/>
                  </a:solidFill>
                  <a:latin typeface="Arial"/>
                  <a:ea typeface="Arial"/>
                  <a:cs typeface="Arial"/>
                  <a:sym typeface="Arial"/>
                </a:rPr>
                <a:t>Subscriber target, CPU, hugepages, and NIC queues</a:t>
              </a:r>
              <a:endParaRPr b="0" sz="1050">
                <a:solidFill>
                  <a:srgbClr val="A9C1D2"/>
                </a:solidFill>
                <a:latin typeface="Arial"/>
                <a:ea typeface="Arial"/>
                <a:cs typeface="Arial"/>
                <a:sym typeface="Arial"/>
              </a:endParaRPr>
            </a:p>
          </p:txBody>
        </p:sp>
      </p:grpSp>
      <p:grpSp>
        <p:nvGrpSpPr>
          <p:cNvPr id="330" name="Google Shape;330;p9"/>
          <p:cNvGrpSpPr/>
          <p:nvPr/>
        </p:nvGrpSpPr>
        <p:grpSpPr>
          <a:xfrm>
            <a:off x="685800" y="2638425"/>
            <a:ext cx="6858000" cy="609600"/>
            <a:chOff x="0" y="0"/>
            <a:chExt cx="6858000" cy="609600"/>
          </a:xfrm>
        </p:grpSpPr>
        <p:sp>
          <p:nvSpPr>
            <p:cNvPr id="331" name="Google Shape;331;p9"/>
            <p:cNvSpPr/>
            <p:nvPr/>
          </p:nvSpPr>
          <p:spPr>
            <a:xfrm>
              <a:off x="0" y="0"/>
              <a:ext cx="6858000" cy="609600"/>
            </a:xfrm>
            <a:prstGeom prst="roundRect">
              <a:avLst>
                <a:gd fmla="val 15625" name="adj"/>
              </a:avLst>
            </a:prstGeom>
            <a:solidFill>
              <a:srgbClr val="0E2B42"/>
            </a:solidFill>
            <a:ln cap="flat" cmpd="sng" w="9525">
              <a:solidFill>
                <a:srgbClr val="1E3D5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332" name="Google Shape;332;p9"/>
            <p:cNvSpPr/>
            <p:nvPr/>
          </p:nvSpPr>
          <p:spPr>
            <a:xfrm>
              <a:off x="133350" y="133350"/>
              <a:ext cx="342900" cy="342900"/>
            </a:xfrm>
            <a:prstGeom prst="roundRect">
              <a:avLst>
                <a:gd fmla="val 22222" name="adj"/>
              </a:avLst>
            </a:prstGeom>
            <a:solidFill>
              <a:srgbClr val="103B3C"/>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333" name="Google Shape;333;p9"/>
            <p:cNvSpPr txBox="1"/>
            <p:nvPr/>
          </p:nvSpPr>
          <p:spPr>
            <a:xfrm>
              <a:off x="133350" y="13335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200">
                  <a:solidFill>
                    <a:srgbClr val="43D17D"/>
                  </a:solidFill>
                  <a:latin typeface="Arial"/>
                  <a:ea typeface="Arial"/>
                  <a:cs typeface="Arial"/>
                  <a:sym typeface="Arial"/>
                </a:rPr>
                <a:t>02</a:t>
              </a:r>
              <a:endParaRPr b="1" sz="1200">
                <a:solidFill>
                  <a:srgbClr val="43D17D"/>
                </a:solidFill>
                <a:latin typeface="Arial"/>
                <a:ea typeface="Arial"/>
                <a:cs typeface="Arial"/>
                <a:sym typeface="Arial"/>
              </a:endParaRPr>
            </a:p>
          </p:txBody>
        </p:sp>
        <p:sp>
          <p:nvSpPr>
            <p:cNvPr id="334" name="Google Shape;334;p9"/>
            <p:cNvSpPr txBox="1"/>
            <p:nvPr/>
          </p:nvSpPr>
          <p:spPr>
            <a:xfrm>
              <a:off x="609600" y="104775"/>
              <a:ext cx="6096000" cy="4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F7FBFF"/>
                  </a:solidFill>
                  <a:latin typeface="Arial"/>
                  <a:ea typeface="Arial"/>
                  <a:cs typeface="Arial"/>
                  <a:sym typeface="Arial"/>
                </a:rPr>
                <a:t>Data-plane placement</a:t>
              </a:r>
              <a:endParaRPr b="1" sz="1300">
                <a:solidFill>
                  <a:srgbClr val="F7FBFF"/>
                </a:solidFill>
                <a:latin typeface="Arial"/>
                <a:ea typeface="Arial"/>
                <a:cs typeface="Arial"/>
                <a:sym typeface="Arial"/>
              </a:endParaRPr>
            </a:p>
            <a:p>
              <a:pPr indent="0" lvl="0" marL="0" rtl="0" algn="l">
                <a:spcBef>
                  <a:spcPts val="150"/>
                </a:spcBef>
                <a:spcAft>
                  <a:spcPts val="0"/>
                </a:spcAft>
                <a:buNone/>
              </a:pPr>
              <a:r>
                <a:rPr b="0" lang="en-US" sz="1050">
                  <a:solidFill>
                    <a:srgbClr val="A9C1D2"/>
                  </a:solidFill>
                  <a:latin typeface="Arial"/>
                  <a:ea typeface="Arial"/>
                  <a:cs typeface="Arial"/>
                  <a:sym typeface="Arial"/>
                </a:rPr>
                <a:t>Dedicated VFIO resources and topology-aware affinity</a:t>
              </a:r>
              <a:endParaRPr b="0" sz="1050">
                <a:solidFill>
                  <a:srgbClr val="A9C1D2"/>
                </a:solidFill>
                <a:latin typeface="Arial"/>
                <a:ea typeface="Arial"/>
                <a:cs typeface="Arial"/>
                <a:sym typeface="Arial"/>
              </a:endParaRPr>
            </a:p>
          </p:txBody>
        </p:sp>
      </p:grpSp>
      <p:grpSp>
        <p:nvGrpSpPr>
          <p:cNvPr id="335" name="Google Shape;335;p9"/>
          <p:cNvGrpSpPr/>
          <p:nvPr/>
        </p:nvGrpSpPr>
        <p:grpSpPr>
          <a:xfrm>
            <a:off x="685800" y="3324225"/>
            <a:ext cx="6858000" cy="609600"/>
            <a:chOff x="0" y="0"/>
            <a:chExt cx="6858000" cy="609600"/>
          </a:xfrm>
        </p:grpSpPr>
        <p:sp>
          <p:nvSpPr>
            <p:cNvPr id="336" name="Google Shape;336;p9"/>
            <p:cNvSpPr/>
            <p:nvPr/>
          </p:nvSpPr>
          <p:spPr>
            <a:xfrm>
              <a:off x="0" y="0"/>
              <a:ext cx="6858000" cy="609600"/>
            </a:xfrm>
            <a:prstGeom prst="roundRect">
              <a:avLst>
                <a:gd fmla="val 15625" name="adj"/>
              </a:avLst>
            </a:prstGeom>
            <a:solidFill>
              <a:srgbClr val="0E2B42"/>
            </a:solidFill>
            <a:ln cap="flat" cmpd="sng" w="9525">
              <a:solidFill>
                <a:srgbClr val="1E3D5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337" name="Google Shape;337;p9"/>
            <p:cNvSpPr/>
            <p:nvPr/>
          </p:nvSpPr>
          <p:spPr>
            <a:xfrm>
              <a:off x="133350" y="133350"/>
              <a:ext cx="342900" cy="342900"/>
            </a:xfrm>
            <a:prstGeom prst="roundRect">
              <a:avLst>
                <a:gd fmla="val 22222" name="adj"/>
              </a:avLst>
            </a:prstGeom>
            <a:solidFill>
              <a:srgbClr val="103B3C"/>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338" name="Google Shape;338;p9"/>
            <p:cNvSpPr txBox="1"/>
            <p:nvPr/>
          </p:nvSpPr>
          <p:spPr>
            <a:xfrm>
              <a:off x="133350" y="13335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200">
                  <a:solidFill>
                    <a:srgbClr val="43D17D"/>
                  </a:solidFill>
                  <a:latin typeface="Arial"/>
                  <a:ea typeface="Arial"/>
                  <a:cs typeface="Arial"/>
                  <a:sym typeface="Arial"/>
                </a:rPr>
                <a:t>03</a:t>
              </a:r>
              <a:endParaRPr b="1" sz="1200">
                <a:solidFill>
                  <a:srgbClr val="43D17D"/>
                </a:solidFill>
                <a:latin typeface="Arial"/>
                <a:ea typeface="Arial"/>
                <a:cs typeface="Arial"/>
                <a:sym typeface="Arial"/>
              </a:endParaRPr>
            </a:p>
          </p:txBody>
        </p:sp>
        <p:sp>
          <p:nvSpPr>
            <p:cNvPr id="339" name="Google Shape;339;p9"/>
            <p:cNvSpPr txBox="1"/>
            <p:nvPr/>
          </p:nvSpPr>
          <p:spPr>
            <a:xfrm>
              <a:off x="609600" y="104775"/>
              <a:ext cx="6096000" cy="4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F7FBFF"/>
                  </a:solidFill>
                  <a:latin typeface="Arial"/>
                  <a:ea typeface="Arial"/>
                  <a:cs typeface="Arial"/>
                  <a:sym typeface="Arial"/>
                </a:rPr>
                <a:t>Routing integration</a:t>
              </a:r>
              <a:endParaRPr b="1" sz="1300">
                <a:solidFill>
                  <a:srgbClr val="F7FBFF"/>
                </a:solidFill>
                <a:latin typeface="Arial"/>
                <a:ea typeface="Arial"/>
                <a:cs typeface="Arial"/>
                <a:sym typeface="Arial"/>
              </a:endParaRPr>
            </a:p>
            <a:p>
              <a:pPr indent="0" lvl="0" marL="0" rtl="0" algn="l">
                <a:spcBef>
                  <a:spcPts val="150"/>
                </a:spcBef>
                <a:spcAft>
                  <a:spcPts val="0"/>
                </a:spcAft>
                <a:buNone/>
              </a:pPr>
              <a:r>
                <a:rPr b="0" lang="en-US" sz="1050">
                  <a:solidFill>
                    <a:srgbClr val="A9C1D2"/>
                  </a:solidFill>
                  <a:latin typeface="Arial"/>
                  <a:ea typeface="Arial"/>
                  <a:cs typeface="Arial"/>
                  <a:sym typeface="Arial"/>
                </a:rPr>
                <a:t>BGP to redundant FRR instances and upstream return routes</a:t>
              </a:r>
              <a:endParaRPr b="0" sz="1050">
                <a:solidFill>
                  <a:srgbClr val="A9C1D2"/>
                </a:solidFill>
                <a:latin typeface="Arial"/>
                <a:ea typeface="Arial"/>
                <a:cs typeface="Arial"/>
                <a:sym typeface="Arial"/>
              </a:endParaRPr>
            </a:p>
          </p:txBody>
        </p:sp>
      </p:grpSp>
      <p:grpSp>
        <p:nvGrpSpPr>
          <p:cNvPr id="340" name="Google Shape;340;p9"/>
          <p:cNvGrpSpPr/>
          <p:nvPr/>
        </p:nvGrpSpPr>
        <p:grpSpPr>
          <a:xfrm>
            <a:off x="685800" y="4010025"/>
            <a:ext cx="6858000" cy="609600"/>
            <a:chOff x="0" y="0"/>
            <a:chExt cx="6858000" cy="609600"/>
          </a:xfrm>
        </p:grpSpPr>
        <p:sp>
          <p:nvSpPr>
            <p:cNvPr id="341" name="Google Shape;341;p9"/>
            <p:cNvSpPr/>
            <p:nvPr/>
          </p:nvSpPr>
          <p:spPr>
            <a:xfrm>
              <a:off x="0" y="0"/>
              <a:ext cx="6858000" cy="609600"/>
            </a:xfrm>
            <a:prstGeom prst="roundRect">
              <a:avLst>
                <a:gd fmla="val 15625" name="adj"/>
              </a:avLst>
            </a:prstGeom>
            <a:solidFill>
              <a:srgbClr val="0E2B42"/>
            </a:solidFill>
            <a:ln cap="flat" cmpd="sng" w="9525">
              <a:solidFill>
                <a:srgbClr val="1E3D5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342" name="Google Shape;342;p9"/>
            <p:cNvSpPr/>
            <p:nvPr/>
          </p:nvSpPr>
          <p:spPr>
            <a:xfrm>
              <a:off x="133350" y="133350"/>
              <a:ext cx="342900" cy="342900"/>
            </a:xfrm>
            <a:prstGeom prst="roundRect">
              <a:avLst>
                <a:gd fmla="val 22222" name="adj"/>
              </a:avLst>
            </a:prstGeom>
            <a:solidFill>
              <a:srgbClr val="103B3C"/>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343" name="Google Shape;343;p9"/>
            <p:cNvSpPr txBox="1"/>
            <p:nvPr/>
          </p:nvSpPr>
          <p:spPr>
            <a:xfrm>
              <a:off x="133350" y="13335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200">
                  <a:solidFill>
                    <a:srgbClr val="43D17D"/>
                  </a:solidFill>
                  <a:latin typeface="Arial"/>
                  <a:ea typeface="Arial"/>
                  <a:cs typeface="Arial"/>
                  <a:sym typeface="Arial"/>
                </a:rPr>
                <a:t>04</a:t>
              </a:r>
              <a:endParaRPr b="1" sz="1200">
                <a:solidFill>
                  <a:srgbClr val="43D17D"/>
                </a:solidFill>
                <a:latin typeface="Arial"/>
                <a:ea typeface="Arial"/>
                <a:cs typeface="Arial"/>
                <a:sym typeface="Arial"/>
              </a:endParaRPr>
            </a:p>
          </p:txBody>
        </p:sp>
        <p:sp>
          <p:nvSpPr>
            <p:cNvPr id="344" name="Google Shape;344;p9"/>
            <p:cNvSpPr txBox="1"/>
            <p:nvPr/>
          </p:nvSpPr>
          <p:spPr>
            <a:xfrm>
              <a:off x="609600" y="104775"/>
              <a:ext cx="6096000" cy="4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F7FBFF"/>
                  </a:solidFill>
                  <a:latin typeface="Arial"/>
                  <a:ea typeface="Arial"/>
                  <a:cs typeface="Arial"/>
                  <a:sym typeface="Arial"/>
                </a:rPr>
                <a:t>Operations</a:t>
              </a:r>
              <a:endParaRPr b="1" sz="1300">
                <a:solidFill>
                  <a:srgbClr val="F7FBFF"/>
                </a:solidFill>
                <a:latin typeface="Arial"/>
                <a:ea typeface="Arial"/>
                <a:cs typeface="Arial"/>
                <a:sym typeface="Arial"/>
              </a:endParaRPr>
            </a:p>
            <a:p>
              <a:pPr indent="0" lvl="0" marL="0" rtl="0" algn="l">
                <a:spcBef>
                  <a:spcPts val="150"/>
                </a:spcBef>
                <a:spcAft>
                  <a:spcPts val="0"/>
                </a:spcAft>
                <a:buNone/>
              </a:pPr>
              <a:r>
                <a:rPr b="0" lang="en-US" sz="1050">
                  <a:solidFill>
                    <a:srgbClr val="A9C1D2"/>
                  </a:solidFill>
                  <a:latin typeface="Arial"/>
                  <a:ea typeface="Arial"/>
                  <a:cs typeface="Arial"/>
                  <a:sym typeface="Arial"/>
                </a:rPr>
                <a:t>Versioned Helm releases, Gitops, metrics, logs, and rollback</a:t>
              </a:r>
              <a:endParaRPr b="0" sz="1050">
                <a:solidFill>
                  <a:srgbClr val="A9C1D2"/>
                </a:solidFill>
                <a:latin typeface="Arial"/>
                <a:ea typeface="Arial"/>
                <a:cs typeface="Arial"/>
                <a:sym typeface="Arial"/>
              </a:endParaRPr>
            </a:p>
          </p:txBody>
        </p:sp>
      </p:grpSp>
      <p:grpSp>
        <p:nvGrpSpPr>
          <p:cNvPr id="345" name="Google Shape;345;p9"/>
          <p:cNvGrpSpPr/>
          <p:nvPr/>
        </p:nvGrpSpPr>
        <p:grpSpPr>
          <a:xfrm>
            <a:off x="685800" y="4695825"/>
            <a:ext cx="6858000" cy="609600"/>
            <a:chOff x="0" y="0"/>
            <a:chExt cx="6858000" cy="609600"/>
          </a:xfrm>
        </p:grpSpPr>
        <p:sp>
          <p:nvSpPr>
            <p:cNvPr id="346" name="Google Shape;346;p9"/>
            <p:cNvSpPr/>
            <p:nvPr/>
          </p:nvSpPr>
          <p:spPr>
            <a:xfrm>
              <a:off x="0" y="0"/>
              <a:ext cx="6858000" cy="609600"/>
            </a:xfrm>
            <a:prstGeom prst="roundRect">
              <a:avLst>
                <a:gd fmla="val 15625" name="adj"/>
              </a:avLst>
            </a:prstGeom>
            <a:solidFill>
              <a:srgbClr val="0E2B42"/>
            </a:solidFill>
            <a:ln cap="flat" cmpd="sng" w="9525">
              <a:solidFill>
                <a:srgbClr val="1E3D5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347" name="Google Shape;347;p9"/>
            <p:cNvSpPr/>
            <p:nvPr/>
          </p:nvSpPr>
          <p:spPr>
            <a:xfrm>
              <a:off x="133350" y="133350"/>
              <a:ext cx="342900" cy="342900"/>
            </a:xfrm>
            <a:prstGeom prst="roundRect">
              <a:avLst>
                <a:gd fmla="val 22222" name="adj"/>
              </a:avLst>
            </a:prstGeom>
            <a:solidFill>
              <a:srgbClr val="103B3C"/>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348" name="Google Shape;348;p9"/>
            <p:cNvSpPr txBox="1"/>
            <p:nvPr/>
          </p:nvSpPr>
          <p:spPr>
            <a:xfrm>
              <a:off x="133350" y="133350"/>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US" sz="1200" u="none" strike="noStrike">
                  <a:solidFill>
                    <a:srgbClr val="43D17D"/>
                  </a:solidFill>
                  <a:latin typeface="Arial"/>
                  <a:ea typeface="Arial"/>
                  <a:cs typeface="Arial"/>
                  <a:sym typeface="Arial"/>
                </a:rPr>
                <a:t>05</a:t>
              </a:r>
              <a:endParaRPr b="1" i="0" sz="1200" u="none" strike="noStrike">
                <a:solidFill>
                  <a:srgbClr val="43D17D"/>
                </a:solidFill>
                <a:latin typeface="Arial"/>
                <a:ea typeface="Arial"/>
                <a:cs typeface="Arial"/>
                <a:sym typeface="Arial"/>
              </a:endParaRPr>
            </a:p>
          </p:txBody>
        </p:sp>
        <p:sp>
          <p:nvSpPr>
            <p:cNvPr id="349" name="Google Shape;349;p9"/>
            <p:cNvSpPr txBox="1"/>
            <p:nvPr/>
          </p:nvSpPr>
          <p:spPr>
            <a:xfrm>
              <a:off x="609600" y="104775"/>
              <a:ext cx="6096000" cy="400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1300" u="none" strike="noStrike">
                  <a:solidFill>
                    <a:srgbClr val="F7FBFF"/>
                  </a:solidFill>
                  <a:latin typeface="Arial"/>
                  <a:ea typeface="Arial"/>
                  <a:cs typeface="Arial"/>
                  <a:sym typeface="Arial"/>
                </a:rPr>
                <a:t>Availability</a:t>
              </a:r>
              <a:endParaRPr b="1" i="0" sz="1300" u="none" strike="noStrike">
                <a:solidFill>
                  <a:srgbClr val="F7FBFF"/>
                </a:solidFill>
                <a:latin typeface="Arial"/>
                <a:ea typeface="Arial"/>
                <a:cs typeface="Arial"/>
                <a:sym typeface="Arial"/>
              </a:endParaRPr>
            </a:p>
            <a:p>
              <a:pPr indent="0" lvl="0" marL="0" rtl="0" algn="l">
                <a:spcBef>
                  <a:spcPts val="150"/>
                </a:spcBef>
                <a:spcAft>
                  <a:spcPts val="0"/>
                </a:spcAft>
                <a:buNone/>
              </a:pPr>
              <a:r>
                <a:rPr b="0" i="0" lang="en-US" sz="1050" u="none" strike="noStrike">
                  <a:solidFill>
                    <a:srgbClr val="A9C1D2"/>
                  </a:solidFill>
                  <a:latin typeface="Arial"/>
                  <a:ea typeface="Arial"/>
                  <a:cs typeface="Arial"/>
                  <a:sym typeface="Arial"/>
                </a:rPr>
                <a:t>Two placements, anti-affinity, and recovery testing</a:t>
              </a:r>
              <a:endParaRPr b="1" i="0" sz="1050" u="none" strike="noStrike">
                <a:solidFill>
                  <a:srgbClr val="F7FBFF"/>
                </a:solidFill>
                <a:latin typeface="Arial"/>
                <a:ea typeface="Arial"/>
                <a:cs typeface="Arial"/>
                <a:sym typeface="Arial"/>
              </a:endParaRPr>
            </a:p>
          </p:txBody>
        </p:sp>
      </p:grpSp>
      <p:grpSp>
        <p:nvGrpSpPr>
          <p:cNvPr id="350" name="Google Shape;350;p9"/>
          <p:cNvGrpSpPr/>
          <p:nvPr/>
        </p:nvGrpSpPr>
        <p:grpSpPr>
          <a:xfrm>
            <a:off x="7810500" y="1952625"/>
            <a:ext cx="3695700" cy="3352800"/>
            <a:chOff x="0" y="0"/>
            <a:chExt cx="3695700" cy="3352800"/>
          </a:xfrm>
        </p:grpSpPr>
        <p:sp>
          <p:nvSpPr>
            <p:cNvPr id="351" name="Google Shape;351;p9"/>
            <p:cNvSpPr/>
            <p:nvPr/>
          </p:nvSpPr>
          <p:spPr>
            <a:xfrm>
              <a:off x="0" y="0"/>
              <a:ext cx="3695700" cy="3352800"/>
            </a:xfrm>
            <a:prstGeom prst="roundRect">
              <a:avLst>
                <a:gd fmla="val 3977" name="adj"/>
              </a:avLst>
            </a:prstGeom>
            <a:solidFill>
              <a:srgbClr val="0E2D42"/>
            </a:solidFill>
            <a:ln cap="flat" cmpd="sng" w="14300">
              <a:solidFill>
                <a:srgbClr val="23D5D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352" name="Google Shape;352;p9"/>
            <p:cNvSpPr/>
            <p:nvPr/>
          </p:nvSpPr>
          <p:spPr>
            <a:xfrm>
              <a:off x="228600" y="228600"/>
              <a:ext cx="876300" cy="228600"/>
            </a:xfrm>
            <a:prstGeom prst="roundRect">
              <a:avLst>
                <a:gd fmla="val 50000" name="adj"/>
              </a:avLst>
            </a:prstGeom>
            <a:solidFill>
              <a:srgbClr val="123A49"/>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353" name="Google Shape;353;p9"/>
            <p:cNvSpPr txBox="1"/>
            <p:nvPr/>
          </p:nvSpPr>
          <p:spPr>
            <a:xfrm>
              <a:off x="228600" y="228600"/>
              <a:ext cx="8763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50">
                  <a:solidFill>
                    <a:srgbClr val="23D5D2"/>
                  </a:solidFill>
                  <a:latin typeface="Arial"/>
                  <a:ea typeface="Arial"/>
                  <a:cs typeface="Arial"/>
                  <a:sym typeface="Arial"/>
                </a:rPr>
                <a:t>TAKEAWAY</a:t>
              </a:r>
              <a:endParaRPr b="1" sz="850">
                <a:solidFill>
                  <a:srgbClr val="23D5D2"/>
                </a:solidFill>
                <a:latin typeface="Arial"/>
                <a:ea typeface="Arial"/>
                <a:cs typeface="Arial"/>
                <a:sym typeface="Arial"/>
              </a:endParaRPr>
            </a:p>
          </p:txBody>
        </p:sp>
        <p:sp>
          <p:nvSpPr>
            <p:cNvPr id="354" name="Google Shape;354;p9"/>
            <p:cNvSpPr txBox="1"/>
            <p:nvPr/>
          </p:nvSpPr>
          <p:spPr>
            <a:xfrm>
              <a:off x="228600" y="590550"/>
              <a:ext cx="3238500" cy="1466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b="1" lang="en-US" sz="1650">
                  <a:solidFill>
                    <a:srgbClr val="F7FBFF"/>
                  </a:solidFill>
                  <a:latin typeface="Arial"/>
                  <a:ea typeface="Arial"/>
                  <a:cs typeface="Arial"/>
                  <a:sym typeface="Arial"/>
                </a:rPr>
                <a:t>Kubernetes can run the broadband edge when subscriber traffic gets dedicated NICs, not the default pod network.</a:t>
              </a:r>
              <a:endParaRPr b="1" sz="1650">
                <a:solidFill>
                  <a:srgbClr val="F7FBFF"/>
                </a:solidFill>
                <a:latin typeface="Arial"/>
                <a:ea typeface="Arial"/>
                <a:cs typeface="Arial"/>
                <a:sym typeface="Arial"/>
              </a:endParaRPr>
            </a:p>
          </p:txBody>
        </p:sp>
        <p:sp>
          <p:nvSpPr>
            <p:cNvPr id="355" name="Google Shape;355;p9"/>
            <p:cNvSpPr/>
            <p:nvPr/>
          </p:nvSpPr>
          <p:spPr>
            <a:xfrm>
              <a:off x="228600" y="2057250"/>
              <a:ext cx="3238500" cy="19200"/>
            </a:xfrm>
            <a:prstGeom prst="rect">
              <a:avLst/>
            </a:prstGeom>
            <a:solidFill>
              <a:srgbClr val="FF9D42"/>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356" name="Google Shape;356;p9"/>
            <p:cNvSpPr txBox="1"/>
            <p:nvPr/>
          </p:nvSpPr>
          <p:spPr>
            <a:xfrm>
              <a:off x="228600" y="1790700"/>
              <a:ext cx="3238500" cy="133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43D17D"/>
                  </a:solidFill>
                  <a:latin typeface="Arial"/>
                  <a:ea typeface="Arial"/>
                  <a:cs typeface="Arial"/>
                  <a:sym typeface="Arial"/>
                </a:rPr>
                <a:t>✓</a:t>
              </a:r>
              <a:r>
                <a:rPr b="1" lang="en-US" sz="1200">
                  <a:solidFill>
                    <a:srgbClr val="D1E5F0"/>
                  </a:solidFill>
                  <a:latin typeface="Arial"/>
                  <a:ea typeface="Arial"/>
                  <a:cs typeface="Arial"/>
                  <a:sym typeface="Arial"/>
                </a:rPr>
                <a:t>Package the function.</a:t>
              </a:r>
              <a:endParaRPr b="1" sz="1200">
                <a:solidFill>
                  <a:srgbClr val="D1E5F0"/>
                </a:solidFill>
                <a:latin typeface="Arial"/>
                <a:ea typeface="Arial"/>
                <a:cs typeface="Arial"/>
                <a:sym typeface="Arial"/>
              </a:endParaRPr>
            </a:p>
            <a:p>
              <a:pPr indent="0" lvl="0" marL="0" rtl="0" algn="l">
                <a:spcBef>
                  <a:spcPts val="0"/>
                </a:spcBef>
                <a:spcAft>
                  <a:spcPts val="0"/>
                </a:spcAft>
                <a:buNone/>
              </a:pPr>
              <a:r>
                <a:rPr b="1" lang="en-US" sz="1200">
                  <a:solidFill>
                    <a:srgbClr val="43D17D"/>
                  </a:solidFill>
                  <a:latin typeface="Arial"/>
                  <a:ea typeface="Arial"/>
                  <a:cs typeface="Arial"/>
                  <a:sym typeface="Arial"/>
                </a:rPr>
                <a:t>✓</a:t>
              </a:r>
              <a:r>
                <a:rPr b="1" lang="en-US" sz="1200">
                  <a:solidFill>
                    <a:srgbClr val="D1E5F0"/>
                  </a:solidFill>
                  <a:latin typeface="Arial"/>
                  <a:ea typeface="Arial"/>
                  <a:cs typeface="Arial"/>
                  <a:sym typeface="Arial"/>
                </a:rPr>
                <a:t>Reserve the resources.</a:t>
              </a:r>
              <a:endParaRPr b="1" sz="1200">
                <a:solidFill>
                  <a:srgbClr val="D1E5F0"/>
                </a:solidFill>
                <a:latin typeface="Arial"/>
                <a:ea typeface="Arial"/>
                <a:cs typeface="Arial"/>
                <a:sym typeface="Arial"/>
              </a:endParaRPr>
            </a:p>
            <a:p>
              <a:pPr indent="0" lvl="0" marL="0" rtl="0" algn="l">
                <a:spcBef>
                  <a:spcPts val="0"/>
                </a:spcBef>
                <a:spcAft>
                  <a:spcPts val="0"/>
                </a:spcAft>
                <a:buNone/>
              </a:pPr>
              <a:r>
                <a:rPr b="1" lang="en-US" sz="1200">
                  <a:solidFill>
                    <a:srgbClr val="43D17D"/>
                  </a:solidFill>
                  <a:latin typeface="Arial"/>
                  <a:ea typeface="Arial"/>
                  <a:cs typeface="Arial"/>
                  <a:sym typeface="Arial"/>
                </a:rPr>
                <a:t>✓</a:t>
              </a:r>
              <a:r>
                <a:rPr b="1" lang="en-US" sz="1200">
                  <a:solidFill>
                    <a:srgbClr val="D1E5F0"/>
                  </a:solidFill>
                  <a:latin typeface="Arial"/>
                  <a:ea typeface="Arial"/>
                  <a:cs typeface="Arial"/>
                  <a:sym typeface="Arial"/>
                </a:rPr>
                <a:t>Test the complete path.</a:t>
              </a:r>
              <a:endParaRPr b="1" sz="1200">
                <a:solidFill>
                  <a:srgbClr val="D1E5F0"/>
                </a:solidFill>
                <a:latin typeface="Arial"/>
                <a:ea typeface="Arial"/>
                <a:cs typeface="Arial"/>
                <a:sym typeface="Arial"/>
              </a:endParaRPr>
            </a:p>
          </p:txBody>
        </p:sp>
      </p:grpSp>
      <p:sp>
        <p:nvSpPr>
          <p:cNvPr id="357" name="Google Shape;357;p9"/>
          <p:cNvSpPr/>
          <p:nvPr/>
        </p:nvSpPr>
        <p:spPr>
          <a:xfrm>
            <a:off x="685800" y="6286500"/>
            <a:ext cx="10820400" cy="9600"/>
          </a:xfrm>
          <a:prstGeom prst="rect">
            <a:avLst/>
          </a:prstGeom>
          <a:solidFill>
            <a:srgbClr val="29485D"/>
          </a:solidFill>
          <a:ln cap="flat" cmpd="sng" w="9525">
            <a:solidFill>
              <a:srgbClr val="29485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358" name="Google Shape;358;p9"/>
          <p:cNvSpPr/>
          <p:nvPr/>
        </p:nvSpPr>
        <p:spPr>
          <a:xfrm>
            <a:off x="685800" y="6400800"/>
            <a:ext cx="9525000" cy="171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US" sz="1000">
                <a:solidFill>
                  <a:srgbClr val="A9C1D2"/>
                </a:solidFill>
                <a:latin typeface="Arial"/>
                <a:ea typeface="Arial"/>
                <a:cs typeface="Arial"/>
                <a:sym typeface="Arial"/>
              </a:rPr>
              <a:t>Reference implementation: github.com/infinitydon/cloud-native-vbng-edge-lab</a:t>
            </a:r>
            <a:endParaRPr b="0" i="0" sz="1250">
              <a:solidFill>
                <a:srgbClr val="A9C1D2"/>
              </a:solidFill>
              <a:latin typeface="Arial"/>
              <a:ea typeface="Arial"/>
              <a:cs typeface="Arial"/>
              <a:sym typeface="Arial"/>
            </a:endParaRPr>
          </a:p>
        </p:txBody>
      </p:sp>
      <p:sp>
        <p:nvSpPr>
          <p:cNvPr id="359" name="Google Shape;359;p9"/>
          <p:cNvSpPr/>
          <p:nvPr/>
        </p:nvSpPr>
        <p:spPr>
          <a:xfrm>
            <a:off x="10953750" y="6400800"/>
            <a:ext cx="552600" cy="190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r">
              <a:spcBef>
                <a:spcPts val="0"/>
              </a:spcBef>
              <a:spcAft>
                <a:spcPts val="0"/>
              </a:spcAft>
              <a:buNone/>
            </a:pPr>
            <a:r>
              <a:rPr b="1" i="0" lang="en-US" sz="825">
                <a:solidFill>
                  <a:srgbClr val="23D5D2"/>
                </a:solidFill>
                <a:latin typeface="Arial"/>
                <a:ea typeface="Arial"/>
                <a:cs typeface="Arial"/>
                <a:sym typeface="Arial"/>
              </a:rPr>
              <a:t>08</a:t>
            </a:r>
            <a:endParaRPr b="1" i="0" sz="825">
              <a:solidFill>
                <a:srgbClr val="23D5D2"/>
              </a:solidFill>
              <a:latin typeface="Arial"/>
              <a:ea typeface="Arial"/>
              <a:cs typeface="Arial"/>
              <a:sym typeface="Arial"/>
            </a:endParaRPr>
          </a:p>
        </p:txBody>
      </p:sp>
      <p:sp>
        <p:nvSpPr>
          <p:cNvPr id="9007" name="Google Shape;138;p4"/>
          <p:cNvSpPr/>
          <p:nvPr/>
        </p:nvSpPr>
        <p:spPr>
          <a:xfrm>
            <a:off x="685800" y="457200"/>
            <a:ext cx="47625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975">
                <a:solidFill>
                  <a:srgbClr val="23D5D2"/>
                </a:solidFill>
              </a:rPr>
              <a:t>06 • PRODUCTION BLUEPRINT</a:t>
            </a:r>
            <a:endParaRPr/>
          </a:p>
        </p:txBody>
      </p:sp>
      <p:sp>
        <p:nvSpPr>
          <p:cNvPr id="9008" name="Google Shape;139;p4"/>
          <p:cNvSpPr/>
          <p:nvPr/>
        </p:nvSpPr>
        <p:spPr>
          <a:xfrm>
            <a:off x="685800" y="819150"/>
            <a:ext cx="10820400"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50">
                <a:solidFill>
                  <a:srgbClr val="F7FBFF"/>
                </a:solidFill>
              </a:rPr>
              <a:t>A repeatable broadband edge, delivered as Helm charts</a:t>
            </a:r>
            <a:endParaRPr/>
          </a:p>
        </p:txBody>
      </p:sp>
      <p:sp>
        <p:nvSpPr>
          <p:cNvPr id="9009" name="Google Shape;140;p4"/>
          <p:cNvSpPr/>
          <p:nvPr/>
        </p:nvSpPr>
        <p:spPr>
          <a:xfrm>
            <a:off x="685800" y="1457325"/>
            <a:ext cx="10287000" cy="2926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350">
                <a:solidFill>
                  <a:srgbClr val="A9C1D2"/>
                </a:solidFill>
              </a:rPr>
              <a:t>Five decisions that take the lab design to a production edge site.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22" name="Shape 422"/>
        <p:cNvGrpSpPr/>
        <p:nvPr/>
      </p:nvGrpSpPr>
      <p:grpSpPr>
        <a:xfrm>
          <a:off x="0" y="0"/>
          <a:ext cx="0" cy="0"/>
          <a:chOff x="0" y="0"/>
          <a:chExt cx="0" cy="0"/>
        </a:xfrm>
      </p:grpSpPr>
      <p:sp>
        <p:nvSpPr>
          <p:cNvPr id="423" name="Google Shape;423;h6c8bf89e75bf61cc_0_1145"/>
          <p:cNvSpPr txBox="1"/>
          <p:nvPr/>
        </p:nvSpPr>
        <p:spPr>
          <a:xfrm>
            <a:off x="685800" y="762000"/>
            <a:ext cx="108204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23D5D2"/>
                </a:solidFill>
                <a:latin typeface="Arial"/>
                <a:ea typeface="Arial"/>
                <a:cs typeface="Arial"/>
                <a:sym typeface="Arial"/>
              </a:rPr>
              <a:t>QUESTIONS &amp; DISCUSSION</a:t>
            </a:r>
            <a:endParaRPr b="1" sz="1000">
              <a:solidFill>
                <a:srgbClr val="23D5D2"/>
              </a:solidFill>
              <a:latin typeface="Arial"/>
              <a:ea typeface="Arial"/>
              <a:cs typeface="Arial"/>
              <a:sym typeface="Arial"/>
            </a:endParaRPr>
          </a:p>
        </p:txBody>
      </p:sp>
      <p:sp>
        <p:nvSpPr>
          <p:cNvPr id="424" name="Google Shape;424;h6c8bf89e75bf61cc_0_1145"/>
          <p:cNvSpPr txBox="1"/>
          <p:nvPr/>
        </p:nvSpPr>
        <p:spPr>
          <a:xfrm>
            <a:off x="685800" y="1143000"/>
            <a:ext cx="108204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4000">
                <a:solidFill>
                  <a:srgbClr val="F7FBFF"/>
                </a:solidFill>
                <a:latin typeface="Arial"/>
                <a:ea typeface="Arial"/>
                <a:cs typeface="Arial"/>
                <a:sym typeface="Arial"/>
              </a:rPr>
              <a:t>Thank You</a:t>
            </a:r>
            <a:endParaRPr b="1" sz="4000">
              <a:solidFill>
                <a:srgbClr val="F7FBFF"/>
              </a:solidFill>
              <a:latin typeface="Arial"/>
              <a:ea typeface="Arial"/>
              <a:cs typeface="Arial"/>
              <a:sym typeface="Arial"/>
            </a:endParaRPr>
          </a:p>
        </p:txBody>
      </p:sp>
      <p:sp>
        <p:nvSpPr>
          <p:cNvPr id="425" name="Google Shape;425;h6c8bf89e75bf61cc_0_1145"/>
          <p:cNvSpPr txBox="1"/>
          <p:nvPr/>
        </p:nvSpPr>
        <p:spPr>
          <a:xfrm>
            <a:off x="685800" y="2000250"/>
            <a:ext cx="108204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600">
                <a:solidFill>
                  <a:srgbClr val="A9C1D2"/>
                </a:solidFill>
                <a:latin typeface="Arial"/>
                <a:ea typeface="Arial"/>
                <a:cs typeface="Arial"/>
                <a:sym typeface="Arial"/>
              </a:rPr>
              <a:t>Cloud-Native vBNG &amp; Broadband Edge Architecture</a:t>
            </a:r>
            <a:endParaRPr b="0" sz="1600">
              <a:solidFill>
                <a:srgbClr val="A9C1D2"/>
              </a:solidFill>
              <a:latin typeface="Arial"/>
              <a:ea typeface="Arial"/>
              <a:cs typeface="Arial"/>
              <a:sym typeface="Arial"/>
            </a:endParaRPr>
          </a:p>
        </p:txBody>
      </p:sp>
      <p:grpSp>
        <p:nvGrpSpPr>
          <p:cNvPr id="426" name="Google Shape;426;h6c8bf89e75bf61cc_0_1145"/>
          <p:cNvGrpSpPr/>
          <p:nvPr/>
        </p:nvGrpSpPr>
        <p:grpSpPr>
          <a:xfrm>
            <a:off x="685800" y="2476500"/>
            <a:ext cx="10820400" cy="1385590"/>
            <a:chOff x="0" y="0"/>
            <a:chExt cx="10820400" cy="914400"/>
          </a:xfrm>
        </p:grpSpPr>
        <p:sp>
          <p:nvSpPr>
            <p:cNvPr id="427" name="Google Shape;427;h6c8bf89e75bf61cc_0_1145"/>
            <p:cNvSpPr/>
            <p:nvPr/>
          </p:nvSpPr>
          <p:spPr>
            <a:xfrm>
              <a:off x="0" y="0"/>
              <a:ext cx="10820400" cy="914400"/>
            </a:xfrm>
            <a:prstGeom prst="roundRect">
              <a:avLst>
                <a:gd fmla="val 16665" name="adj"/>
              </a:avLst>
            </a:prstGeom>
            <a:solidFill>
              <a:srgbClr val="0E2B42"/>
            </a:solidFill>
            <a:ln cap="flat" cmpd="sng" w="9525">
              <a:solidFill>
                <a:srgbClr val="1E3D5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428" name="Google Shape;428;h6c8bf89e75bf61cc_0_1145"/>
            <p:cNvSpPr/>
            <p:nvPr/>
          </p:nvSpPr>
          <p:spPr>
            <a:xfrm>
              <a:off x="0" y="0"/>
              <a:ext cx="57300" cy="914400"/>
            </a:xfrm>
            <a:prstGeom prst="roundRect">
              <a:avLst>
                <a:gd fmla="val 49999" name="adj"/>
              </a:avLst>
            </a:prstGeom>
            <a:solidFill>
              <a:srgbClr val="23D5D2"/>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grpSp>
          <p:nvGrpSpPr>
            <p:cNvPr id="429" name="Google Shape;429;h6c8bf89e75bf61cc_0_1145"/>
            <p:cNvGrpSpPr/>
            <p:nvPr/>
          </p:nvGrpSpPr>
          <p:grpSpPr>
            <a:xfrm>
              <a:off x="381000" y="342900"/>
              <a:ext cx="8001000" cy="228600"/>
              <a:chOff x="0" y="0"/>
              <a:chExt cx="8001000" cy="228600"/>
            </a:xfrm>
          </p:grpSpPr>
          <p:sp>
            <p:nvSpPr>
              <p:cNvPr id="430" name="Google Shape;430;h6c8bf89e75bf61cc_0_1145"/>
              <p:cNvSpPr txBox="1"/>
              <p:nvPr/>
            </p:nvSpPr>
            <p:spPr>
              <a:xfrm>
                <a:off x="0" y="0"/>
                <a:ext cx="19050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FF9D42"/>
                    </a:solidFill>
                    <a:latin typeface="Arial"/>
                    <a:ea typeface="Arial"/>
                    <a:cs typeface="Arial"/>
                    <a:sym typeface="Arial"/>
                  </a:rPr>
                  <a:t>GitHub Repository</a:t>
                </a:r>
                <a:endParaRPr b="1" sz="1200">
                  <a:solidFill>
                    <a:srgbClr val="FF9D42"/>
                  </a:solidFill>
                  <a:latin typeface="Arial"/>
                  <a:ea typeface="Arial"/>
                  <a:cs typeface="Arial"/>
                  <a:sym typeface="Arial"/>
                </a:endParaRPr>
              </a:p>
            </p:txBody>
          </p:sp>
          <p:sp>
            <p:nvSpPr>
              <p:cNvPr id="431" name="Google Shape;431;h6c8bf89e75bf61cc_0_1145"/>
              <p:cNvSpPr txBox="1"/>
              <p:nvPr/>
            </p:nvSpPr>
            <p:spPr>
              <a:xfrm>
                <a:off x="2095500" y="0"/>
                <a:ext cx="59055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lang="en-US" sz="1450">
                    <a:solidFill>
                      <a:srgbClr val="A9C1D2"/>
                    </a:solidFill>
                  </a:rPr>
                  <a:t>https://github.com/infinitydon/cloud-native-vbng-edge-lab</a:t>
                </a:r>
                <a:endParaRPr b="0" i="0" sz="1450" u="none" strike="noStrike">
                  <a:solidFill>
                    <a:srgbClr val="A9C1D2"/>
                  </a:solidFill>
                  <a:latin typeface="Arial"/>
                  <a:ea typeface="Arial"/>
                  <a:cs typeface="Arial"/>
                  <a:sym typeface="Arial"/>
                </a:endParaRPr>
              </a:p>
            </p:txBody>
          </p:sp>
        </p:grpSp>
      </p:grpSp>
      <p:grpSp>
        <p:nvGrpSpPr>
          <p:cNvPr id="432" name="Google Shape;432;h6c8bf89e75bf61cc_0_1145"/>
          <p:cNvGrpSpPr/>
          <p:nvPr/>
        </p:nvGrpSpPr>
        <p:grpSpPr>
          <a:xfrm>
            <a:off x="685800" y="4095750"/>
            <a:ext cx="10820400" cy="685800"/>
            <a:chOff x="0" y="-647700"/>
            <a:chExt cx="10820400" cy="685800"/>
          </a:xfrm>
        </p:grpSpPr>
        <p:sp>
          <p:nvSpPr>
            <p:cNvPr id="433" name="Google Shape;433;h6c8bf89e75bf61cc_0_1145"/>
            <p:cNvSpPr/>
            <p:nvPr/>
          </p:nvSpPr>
          <p:spPr>
            <a:xfrm>
              <a:off x="0" y="-647700"/>
              <a:ext cx="10820400" cy="685800"/>
            </a:xfrm>
            <a:prstGeom prst="roundRect">
              <a:avLst>
                <a:gd fmla="val 16665" name="adj"/>
              </a:avLst>
            </a:prstGeom>
            <a:solidFill>
              <a:srgbClr val="0B2030"/>
            </a:solidFill>
            <a:ln cap="flat" cmpd="sng" w="9525">
              <a:solidFill>
                <a:srgbClr val="1E3D5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434" name="Google Shape;434;h6c8bf89e75bf61cc_0_1145"/>
            <p:cNvSpPr/>
            <p:nvPr/>
          </p:nvSpPr>
          <p:spPr>
            <a:xfrm>
              <a:off x="190500" y="-438150"/>
              <a:ext cx="1047900" cy="266700"/>
            </a:xfrm>
            <a:prstGeom prst="roundRect">
              <a:avLst>
                <a:gd fmla="val 50000" name="adj"/>
              </a:avLst>
            </a:prstGeom>
            <a:solidFill>
              <a:srgbClr val="FF9D42"/>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435" name="Google Shape;435;h6c8bf89e75bf61cc_0_1145"/>
            <p:cNvSpPr txBox="1"/>
            <p:nvPr/>
          </p:nvSpPr>
          <p:spPr>
            <a:xfrm>
              <a:off x="190500" y="-438150"/>
              <a:ext cx="1047900" cy="266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US" sz="950" u="none" strike="noStrike">
                  <a:solidFill>
                    <a:srgbClr val="071A2B"/>
                  </a:solidFill>
                  <a:latin typeface="Arial"/>
                  <a:ea typeface="Arial"/>
                  <a:cs typeface="Arial"/>
                  <a:sym typeface="Arial"/>
                </a:rPr>
                <a:t>SUMMARY</a:t>
              </a:r>
              <a:endParaRPr b="1" i="0" sz="950" u="none" strike="noStrike">
                <a:solidFill>
                  <a:srgbClr val="071A2B"/>
                </a:solidFill>
                <a:latin typeface="Arial"/>
                <a:ea typeface="Arial"/>
                <a:cs typeface="Arial"/>
                <a:sym typeface="Arial"/>
              </a:endParaRPr>
            </a:p>
          </p:txBody>
        </p:sp>
        <p:sp>
          <p:nvSpPr>
            <p:cNvPr id="436" name="Google Shape;436;h6c8bf89e75bf61cc_0_1145"/>
            <p:cNvSpPr txBox="1"/>
            <p:nvPr/>
          </p:nvSpPr>
          <p:spPr>
            <a:xfrm>
              <a:off x="1428750" y="-419100"/>
              <a:ext cx="90489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1200" u="none" strike="noStrike">
                  <a:solidFill>
                    <a:srgbClr val="A9C1D2"/>
                  </a:solidFill>
                  <a:latin typeface="Arial"/>
                  <a:ea typeface="Arial"/>
                  <a:cs typeface="Arial"/>
                  <a:sym typeface="Arial"/>
                </a:rPr>
                <a:t>Repeatable broadband edge • Dedicated data-plane NICs • Disaggregated operations</a:t>
              </a:r>
              <a:endParaRPr b="1" i="0" sz="1200" u="none" strike="noStrike">
                <a:solidFill>
                  <a:srgbClr val="A9C1D2"/>
                </a:solidFill>
                <a:latin typeface="Arial"/>
                <a:ea typeface="Arial"/>
                <a:cs typeface="Arial"/>
                <a:sym typeface="Arial"/>
              </a:endParaRPr>
            </a:p>
          </p:txBody>
        </p:sp>
      </p:grpSp>
      <p:sp>
        <p:nvSpPr>
          <p:cNvPr id="437" name="Google Shape;437;h6c8bf89e75bf61cc_0_1145"/>
          <p:cNvSpPr/>
          <p:nvPr/>
        </p:nvSpPr>
        <p:spPr>
          <a:xfrm>
            <a:off x="685800" y="6286500"/>
            <a:ext cx="10820400" cy="9600"/>
          </a:xfrm>
          <a:prstGeom prst="rect">
            <a:avLst/>
          </a:prstGeom>
          <a:solidFill>
            <a:srgbClr val="29485D"/>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438" name="Google Shape;438;h6c8bf89e75bf61cc_0_1145"/>
          <p:cNvSpPr txBox="1"/>
          <p:nvPr/>
        </p:nvSpPr>
        <p:spPr>
          <a:xfrm>
            <a:off x="685800" y="6400800"/>
            <a:ext cx="9525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850">
                <a:solidFill>
                  <a:srgbClr val="A9C1D2"/>
                </a:solidFill>
                <a:latin typeface="Arial"/>
                <a:ea typeface="Arial"/>
                <a:cs typeface="Arial"/>
                <a:sym typeface="Arial"/>
              </a:rPr>
              <a:t>Demonstrated with OSVBNG, VPP/DPDK, FRR, Multus CNI, and the SR-IOV device plugin.</a:t>
            </a:r>
            <a:endParaRPr b="0" sz="850">
              <a:solidFill>
                <a:srgbClr val="A9C1D2"/>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71A2B"/>
        </a:solidFill>
      </p:bgPr>
    </p:bg>
    <p:spTree>
      <p:nvGrpSpPr>
        <p:cNvPr id="286" name="Shape 286"/>
        <p:cNvGrpSpPr/>
        <p:nvPr/>
      </p:nvGrpSpPr>
      <p:grpSpPr>
        <a:xfrm>
          <a:off x="0" y="0"/>
          <a:ext cx="0" cy="0"/>
          <a:chOff x="0" y="0"/>
          <a:chExt cx="0" cy="0"/>
        </a:xfrm>
      </p:grpSpPr>
      <p:sp>
        <p:nvSpPr>
          <p:cNvPr id="287" name="Google Shape;287;p8"/>
          <p:cNvSpPr/>
          <p:nvPr/>
        </p:nvSpPr>
        <p:spPr>
          <a:xfrm>
            <a:off x="685800" y="457200"/>
            <a:ext cx="47625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975">
                <a:solidFill>
                  <a:srgbClr val="23D5D2"/>
                </a:solidFill>
              </a:rPr>
              <a:t>BACKUP • WHY THIS IS PRACTICAL NOW</a:t>
            </a:r>
            <a:endParaRPr/>
          </a:p>
        </p:txBody>
      </p:sp>
      <p:sp>
        <p:nvSpPr>
          <p:cNvPr id="288" name="Google Shape;288;p8"/>
          <p:cNvSpPr/>
          <p:nvPr/>
        </p:nvSpPr>
        <p:spPr>
          <a:xfrm>
            <a:off x="685800" y="819150"/>
            <a:ext cx="10820400"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50">
                <a:solidFill>
                  <a:srgbClr val="F7FBFF"/>
                </a:solidFill>
              </a:rPr>
              <a:t>The NIC is becoming part of the edge compute platform</a:t>
            </a:r>
            <a:endParaRPr/>
          </a:p>
        </p:txBody>
      </p:sp>
      <p:sp>
        <p:nvSpPr>
          <p:cNvPr id="289" name="Google Shape;289;p8"/>
          <p:cNvSpPr/>
          <p:nvPr/>
        </p:nvSpPr>
        <p:spPr>
          <a:xfrm>
            <a:off x="685800" y="1457325"/>
            <a:ext cx="102870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350">
                <a:solidFill>
                  <a:srgbClr val="A9C1D2"/>
                </a:solidFill>
              </a:rPr>
              <a:t>DPDK, SR-IOV, SmartNICs, and DPUs shift packet work away from general-purpose CPU cores.</a:t>
            </a:r>
            <a:endParaRPr/>
          </a:p>
        </p:txBody>
      </p:sp>
      <p:sp>
        <p:nvSpPr>
          <p:cNvPr id="290" name="Google Shape;290;p8"/>
          <p:cNvSpPr/>
          <p:nvPr/>
        </p:nvSpPr>
        <p:spPr>
          <a:xfrm>
            <a:off x="685800" y="2190750"/>
            <a:ext cx="4333875" cy="3000375"/>
          </a:xfrm>
          <a:prstGeom prst="roundRect">
            <a:avLst>
              <a:gd fmla="val 5079" name="adj"/>
            </a:avLst>
          </a:prstGeom>
          <a:solidFill>
            <a:srgbClr val="0E2B42"/>
          </a:solidFill>
          <a:ln cap="flat" cmpd="sng" w="9525">
            <a:solidFill>
              <a:srgbClr val="3153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91" name="Google Shape;291;p8"/>
          <p:cNvSpPr/>
          <p:nvPr/>
        </p:nvSpPr>
        <p:spPr>
          <a:xfrm>
            <a:off x="933450" y="2438400"/>
            <a:ext cx="3619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7FBFF"/>
                </a:solidFill>
              </a:rPr>
              <a:t>Traditional edge</a:t>
            </a:r>
            <a:endParaRPr/>
          </a:p>
        </p:txBody>
      </p:sp>
      <p:sp>
        <p:nvSpPr>
          <p:cNvPr id="292" name="Google Shape;292;p8"/>
          <p:cNvSpPr/>
          <p:nvPr/>
        </p:nvSpPr>
        <p:spPr>
          <a:xfrm>
            <a:off x="1047750" y="3000375"/>
            <a:ext cx="3333750" cy="419100"/>
          </a:xfrm>
          <a:prstGeom prst="roundRect">
            <a:avLst>
              <a:gd fmla="val 18182" name="adj"/>
            </a:avLst>
          </a:prstGeom>
          <a:solidFill>
            <a:srgbClr val="173B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93" name="Google Shape;293;p8"/>
          <p:cNvSpPr/>
          <p:nvPr/>
        </p:nvSpPr>
        <p:spPr>
          <a:xfrm>
            <a:off x="1285875" y="3105150"/>
            <a:ext cx="2857500" cy="2095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275">
                <a:solidFill>
                  <a:srgbClr val="A9C1D2"/>
                </a:solidFill>
              </a:rPr>
              <a:t>BNG appliance</a:t>
            </a:r>
            <a:endParaRPr/>
          </a:p>
        </p:txBody>
      </p:sp>
      <p:sp>
        <p:nvSpPr>
          <p:cNvPr id="294" name="Google Shape;294;p8"/>
          <p:cNvSpPr/>
          <p:nvPr/>
        </p:nvSpPr>
        <p:spPr>
          <a:xfrm>
            <a:off x="1047750" y="3590925"/>
            <a:ext cx="3333750" cy="419100"/>
          </a:xfrm>
          <a:prstGeom prst="roundRect">
            <a:avLst>
              <a:gd fmla="val 18182" name="adj"/>
            </a:avLst>
          </a:prstGeom>
          <a:solidFill>
            <a:srgbClr val="173B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95" name="Google Shape;295;p8"/>
          <p:cNvSpPr/>
          <p:nvPr/>
        </p:nvSpPr>
        <p:spPr>
          <a:xfrm>
            <a:off x="1285875" y="3695700"/>
            <a:ext cx="2857500" cy="2095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275">
                <a:solidFill>
                  <a:srgbClr val="A9C1D2"/>
                </a:solidFill>
              </a:rPr>
              <a:t>Router appliance</a:t>
            </a:r>
            <a:endParaRPr/>
          </a:p>
        </p:txBody>
      </p:sp>
      <p:sp>
        <p:nvSpPr>
          <p:cNvPr id="296" name="Google Shape;296;p8"/>
          <p:cNvSpPr/>
          <p:nvPr/>
        </p:nvSpPr>
        <p:spPr>
          <a:xfrm>
            <a:off x="1047750" y="4181475"/>
            <a:ext cx="3333750" cy="419100"/>
          </a:xfrm>
          <a:prstGeom prst="roundRect">
            <a:avLst>
              <a:gd fmla="val 18182" name="adj"/>
            </a:avLst>
          </a:prstGeom>
          <a:solidFill>
            <a:srgbClr val="173B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97" name="Google Shape;297;p8"/>
          <p:cNvSpPr/>
          <p:nvPr/>
        </p:nvSpPr>
        <p:spPr>
          <a:xfrm>
            <a:off x="1285875" y="4286250"/>
            <a:ext cx="2857500" cy="2095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275">
                <a:solidFill>
                  <a:srgbClr val="A9C1D2"/>
                </a:solidFill>
              </a:rPr>
              <a:t>Security appliance</a:t>
            </a:r>
            <a:endParaRPr/>
          </a:p>
        </p:txBody>
      </p:sp>
      <p:sp>
        <p:nvSpPr>
          <p:cNvPr id="298" name="Google Shape;298;p8"/>
          <p:cNvSpPr/>
          <p:nvPr/>
        </p:nvSpPr>
        <p:spPr>
          <a:xfrm>
            <a:off x="5667375" y="2190750"/>
            <a:ext cx="5838825" cy="3000375"/>
          </a:xfrm>
          <a:prstGeom prst="roundRect">
            <a:avLst>
              <a:gd fmla="val 5079" name="adj"/>
            </a:avLst>
          </a:prstGeom>
          <a:solidFill>
            <a:srgbClr val="103445"/>
          </a:solidFill>
          <a:ln cap="flat" cmpd="sng" w="9525">
            <a:solidFill>
              <a:srgbClr val="23D5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99" name="Google Shape;299;p8"/>
          <p:cNvSpPr/>
          <p:nvPr/>
        </p:nvSpPr>
        <p:spPr>
          <a:xfrm>
            <a:off x="5953125" y="2438400"/>
            <a:ext cx="49530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23D5D2"/>
                </a:solidFill>
              </a:rPr>
              <a:t>Consolidated Kubernetes edge</a:t>
            </a:r>
            <a:endParaRPr/>
          </a:p>
        </p:txBody>
      </p:sp>
      <p:sp>
        <p:nvSpPr>
          <p:cNvPr id="300" name="Google Shape;300;p8"/>
          <p:cNvSpPr/>
          <p:nvPr/>
        </p:nvSpPr>
        <p:spPr>
          <a:xfrm>
            <a:off x="5953125" y="3048000"/>
            <a:ext cx="1524000" cy="952500"/>
          </a:xfrm>
          <a:prstGeom prst="roundRect">
            <a:avLst>
              <a:gd fmla="val 12000" name="adj"/>
            </a:avLst>
          </a:prstGeom>
          <a:solidFill>
            <a:srgbClr val="0E2B42"/>
          </a:solidFill>
          <a:ln cap="flat" cmpd="sng" w="9525">
            <a:solidFill>
              <a:srgbClr val="3153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301" name="Google Shape;301;p8"/>
          <p:cNvSpPr/>
          <p:nvPr/>
        </p:nvSpPr>
        <p:spPr>
          <a:xfrm>
            <a:off x="5953125" y="3048000"/>
            <a:ext cx="57150" cy="952500"/>
          </a:xfrm>
          <a:prstGeom prst="rect">
            <a:avLst/>
          </a:prstGeom>
          <a:solidFill>
            <a:srgbClr val="FF9D42"/>
          </a:solidFill>
          <a:ln cap="flat" cmpd="sng" w="9525">
            <a:solidFill>
              <a:srgbClr val="FF9D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302" name="Google Shape;302;p8"/>
          <p:cNvSpPr/>
          <p:nvPr/>
        </p:nvSpPr>
        <p:spPr>
          <a:xfrm>
            <a:off x="6143625" y="3181350"/>
            <a:ext cx="1219200" cy="495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75">
                <a:solidFill>
                  <a:srgbClr val="F7FBFF"/>
                </a:solidFill>
              </a:rPr>
              <a:t>vBNG</a:t>
            </a:r>
            <a:endParaRPr/>
          </a:p>
        </p:txBody>
      </p:sp>
      <p:sp>
        <p:nvSpPr>
          <p:cNvPr id="303" name="Google Shape;303;p8"/>
          <p:cNvSpPr/>
          <p:nvPr/>
        </p:nvSpPr>
        <p:spPr>
          <a:xfrm>
            <a:off x="6143625" y="3733800"/>
            <a:ext cx="1219200" cy="171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975">
                <a:solidFill>
                  <a:srgbClr val="A9C1D2"/>
                </a:solidFill>
              </a:rPr>
              <a:t>DPDK / VPP</a:t>
            </a:r>
            <a:endParaRPr/>
          </a:p>
        </p:txBody>
      </p:sp>
      <p:sp>
        <p:nvSpPr>
          <p:cNvPr id="304" name="Google Shape;304;p8"/>
          <p:cNvSpPr/>
          <p:nvPr/>
        </p:nvSpPr>
        <p:spPr>
          <a:xfrm>
            <a:off x="7810500" y="3048000"/>
            <a:ext cx="1524000" cy="952500"/>
          </a:xfrm>
          <a:prstGeom prst="roundRect">
            <a:avLst>
              <a:gd fmla="val 12000" name="adj"/>
            </a:avLst>
          </a:prstGeom>
          <a:solidFill>
            <a:srgbClr val="0E2B42"/>
          </a:solidFill>
          <a:ln cap="flat" cmpd="sng" w="9525">
            <a:solidFill>
              <a:srgbClr val="3153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305" name="Google Shape;305;p8"/>
          <p:cNvSpPr/>
          <p:nvPr/>
        </p:nvSpPr>
        <p:spPr>
          <a:xfrm>
            <a:off x="7810500" y="3048000"/>
            <a:ext cx="57150" cy="952500"/>
          </a:xfrm>
          <a:prstGeom prst="rect">
            <a:avLst/>
          </a:prstGeom>
          <a:solidFill>
            <a:srgbClr val="43D17D"/>
          </a:solidFill>
          <a:ln cap="flat" cmpd="sng" w="9525">
            <a:solidFill>
              <a:srgbClr val="43D1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306" name="Google Shape;306;p8"/>
          <p:cNvSpPr/>
          <p:nvPr/>
        </p:nvSpPr>
        <p:spPr>
          <a:xfrm>
            <a:off x="8001000" y="3181350"/>
            <a:ext cx="1219200" cy="495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75">
                <a:solidFill>
                  <a:srgbClr val="F7FBFF"/>
                </a:solidFill>
              </a:rPr>
              <a:t>FRR</a:t>
            </a:r>
            <a:endParaRPr/>
          </a:p>
        </p:txBody>
      </p:sp>
      <p:sp>
        <p:nvSpPr>
          <p:cNvPr id="307" name="Google Shape;307;p8"/>
          <p:cNvSpPr/>
          <p:nvPr/>
        </p:nvSpPr>
        <p:spPr>
          <a:xfrm>
            <a:off x="8001000" y="3733800"/>
            <a:ext cx="1219200" cy="171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975">
                <a:solidFill>
                  <a:srgbClr val="A9C1D2"/>
                </a:solidFill>
              </a:rPr>
              <a:t>BGP routing</a:t>
            </a:r>
            <a:endParaRPr/>
          </a:p>
        </p:txBody>
      </p:sp>
      <p:sp>
        <p:nvSpPr>
          <p:cNvPr id="308" name="Google Shape;308;p8"/>
          <p:cNvSpPr/>
          <p:nvPr/>
        </p:nvSpPr>
        <p:spPr>
          <a:xfrm>
            <a:off x="9667875" y="3048000"/>
            <a:ext cx="1571625" cy="952500"/>
          </a:xfrm>
          <a:prstGeom prst="roundRect">
            <a:avLst>
              <a:gd fmla="val 12000" name="adj"/>
            </a:avLst>
          </a:prstGeom>
          <a:solidFill>
            <a:srgbClr val="0E2B42"/>
          </a:solidFill>
          <a:ln cap="flat" cmpd="sng" w="9525">
            <a:solidFill>
              <a:srgbClr val="3153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309" name="Google Shape;309;p8"/>
          <p:cNvSpPr/>
          <p:nvPr/>
        </p:nvSpPr>
        <p:spPr>
          <a:xfrm>
            <a:off x="9667875" y="3048000"/>
            <a:ext cx="57150" cy="952500"/>
          </a:xfrm>
          <a:prstGeom prst="rect">
            <a:avLst/>
          </a:prstGeom>
          <a:solidFill>
            <a:srgbClr val="23D5D2"/>
          </a:solidFill>
          <a:ln cap="flat" cmpd="sng" w="9525">
            <a:solidFill>
              <a:srgbClr val="23D5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310" name="Google Shape;310;p8"/>
          <p:cNvSpPr/>
          <p:nvPr/>
        </p:nvSpPr>
        <p:spPr>
          <a:xfrm>
            <a:off x="9858375" y="3181350"/>
            <a:ext cx="1266825" cy="495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75">
                <a:solidFill>
                  <a:srgbClr val="F7FBFF"/>
                </a:solidFill>
              </a:rPr>
              <a:t>Services</a:t>
            </a:r>
            <a:endParaRPr/>
          </a:p>
        </p:txBody>
      </p:sp>
      <p:sp>
        <p:nvSpPr>
          <p:cNvPr id="311" name="Google Shape;311;p8"/>
          <p:cNvSpPr/>
          <p:nvPr/>
        </p:nvSpPr>
        <p:spPr>
          <a:xfrm>
            <a:off x="9858375" y="3733800"/>
            <a:ext cx="1266825" cy="171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975">
                <a:solidFill>
                  <a:srgbClr val="A9C1D2"/>
                </a:solidFill>
              </a:rPr>
              <a:t>AAA / observability</a:t>
            </a:r>
            <a:endParaRPr/>
          </a:p>
        </p:txBody>
      </p:sp>
      <p:sp>
        <p:nvSpPr>
          <p:cNvPr id="312" name="Google Shape;312;p8"/>
          <p:cNvSpPr/>
          <p:nvPr/>
        </p:nvSpPr>
        <p:spPr>
          <a:xfrm>
            <a:off x="5953125" y="4476750"/>
            <a:ext cx="5286375" cy="2857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275">
                <a:solidFill>
                  <a:srgbClr val="F7FBFF"/>
                </a:solidFill>
              </a:rPr>
              <a:t>Shared lifecycle • dedicated resources per function • fewer edge boxes</a:t>
            </a:r>
            <a:endParaRPr/>
          </a:p>
        </p:txBody>
      </p:sp>
      <p:sp>
        <p:nvSpPr>
          <p:cNvPr id="313" name="Google Shape;313;p8"/>
          <p:cNvSpPr/>
          <p:nvPr/>
        </p:nvSpPr>
        <p:spPr>
          <a:xfrm>
            <a:off x="10058400" y="2369338"/>
            <a:ext cx="1181100" cy="324000"/>
          </a:xfrm>
          <a:prstGeom prst="roundRect">
            <a:avLst>
              <a:gd fmla="val 50000" name="adj"/>
            </a:avLst>
          </a:prstGeom>
          <a:solidFill>
            <a:srgbClr val="FF9D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314" name="Google Shape;314;p8"/>
          <p:cNvSpPr/>
          <p:nvPr/>
        </p:nvSpPr>
        <p:spPr>
          <a:xfrm>
            <a:off x="10120313" y="2364575"/>
            <a:ext cx="952500" cy="1905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975">
                <a:solidFill>
                  <a:srgbClr val="071A2B"/>
                </a:solidFill>
              </a:rPr>
              <a:t>NIC OFFLOAD</a:t>
            </a:r>
            <a:endParaRPr/>
          </a:p>
        </p:txBody>
      </p:sp>
      <p:sp>
        <p:nvSpPr>
          <p:cNvPr id="315" name="Google Shape;315;p8"/>
          <p:cNvSpPr/>
          <p:nvPr/>
        </p:nvSpPr>
        <p:spPr>
          <a:xfrm>
            <a:off x="952500" y="5581650"/>
            <a:ext cx="10191750" cy="4286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350">
                <a:solidFill>
                  <a:srgbClr val="A9C1D2"/>
                </a:solidFill>
              </a:rPr>
              <a:t>Design caveat: consolidation reduces boxes, not failure domains. Keep resource isolation and simple HA where service continuity matters.</a:t>
            </a:r>
            <a:endParaRPr/>
          </a:p>
        </p:txBody>
      </p:sp>
      <p:sp>
        <p:nvSpPr>
          <p:cNvPr id="316" name="Google Shape;316;p8"/>
          <p:cNvSpPr/>
          <p:nvPr/>
        </p:nvSpPr>
        <p:spPr>
          <a:xfrm>
            <a:off x="685800" y="6410325"/>
            <a:ext cx="10820400" cy="9525"/>
          </a:xfrm>
          <a:prstGeom prst="rect">
            <a:avLst/>
          </a:prstGeom>
          <a:solidFill>
            <a:srgbClr val="29485D"/>
          </a:solidFill>
          <a:ln cap="flat" cmpd="sng" w="9525">
            <a:solidFill>
              <a:srgbClr val="29485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317" name="Google Shape;317;p8"/>
          <p:cNvSpPr/>
          <p:nvPr/>
        </p:nvSpPr>
        <p:spPr>
          <a:xfrm>
            <a:off x="10953750" y="6448425"/>
            <a:ext cx="55245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lang="en-US" sz="825">
                <a:solidFill>
                  <a:srgbClr val="23D5D2"/>
                </a:solidFill>
              </a:rPr>
              <a:t>B1</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71A2B"/>
        </a:solidFill>
      </p:bgPr>
    </p:bg>
    <p:spTree>
      <p:nvGrpSpPr>
        <p:cNvPr id="364" name="Shape 364"/>
        <p:cNvGrpSpPr/>
        <p:nvPr/>
      </p:nvGrpSpPr>
      <p:grpSpPr>
        <a:xfrm>
          <a:off x="0" y="0"/>
          <a:ext cx="0" cy="0"/>
          <a:chOff x="0" y="0"/>
          <a:chExt cx="0" cy="0"/>
        </a:xfrm>
      </p:grpSpPr>
      <p:grpSp>
        <p:nvGrpSpPr>
          <p:cNvPr id="369" name="Google Shape;369;p10"/>
          <p:cNvGrpSpPr/>
          <p:nvPr/>
        </p:nvGrpSpPr>
        <p:grpSpPr>
          <a:xfrm>
            <a:off x="685800" y="1946910"/>
            <a:ext cx="10820550" cy="2095500"/>
            <a:chOff x="685800" y="1809750"/>
            <a:chExt cx="10820550" cy="2095500"/>
          </a:xfrm>
        </p:grpSpPr>
        <p:grpSp>
          <p:nvGrpSpPr>
            <p:cNvPr id="370" name="Google Shape;370;p10"/>
            <p:cNvGrpSpPr/>
            <p:nvPr/>
          </p:nvGrpSpPr>
          <p:grpSpPr>
            <a:xfrm>
              <a:off x="685800" y="1809750"/>
              <a:ext cx="2381400" cy="2095500"/>
              <a:chOff x="0" y="0"/>
              <a:chExt cx="2381400" cy="2095500"/>
            </a:xfrm>
          </p:grpSpPr>
          <p:sp>
            <p:nvSpPr>
              <p:cNvPr id="371" name="Google Shape;371;p10"/>
              <p:cNvSpPr/>
              <p:nvPr/>
            </p:nvSpPr>
            <p:spPr>
              <a:xfrm>
                <a:off x="0" y="0"/>
                <a:ext cx="2381400" cy="2095500"/>
              </a:xfrm>
              <a:prstGeom prst="roundRect">
                <a:avLst>
                  <a:gd fmla="val 6363" name="adj"/>
                </a:avLst>
              </a:prstGeom>
              <a:solidFill>
                <a:srgbClr val="0E2B42"/>
              </a:solidFill>
              <a:ln cap="flat" cmpd="sng" w="9525">
                <a:solidFill>
                  <a:srgbClr val="1E3D5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372" name="Google Shape;372;p10"/>
              <p:cNvSpPr/>
              <p:nvPr/>
            </p:nvSpPr>
            <p:spPr>
              <a:xfrm>
                <a:off x="152400" y="152400"/>
                <a:ext cx="342900" cy="228600"/>
              </a:xfrm>
              <a:prstGeom prst="roundRect">
                <a:avLst>
                  <a:gd fmla="val 33333" name="adj"/>
                </a:avLst>
              </a:prstGeom>
              <a:solidFill>
                <a:srgbClr val="173B53"/>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373" name="Google Shape;373;p10"/>
              <p:cNvSpPr txBox="1"/>
              <p:nvPr/>
            </p:nvSpPr>
            <p:spPr>
              <a:xfrm>
                <a:off x="152400" y="152400"/>
                <a:ext cx="3429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50">
                    <a:solidFill>
                      <a:srgbClr val="FF9D42"/>
                    </a:solidFill>
                    <a:latin typeface="Arial"/>
                    <a:ea typeface="Arial"/>
                    <a:cs typeface="Arial"/>
                    <a:sym typeface="Arial"/>
                  </a:rPr>
                  <a:t>01</a:t>
                </a:r>
                <a:endParaRPr b="1" sz="1050">
                  <a:solidFill>
                    <a:srgbClr val="FF9D42"/>
                  </a:solidFill>
                  <a:latin typeface="Arial"/>
                  <a:ea typeface="Arial"/>
                  <a:cs typeface="Arial"/>
                  <a:sym typeface="Arial"/>
                </a:endParaRPr>
              </a:p>
            </p:txBody>
          </p:sp>
          <p:sp>
            <p:nvSpPr>
              <p:cNvPr id="374" name="Google Shape;374;p10"/>
              <p:cNvSpPr txBox="1"/>
              <p:nvPr/>
            </p:nvSpPr>
            <p:spPr>
              <a:xfrm>
                <a:off x="152400" y="495300"/>
                <a:ext cx="2076600" cy="4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F7FBFF"/>
                    </a:solidFill>
                    <a:latin typeface="Arial"/>
                    <a:ea typeface="Arial"/>
                    <a:cs typeface="Arial"/>
                    <a:sym typeface="Arial"/>
                  </a:rPr>
                  <a:t>Operations UI</a:t>
                </a:r>
                <a:endParaRPr b="1" sz="1600">
                  <a:solidFill>
                    <a:srgbClr val="F7FBFF"/>
                  </a:solidFill>
                  <a:latin typeface="Arial"/>
                  <a:ea typeface="Arial"/>
                  <a:cs typeface="Arial"/>
                  <a:sym typeface="Arial"/>
                </a:endParaRPr>
              </a:p>
            </p:txBody>
          </p:sp>
          <p:sp>
            <p:nvSpPr>
              <p:cNvPr id="375" name="Google Shape;375;p10"/>
              <p:cNvSpPr/>
              <p:nvPr/>
            </p:nvSpPr>
            <p:spPr>
              <a:xfrm>
                <a:off x="152400" y="971550"/>
                <a:ext cx="2076600" cy="19200"/>
              </a:xfrm>
              <a:prstGeom prst="rect">
                <a:avLst/>
              </a:prstGeom>
              <a:solidFill>
                <a:srgbClr val="FF9D42"/>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376" name="Google Shape;376;p10"/>
              <p:cNvSpPr txBox="1"/>
              <p:nvPr/>
            </p:nvSpPr>
            <p:spPr>
              <a:xfrm>
                <a:off x="152400" y="1085850"/>
                <a:ext cx="20766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50">
                    <a:solidFill>
                      <a:srgbClr val="A9C1D2"/>
                    </a:solidFill>
                    <a:latin typeface="Arial"/>
                    <a:ea typeface="Arial"/>
                    <a:cs typeface="Arial"/>
                    <a:sym typeface="Arial"/>
                  </a:rPr>
                  <a:t>Natural-language queries and formatted responses</a:t>
                </a:r>
                <a:endParaRPr b="0" sz="1050">
                  <a:solidFill>
                    <a:srgbClr val="A9C1D2"/>
                  </a:solidFill>
                  <a:latin typeface="Arial"/>
                  <a:ea typeface="Arial"/>
                  <a:cs typeface="Arial"/>
                  <a:sym typeface="Arial"/>
                </a:endParaRPr>
              </a:p>
            </p:txBody>
          </p:sp>
        </p:grpSp>
        <p:sp>
          <p:nvSpPr>
            <p:cNvPr id="377" name="Google Shape;377;p10"/>
            <p:cNvSpPr/>
            <p:nvPr/>
          </p:nvSpPr>
          <p:spPr>
            <a:xfrm>
              <a:off x="3067050" y="2838450"/>
              <a:ext cx="419100" cy="38100"/>
            </a:xfrm>
            <a:prstGeom prst="roundRect">
              <a:avLst>
                <a:gd fmla="val 50000" name="adj"/>
              </a:avLst>
            </a:prstGeom>
            <a:solidFill>
              <a:srgbClr val="FF9D42"/>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grpSp>
          <p:nvGrpSpPr>
            <p:cNvPr id="378" name="Google Shape;378;p10"/>
            <p:cNvGrpSpPr/>
            <p:nvPr/>
          </p:nvGrpSpPr>
          <p:grpSpPr>
            <a:xfrm>
              <a:off x="3486150" y="1809750"/>
              <a:ext cx="2381400" cy="2095500"/>
              <a:chOff x="0" y="0"/>
              <a:chExt cx="2381400" cy="2095500"/>
            </a:xfrm>
          </p:grpSpPr>
          <p:sp>
            <p:nvSpPr>
              <p:cNvPr id="379" name="Google Shape;379;p10"/>
              <p:cNvSpPr/>
              <p:nvPr/>
            </p:nvSpPr>
            <p:spPr>
              <a:xfrm>
                <a:off x="0" y="0"/>
                <a:ext cx="2381400" cy="2095500"/>
              </a:xfrm>
              <a:prstGeom prst="roundRect">
                <a:avLst>
                  <a:gd fmla="val 6363" name="adj"/>
                </a:avLst>
              </a:prstGeom>
              <a:solidFill>
                <a:srgbClr val="0E2B42"/>
              </a:solidFill>
              <a:ln cap="flat" cmpd="sng" w="9525">
                <a:solidFill>
                  <a:srgbClr val="1E3D5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380" name="Google Shape;380;p10"/>
              <p:cNvSpPr/>
              <p:nvPr/>
            </p:nvSpPr>
            <p:spPr>
              <a:xfrm>
                <a:off x="152400" y="152400"/>
                <a:ext cx="342900" cy="228600"/>
              </a:xfrm>
              <a:prstGeom prst="roundRect">
                <a:avLst>
                  <a:gd fmla="val 33333" name="adj"/>
                </a:avLst>
              </a:prstGeom>
              <a:solidFill>
                <a:srgbClr val="173B53"/>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381" name="Google Shape;381;p10"/>
              <p:cNvSpPr txBox="1"/>
              <p:nvPr/>
            </p:nvSpPr>
            <p:spPr>
              <a:xfrm>
                <a:off x="152400" y="152400"/>
                <a:ext cx="3429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50">
                    <a:solidFill>
                      <a:srgbClr val="23D5D2"/>
                    </a:solidFill>
                    <a:latin typeface="Arial"/>
                    <a:ea typeface="Arial"/>
                    <a:cs typeface="Arial"/>
                    <a:sym typeface="Arial"/>
                  </a:rPr>
                  <a:t>02</a:t>
                </a:r>
                <a:endParaRPr b="1" sz="1050">
                  <a:solidFill>
                    <a:srgbClr val="23D5D2"/>
                  </a:solidFill>
                  <a:latin typeface="Arial"/>
                  <a:ea typeface="Arial"/>
                  <a:cs typeface="Arial"/>
                  <a:sym typeface="Arial"/>
                </a:endParaRPr>
              </a:p>
            </p:txBody>
          </p:sp>
          <p:sp>
            <p:nvSpPr>
              <p:cNvPr id="382" name="Google Shape;382;p10"/>
              <p:cNvSpPr txBox="1"/>
              <p:nvPr/>
            </p:nvSpPr>
            <p:spPr>
              <a:xfrm>
                <a:off x="152400" y="495300"/>
                <a:ext cx="2076600" cy="4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F7FBFF"/>
                    </a:solidFill>
                    <a:latin typeface="Arial"/>
                    <a:ea typeface="Arial"/>
                    <a:cs typeface="Arial"/>
                    <a:sym typeface="Arial"/>
                  </a:rPr>
                  <a:t>AgentGateway</a:t>
                </a:r>
                <a:endParaRPr b="1" sz="1600">
                  <a:solidFill>
                    <a:srgbClr val="F7FBFF"/>
                  </a:solidFill>
                  <a:latin typeface="Arial"/>
                  <a:ea typeface="Arial"/>
                  <a:cs typeface="Arial"/>
                  <a:sym typeface="Arial"/>
                </a:endParaRPr>
              </a:p>
            </p:txBody>
          </p:sp>
          <p:sp>
            <p:nvSpPr>
              <p:cNvPr id="383" name="Google Shape;383;p10"/>
              <p:cNvSpPr/>
              <p:nvPr/>
            </p:nvSpPr>
            <p:spPr>
              <a:xfrm>
                <a:off x="152400" y="971550"/>
                <a:ext cx="2076600" cy="19200"/>
              </a:xfrm>
              <a:prstGeom prst="rect">
                <a:avLst/>
              </a:prstGeom>
              <a:solidFill>
                <a:srgbClr val="23D5D2"/>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384" name="Google Shape;384;p10"/>
              <p:cNvSpPr txBox="1"/>
              <p:nvPr/>
            </p:nvSpPr>
            <p:spPr>
              <a:xfrm>
                <a:off x="152400" y="1085850"/>
                <a:ext cx="20766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50">
                    <a:solidFill>
                      <a:srgbClr val="A9C1D2"/>
                    </a:solidFill>
                    <a:latin typeface="Arial"/>
                    <a:ea typeface="Arial"/>
                    <a:cs typeface="Arial"/>
                    <a:sym typeface="Arial"/>
                  </a:rPr>
                  <a:t>Authentication and tool authorization</a:t>
                </a:r>
                <a:endParaRPr b="0" sz="1050">
                  <a:solidFill>
                    <a:srgbClr val="A9C1D2"/>
                  </a:solidFill>
                  <a:latin typeface="Arial"/>
                  <a:ea typeface="Arial"/>
                  <a:cs typeface="Arial"/>
                  <a:sym typeface="Arial"/>
                </a:endParaRPr>
              </a:p>
            </p:txBody>
          </p:sp>
        </p:grpSp>
        <p:sp>
          <p:nvSpPr>
            <p:cNvPr id="385" name="Google Shape;385;p10"/>
            <p:cNvSpPr/>
            <p:nvPr/>
          </p:nvSpPr>
          <p:spPr>
            <a:xfrm>
              <a:off x="5867400" y="2838450"/>
              <a:ext cx="419100" cy="38100"/>
            </a:xfrm>
            <a:prstGeom prst="roundRect">
              <a:avLst>
                <a:gd fmla="val 50000" name="adj"/>
              </a:avLst>
            </a:prstGeom>
            <a:solidFill>
              <a:srgbClr val="23D5D2"/>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grpSp>
          <p:nvGrpSpPr>
            <p:cNvPr id="386" name="Google Shape;386;p10"/>
            <p:cNvGrpSpPr/>
            <p:nvPr/>
          </p:nvGrpSpPr>
          <p:grpSpPr>
            <a:xfrm>
              <a:off x="6286500" y="1809750"/>
              <a:ext cx="2381400" cy="2095500"/>
              <a:chOff x="0" y="0"/>
              <a:chExt cx="2381400" cy="2095500"/>
            </a:xfrm>
          </p:grpSpPr>
          <p:sp>
            <p:nvSpPr>
              <p:cNvPr id="387" name="Google Shape;387;p10"/>
              <p:cNvSpPr/>
              <p:nvPr/>
            </p:nvSpPr>
            <p:spPr>
              <a:xfrm>
                <a:off x="0" y="0"/>
                <a:ext cx="2381400" cy="2095500"/>
              </a:xfrm>
              <a:prstGeom prst="roundRect">
                <a:avLst>
                  <a:gd fmla="val 6363" name="adj"/>
                </a:avLst>
              </a:prstGeom>
              <a:solidFill>
                <a:srgbClr val="0E2B42"/>
              </a:solidFill>
              <a:ln cap="flat" cmpd="sng" w="9525">
                <a:solidFill>
                  <a:srgbClr val="1E3D5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388" name="Google Shape;388;p10"/>
              <p:cNvSpPr/>
              <p:nvPr/>
            </p:nvSpPr>
            <p:spPr>
              <a:xfrm>
                <a:off x="152400" y="152400"/>
                <a:ext cx="342900" cy="228600"/>
              </a:xfrm>
              <a:prstGeom prst="roundRect">
                <a:avLst>
                  <a:gd fmla="val 33333" name="adj"/>
                </a:avLst>
              </a:prstGeom>
              <a:solidFill>
                <a:srgbClr val="173B53"/>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389" name="Google Shape;389;p10"/>
              <p:cNvSpPr txBox="1"/>
              <p:nvPr/>
            </p:nvSpPr>
            <p:spPr>
              <a:xfrm>
                <a:off x="152400" y="152400"/>
                <a:ext cx="3429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50">
                    <a:solidFill>
                      <a:srgbClr val="43D17D"/>
                    </a:solidFill>
                    <a:latin typeface="Arial"/>
                    <a:ea typeface="Arial"/>
                    <a:cs typeface="Arial"/>
                    <a:sym typeface="Arial"/>
                  </a:rPr>
                  <a:t>03</a:t>
                </a:r>
                <a:endParaRPr b="1" sz="1050">
                  <a:solidFill>
                    <a:srgbClr val="43D17D"/>
                  </a:solidFill>
                  <a:latin typeface="Arial"/>
                  <a:ea typeface="Arial"/>
                  <a:cs typeface="Arial"/>
                  <a:sym typeface="Arial"/>
                </a:endParaRPr>
              </a:p>
            </p:txBody>
          </p:sp>
          <p:sp>
            <p:nvSpPr>
              <p:cNvPr id="390" name="Google Shape;390;p10"/>
              <p:cNvSpPr txBox="1"/>
              <p:nvPr/>
            </p:nvSpPr>
            <p:spPr>
              <a:xfrm>
                <a:off x="152400" y="495300"/>
                <a:ext cx="2076600" cy="4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F7FBFF"/>
                    </a:solidFill>
                    <a:latin typeface="Arial"/>
                    <a:ea typeface="Arial"/>
                    <a:cs typeface="Arial"/>
                    <a:sym typeface="Arial"/>
                  </a:rPr>
                  <a:t>ToolHive + MCP</a:t>
                </a:r>
                <a:endParaRPr b="1" sz="1600">
                  <a:solidFill>
                    <a:srgbClr val="F7FBFF"/>
                  </a:solidFill>
                  <a:latin typeface="Arial"/>
                  <a:ea typeface="Arial"/>
                  <a:cs typeface="Arial"/>
                  <a:sym typeface="Arial"/>
                </a:endParaRPr>
              </a:p>
            </p:txBody>
          </p:sp>
          <p:sp>
            <p:nvSpPr>
              <p:cNvPr id="391" name="Google Shape;391;p10"/>
              <p:cNvSpPr/>
              <p:nvPr/>
            </p:nvSpPr>
            <p:spPr>
              <a:xfrm>
                <a:off x="152400" y="971550"/>
                <a:ext cx="2076600" cy="19200"/>
              </a:xfrm>
              <a:prstGeom prst="rect">
                <a:avLst/>
              </a:prstGeom>
              <a:solidFill>
                <a:srgbClr val="43D17D"/>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392" name="Google Shape;392;p10"/>
              <p:cNvSpPr txBox="1"/>
              <p:nvPr/>
            </p:nvSpPr>
            <p:spPr>
              <a:xfrm>
                <a:off x="152400" y="1085850"/>
                <a:ext cx="20766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50">
                    <a:solidFill>
                      <a:srgbClr val="A9C1D2"/>
                    </a:solidFill>
                    <a:latin typeface="Arial"/>
                    <a:ea typeface="Arial"/>
                    <a:cs typeface="Arial"/>
                    <a:sym typeface="Arial"/>
                  </a:rPr>
                  <a:t>Managed MCP servers and tool discovery</a:t>
                </a:r>
                <a:endParaRPr b="0" sz="1050">
                  <a:solidFill>
                    <a:srgbClr val="A9C1D2"/>
                  </a:solidFill>
                  <a:latin typeface="Arial"/>
                  <a:ea typeface="Arial"/>
                  <a:cs typeface="Arial"/>
                  <a:sym typeface="Arial"/>
                </a:endParaRPr>
              </a:p>
            </p:txBody>
          </p:sp>
        </p:grpSp>
        <p:sp>
          <p:nvSpPr>
            <p:cNvPr id="393" name="Google Shape;393;p10"/>
            <p:cNvSpPr/>
            <p:nvPr/>
          </p:nvSpPr>
          <p:spPr>
            <a:xfrm>
              <a:off x="8667750" y="2838450"/>
              <a:ext cx="419100" cy="38100"/>
            </a:xfrm>
            <a:prstGeom prst="roundRect">
              <a:avLst>
                <a:gd fmla="val 50000" name="adj"/>
              </a:avLst>
            </a:prstGeom>
            <a:solidFill>
              <a:srgbClr val="43D17D"/>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grpSp>
          <p:nvGrpSpPr>
            <p:cNvPr id="394" name="Google Shape;394;p10"/>
            <p:cNvGrpSpPr/>
            <p:nvPr/>
          </p:nvGrpSpPr>
          <p:grpSpPr>
            <a:xfrm>
              <a:off x="9086850" y="1809750"/>
              <a:ext cx="2419500" cy="2095500"/>
              <a:chOff x="0" y="0"/>
              <a:chExt cx="2419500" cy="2095500"/>
            </a:xfrm>
          </p:grpSpPr>
          <p:sp>
            <p:nvSpPr>
              <p:cNvPr id="395" name="Google Shape;395;p10"/>
              <p:cNvSpPr/>
              <p:nvPr/>
            </p:nvSpPr>
            <p:spPr>
              <a:xfrm>
                <a:off x="0" y="0"/>
                <a:ext cx="2419500" cy="2095500"/>
              </a:xfrm>
              <a:prstGeom prst="roundRect">
                <a:avLst>
                  <a:gd fmla="val 6363" name="adj"/>
                </a:avLst>
              </a:prstGeom>
              <a:solidFill>
                <a:srgbClr val="0E2B42"/>
              </a:solidFill>
              <a:ln cap="flat" cmpd="sng" w="9525">
                <a:solidFill>
                  <a:srgbClr val="1E3D5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396" name="Google Shape;396;p10"/>
              <p:cNvSpPr/>
              <p:nvPr/>
            </p:nvSpPr>
            <p:spPr>
              <a:xfrm>
                <a:off x="152400" y="152400"/>
                <a:ext cx="342900" cy="228600"/>
              </a:xfrm>
              <a:prstGeom prst="roundRect">
                <a:avLst>
                  <a:gd fmla="val 33333" name="adj"/>
                </a:avLst>
              </a:prstGeom>
              <a:solidFill>
                <a:srgbClr val="173B53"/>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397" name="Google Shape;397;p10"/>
              <p:cNvSpPr txBox="1"/>
              <p:nvPr/>
            </p:nvSpPr>
            <p:spPr>
              <a:xfrm>
                <a:off x="152400" y="152400"/>
                <a:ext cx="3429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50">
                    <a:solidFill>
                      <a:srgbClr val="FF9D42"/>
                    </a:solidFill>
                    <a:latin typeface="Arial"/>
                    <a:ea typeface="Arial"/>
                    <a:cs typeface="Arial"/>
                    <a:sym typeface="Arial"/>
                  </a:rPr>
                  <a:t>04</a:t>
                </a:r>
                <a:endParaRPr b="1" sz="1050">
                  <a:solidFill>
                    <a:srgbClr val="FF9D42"/>
                  </a:solidFill>
                  <a:latin typeface="Arial"/>
                  <a:ea typeface="Arial"/>
                  <a:cs typeface="Arial"/>
                  <a:sym typeface="Arial"/>
                </a:endParaRPr>
              </a:p>
            </p:txBody>
          </p:sp>
          <p:sp>
            <p:nvSpPr>
              <p:cNvPr id="398" name="Google Shape;398;p10"/>
              <p:cNvSpPr txBox="1"/>
              <p:nvPr/>
            </p:nvSpPr>
            <p:spPr>
              <a:xfrm>
                <a:off x="152400" y="495300"/>
                <a:ext cx="2114700" cy="4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F7FBFF"/>
                    </a:solidFill>
                    <a:latin typeface="Arial"/>
                    <a:ea typeface="Arial"/>
                    <a:cs typeface="Arial"/>
                    <a:sym typeface="Arial"/>
                  </a:rPr>
                  <a:t>BNG + Kubernetes</a:t>
                </a:r>
                <a:endParaRPr b="1" sz="1600">
                  <a:solidFill>
                    <a:srgbClr val="F7FBFF"/>
                  </a:solidFill>
                  <a:latin typeface="Arial"/>
                  <a:ea typeface="Arial"/>
                  <a:cs typeface="Arial"/>
                  <a:sym typeface="Arial"/>
                </a:endParaRPr>
              </a:p>
            </p:txBody>
          </p:sp>
          <p:sp>
            <p:nvSpPr>
              <p:cNvPr id="399" name="Google Shape;399;p10"/>
              <p:cNvSpPr/>
              <p:nvPr/>
            </p:nvSpPr>
            <p:spPr>
              <a:xfrm>
                <a:off x="152400" y="971550"/>
                <a:ext cx="2114700" cy="19200"/>
              </a:xfrm>
              <a:prstGeom prst="rect">
                <a:avLst/>
              </a:prstGeom>
              <a:solidFill>
                <a:srgbClr val="FF9D42"/>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400" name="Google Shape;400;p10"/>
              <p:cNvSpPr txBox="1"/>
              <p:nvPr/>
            </p:nvSpPr>
            <p:spPr>
              <a:xfrm>
                <a:off x="152400" y="1085850"/>
                <a:ext cx="21147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50">
                    <a:solidFill>
                      <a:srgbClr val="A9C1D2"/>
                    </a:solidFill>
                    <a:latin typeface="Arial"/>
                    <a:ea typeface="Arial"/>
                    <a:cs typeface="Arial"/>
                    <a:sym typeface="Arial"/>
                  </a:rPr>
                  <a:t>Health, sessions, BGP, routes, and diagnostics</a:t>
                </a:r>
                <a:endParaRPr b="0" sz="1050">
                  <a:solidFill>
                    <a:srgbClr val="A9C1D2"/>
                  </a:solidFill>
                  <a:latin typeface="Arial"/>
                  <a:ea typeface="Arial"/>
                  <a:cs typeface="Arial"/>
                  <a:sym typeface="Arial"/>
                </a:endParaRPr>
              </a:p>
            </p:txBody>
          </p:sp>
        </p:grpSp>
      </p:grpSp>
      <p:grpSp>
        <p:nvGrpSpPr>
          <p:cNvPr id="401" name="Google Shape;401;p10"/>
          <p:cNvGrpSpPr/>
          <p:nvPr/>
        </p:nvGrpSpPr>
        <p:grpSpPr>
          <a:xfrm>
            <a:off x="685800" y="4280535"/>
            <a:ext cx="10820400" cy="819300"/>
            <a:chOff x="0" y="0"/>
            <a:chExt cx="10820400" cy="819300"/>
          </a:xfrm>
        </p:grpSpPr>
        <p:sp>
          <p:nvSpPr>
            <p:cNvPr id="402" name="Google Shape;402;p10"/>
            <p:cNvSpPr/>
            <p:nvPr/>
          </p:nvSpPr>
          <p:spPr>
            <a:xfrm>
              <a:off x="0" y="0"/>
              <a:ext cx="10820400" cy="819300"/>
            </a:xfrm>
            <a:prstGeom prst="roundRect">
              <a:avLst>
                <a:gd fmla="val 13953" name="adj"/>
              </a:avLst>
            </a:prstGeom>
            <a:solidFill>
              <a:srgbClr val="0E2D42"/>
            </a:solidFill>
            <a:ln cap="flat" cmpd="sng" w="9525">
              <a:solidFill>
                <a:srgbClr val="1E3D5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403" name="Google Shape;403;p10"/>
            <p:cNvSpPr/>
            <p:nvPr/>
          </p:nvSpPr>
          <p:spPr>
            <a:xfrm>
              <a:off x="0" y="0"/>
              <a:ext cx="57300" cy="819300"/>
            </a:xfrm>
            <a:prstGeom prst="roundRect">
              <a:avLst>
                <a:gd fmla="val 50000" name="adj"/>
              </a:avLst>
            </a:prstGeom>
            <a:solidFill>
              <a:srgbClr val="FF9D42"/>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404" name="Google Shape;404;p10"/>
            <p:cNvSpPr txBox="1"/>
            <p:nvPr/>
          </p:nvSpPr>
          <p:spPr>
            <a:xfrm>
              <a:off x="266700" y="266700"/>
              <a:ext cx="17145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300">
                  <a:solidFill>
                    <a:srgbClr val="FF9D42"/>
                  </a:solidFill>
                  <a:latin typeface="Arial"/>
                  <a:ea typeface="Arial"/>
                  <a:cs typeface="Arial"/>
                  <a:sym typeface="Arial"/>
                </a:rPr>
                <a:t>Practical next step</a:t>
              </a:r>
              <a:endParaRPr b="1" sz="1300">
                <a:solidFill>
                  <a:srgbClr val="FF9D42"/>
                </a:solidFill>
                <a:latin typeface="Arial"/>
                <a:ea typeface="Arial"/>
                <a:cs typeface="Arial"/>
                <a:sym typeface="Arial"/>
              </a:endParaRPr>
            </a:p>
          </p:txBody>
        </p:sp>
        <p:sp>
          <p:nvSpPr>
            <p:cNvPr id="405" name="Google Shape;405;p10"/>
            <p:cNvSpPr txBox="1"/>
            <p:nvPr/>
          </p:nvSpPr>
          <p:spPr>
            <a:xfrm>
              <a:off x="2171700" y="152400"/>
              <a:ext cx="8382000" cy="514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500">
                  <a:solidFill>
                    <a:srgbClr val="F7FBFF"/>
                  </a:solidFill>
                  <a:latin typeface="Arial"/>
                  <a:ea typeface="Arial"/>
                  <a:cs typeface="Arial"/>
                  <a:sym typeface="Arial"/>
                </a:rPr>
                <a:t>Start with read-only diagnostics, role-based tools, evidence in every response, and approval before changes.</a:t>
              </a:r>
              <a:endParaRPr b="1" sz="1500">
                <a:solidFill>
                  <a:srgbClr val="F7FBFF"/>
                </a:solidFill>
                <a:latin typeface="Arial"/>
                <a:ea typeface="Arial"/>
                <a:cs typeface="Arial"/>
                <a:sym typeface="Arial"/>
              </a:endParaRPr>
            </a:p>
          </p:txBody>
        </p:sp>
      </p:grpSp>
      <p:grpSp>
        <p:nvGrpSpPr>
          <p:cNvPr id="406" name="Google Shape;406;p10"/>
          <p:cNvGrpSpPr/>
          <p:nvPr/>
        </p:nvGrpSpPr>
        <p:grpSpPr>
          <a:xfrm>
            <a:off x="685800" y="5299710"/>
            <a:ext cx="10820400" cy="495300"/>
            <a:chOff x="0" y="0"/>
            <a:chExt cx="10820400" cy="495300"/>
          </a:xfrm>
        </p:grpSpPr>
        <p:sp>
          <p:nvSpPr>
            <p:cNvPr id="407" name="Google Shape;407;p10"/>
            <p:cNvSpPr/>
            <p:nvPr/>
          </p:nvSpPr>
          <p:spPr>
            <a:xfrm>
              <a:off x="0" y="0"/>
              <a:ext cx="10820400" cy="495300"/>
            </a:xfrm>
            <a:prstGeom prst="roundRect">
              <a:avLst>
                <a:gd fmla="val 19230" name="adj"/>
              </a:avLst>
            </a:prstGeom>
            <a:solidFill>
              <a:srgbClr val="0B2030"/>
            </a:solidFill>
            <a:ln cap="flat" cmpd="sng" w="9525">
              <a:solidFill>
                <a:srgbClr val="1E3D5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408" name="Google Shape;408;p10"/>
            <p:cNvSpPr/>
            <p:nvPr/>
          </p:nvSpPr>
          <p:spPr>
            <a:xfrm>
              <a:off x="152400" y="123825"/>
              <a:ext cx="857400" cy="247800"/>
            </a:xfrm>
            <a:prstGeom prst="roundRect">
              <a:avLst>
                <a:gd fmla="val 50000" name="adj"/>
              </a:avLst>
            </a:prstGeom>
            <a:solidFill>
              <a:srgbClr val="FF9D42"/>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409" name="Google Shape;409;p10"/>
            <p:cNvSpPr txBox="1"/>
            <p:nvPr/>
          </p:nvSpPr>
          <p:spPr>
            <a:xfrm>
              <a:off x="152400" y="123825"/>
              <a:ext cx="8574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50">
                  <a:solidFill>
                    <a:srgbClr val="071A2B"/>
                  </a:solidFill>
                  <a:latin typeface="Arial"/>
                  <a:ea typeface="Arial"/>
                  <a:cs typeface="Arial"/>
                  <a:sym typeface="Arial"/>
                </a:rPr>
                <a:t>OPTIONAL</a:t>
              </a:r>
              <a:endParaRPr b="1" sz="950">
                <a:solidFill>
                  <a:srgbClr val="071A2B"/>
                </a:solidFill>
                <a:latin typeface="Arial"/>
                <a:ea typeface="Arial"/>
                <a:cs typeface="Arial"/>
                <a:sym typeface="Arial"/>
              </a:endParaRPr>
            </a:p>
          </p:txBody>
        </p:sp>
        <p:sp>
          <p:nvSpPr>
            <p:cNvPr id="410" name="Google Shape;410;p10"/>
            <p:cNvSpPr txBox="1"/>
            <p:nvPr/>
          </p:nvSpPr>
          <p:spPr>
            <a:xfrm>
              <a:off x="1162050" y="123825"/>
              <a:ext cx="9429900" cy="247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200">
                  <a:solidFill>
                    <a:srgbClr val="A9C1D2"/>
                  </a:solidFill>
                  <a:latin typeface="Arial"/>
                  <a:ea typeface="Arial"/>
                  <a:cs typeface="Arial"/>
                  <a:sym typeface="Arial"/>
                </a:rPr>
                <a:t>This MCP and AI layer is a separate deployment and is not included in the vBNG Helm chart.</a:t>
              </a:r>
              <a:endParaRPr b="1" sz="1200">
                <a:solidFill>
                  <a:srgbClr val="A9C1D2"/>
                </a:solidFill>
                <a:latin typeface="Arial"/>
                <a:ea typeface="Arial"/>
                <a:cs typeface="Arial"/>
                <a:sym typeface="Arial"/>
              </a:endParaRPr>
            </a:p>
          </p:txBody>
        </p:sp>
      </p:grpSp>
      <p:grpSp>
        <p:nvGrpSpPr>
          <p:cNvPr id="411" name="Google Shape;411;p10"/>
          <p:cNvGrpSpPr/>
          <p:nvPr/>
        </p:nvGrpSpPr>
        <p:grpSpPr>
          <a:xfrm>
            <a:off x="685800" y="6286500"/>
            <a:ext cx="10820550" cy="304800"/>
            <a:chOff x="685800" y="6286500"/>
            <a:chExt cx="10820550" cy="304800"/>
          </a:xfrm>
        </p:grpSpPr>
        <p:sp>
          <p:nvSpPr>
            <p:cNvPr id="412" name="Google Shape;412;p10"/>
            <p:cNvSpPr/>
            <p:nvPr/>
          </p:nvSpPr>
          <p:spPr>
            <a:xfrm>
              <a:off x="685800" y="6286500"/>
              <a:ext cx="10820400" cy="9600"/>
            </a:xfrm>
            <a:prstGeom prst="rect">
              <a:avLst/>
            </a:prstGeom>
            <a:solidFill>
              <a:srgbClr val="29485D"/>
            </a:solidFill>
            <a:ln>
              <a:noFill/>
            </a:ln>
          </p:spPr>
          <p:txBody>
            <a:bodyPr anchorCtr="0" anchor="ctr" bIns="0" lIns="0" spcFirstLastPara="1" rIns="0" wrap="square" tIns="0">
              <a:noAutofit/>
            </a:bodyPr>
            <a:lstStyle/>
            <a:p>
              <a:pPr indent="0" lvl="0" marL="0" rtl="0" algn="l">
                <a:spcBef>
                  <a:spcPts val="0"/>
                </a:spcBef>
                <a:spcAft>
                  <a:spcPts val="0"/>
                </a:spcAft>
                <a:buNone/>
              </a:pPr>
              <a:r>
                <a:rPr/>
                <a:t/>
              </a:r>
              <a:endParaRPr/>
            </a:p>
          </p:txBody>
        </p:sp>
        <p:sp>
          <p:nvSpPr>
            <p:cNvPr id="413" name="Google Shape;413;p10"/>
            <p:cNvSpPr txBox="1"/>
            <p:nvPr/>
          </p:nvSpPr>
          <p:spPr>
            <a:xfrm>
              <a:off x="685800" y="6400800"/>
              <a:ext cx="95250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850">
                  <a:solidFill>
                    <a:srgbClr val="A9C1D2"/>
                  </a:solidFill>
                  <a:latin typeface="Arial"/>
                  <a:ea typeface="Arial"/>
                  <a:cs typeface="Arial"/>
                  <a:sym typeface="Arial"/>
                </a:rPr>
                <a:t>Demonstrated separately with AgentGateway, ToolHive, Open WebUI, and OSVBNG MCP tools.</a:t>
              </a:r>
              <a:endParaRPr b="0" sz="850">
                <a:solidFill>
                  <a:srgbClr val="A9C1D2"/>
                </a:solidFill>
                <a:latin typeface="Arial"/>
                <a:ea typeface="Arial"/>
                <a:cs typeface="Arial"/>
                <a:sym typeface="Arial"/>
              </a:endParaRPr>
            </a:p>
          </p:txBody>
        </p:sp>
        <p:sp>
          <p:nvSpPr>
            <p:cNvPr id="414" name="Google Shape;414;p10"/>
            <p:cNvSpPr txBox="1"/>
            <p:nvPr/>
          </p:nvSpPr>
          <p:spPr>
            <a:xfrm>
              <a:off x="10953750" y="6400800"/>
              <a:ext cx="552600" cy="1905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r>
                <a:rPr b="1" lang="en-US" sz="850">
                  <a:solidFill>
                    <a:srgbClr val="23D5D2"/>
                  </a:solidFill>
                  <a:latin typeface="Arial"/>
                  <a:ea typeface="Arial"/>
                  <a:cs typeface="Arial"/>
                  <a:sym typeface="Arial"/>
                </a:rPr>
                <a:t>B2</a:t>
              </a:r>
              <a:endParaRPr b="1" sz="850">
                <a:solidFill>
                  <a:srgbClr val="23D5D2"/>
                </a:solidFill>
                <a:latin typeface="Arial"/>
                <a:ea typeface="Arial"/>
                <a:cs typeface="Arial"/>
                <a:sym typeface="Arial"/>
              </a:endParaRPr>
            </a:p>
          </p:txBody>
        </p:sp>
      </p:grpSp>
      <p:sp>
        <p:nvSpPr>
          <p:cNvPr id="9010" name="Google Shape;138;p4"/>
          <p:cNvSpPr/>
          <p:nvPr/>
        </p:nvSpPr>
        <p:spPr>
          <a:xfrm>
            <a:off x="685800" y="457200"/>
            <a:ext cx="47625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975">
                <a:solidFill>
                  <a:srgbClr val="23D5D2"/>
                </a:solidFill>
              </a:rPr>
              <a:t>BACKUP • AI-ASSISTED OPERATIONS</a:t>
            </a:r>
            <a:endParaRPr/>
          </a:p>
        </p:txBody>
      </p:sp>
      <p:sp>
        <p:nvSpPr>
          <p:cNvPr id="9011" name="Google Shape;139;p4"/>
          <p:cNvSpPr/>
          <p:nvPr/>
        </p:nvSpPr>
        <p:spPr>
          <a:xfrm>
            <a:off x="685800" y="819150"/>
            <a:ext cx="10820400"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50">
                <a:solidFill>
                  <a:srgbClr val="F7FBFF"/>
                </a:solidFill>
              </a:rPr>
              <a:t>An optional MCP and AI operations layer</a:t>
            </a:r>
            <a:endParaRPr/>
          </a:p>
        </p:txBody>
      </p:sp>
      <p:sp>
        <p:nvSpPr>
          <p:cNvPr id="9012" name="Google Shape;140;p4"/>
          <p:cNvSpPr/>
          <p:nvPr/>
        </p:nvSpPr>
        <p:spPr>
          <a:xfrm>
            <a:off x="685800" y="1457325"/>
            <a:ext cx="10287000" cy="2926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350">
                <a:solidFill>
                  <a:srgbClr val="A9C1D2"/>
                </a:solidFill>
              </a:rPr>
              <a:t>Deployed separately from the network-function Helm charts, read-only by default.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