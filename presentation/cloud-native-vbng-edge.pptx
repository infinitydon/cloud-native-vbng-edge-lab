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acc970617ea34182" /><Relationship Type="http://schemas.openxmlformats.org/officeDocument/2006/relationships/extended-properties" Target="/docProps/app.xml" Id="R06c0d79787324aed" /><Relationship Type="http://schemas.openxmlformats.org/officeDocument/2006/relationships/officeDocument" Target="/ppt/presentation.xml" Id="R12d96d878b2740dd" /></Relationships>
</file>

<file path=ppt/presentation.xml><?xml version="1.0" encoding="utf-8"?>
<p:presentation xmlns:p="http://schemas.openxmlformats.org/presentationml/2006/main">
  <p:sldMasterIdLst>
    <p:sldMasterId xmlns:r="http://schemas.openxmlformats.org/officeDocument/2006/relationships" id="2147483648" r:id="R099c34bc31154fd9"/>
  </p:sldMasterIdLst>
  <p:notesMasterIdLst>
    <p:notesMasterId xmlns:r="http://schemas.openxmlformats.org/officeDocument/2006/relationships" r:id="R04bb106fbf3c4227"/>
  </p:notesMasterIdLst>
  <p:sldIdLst>
    <p:sldId xmlns:r="http://schemas.openxmlformats.org/officeDocument/2006/relationships" id="256" r:id="R5cbbeded363948e9"/>
    <p:sldId xmlns:r="http://schemas.openxmlformats.org/officeDocument/2006/relationships" id="257" r:id="Ra2e436cc60294aac"/>
    <p:sldId xmlns:r="http://schemas.openxmlformats.org/officeDocument/2006/relationships" id="258" r:id="R75e2665446744670"/>
    <p:sldId xmlns:r="http://schemas.openxmlformats.org/officeDocument/2006/relationships" id="259" r:id="R7b5365a960c74c67"/>
    <p:sldId xmlns:r="http://schemas.openxmlformats.org/officeDocument/2006/relationships" id="260" r:id="Re656d220b822466e"/>
    <p:sldId xmlns:r="http://schemas.openxmlformats.org/officeDocument/2006/relationships" id="261" r:id="R6ef66d0fff164e37"/>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b5403aab6914992" /><Relationship Type="http://schemas.openxmlformats.org/officeDocument/2006/relationships/slideMaster" Target="/ppt/slideMasters/slideMaster1.xml" Id="R099c34bc31154fd9" /><Relationship Type="http://schemas.openxmlformats.org/officeDocument/2006/relationships/notesMaster" Target="/ppt/notesMasters/notesMaster1.xml" Id="R04bb106fbf3c4227" /><Relationship Type="http://schemas.openxmlformats.org/officeDocument/2006/relationships/presProps" Target="/ppt/presProps.xml" Id="R75eae745e5374f41" /><Relationship Type="http://schemas.openxmlformats.org/officeDocument/2006/relationships/tableStyles" Target="/ppt/tableStyles.xml" Id="R1b3b029607ec44a5" /><Relationship Type="http://schemas.openxmlformats.org/officeDocument/2006/relationships/slide" Target="/ppt/slides/slide1.xml" Id="R5cbbeded363948e9" /><Relationship Type="http://schemas.openxmlformats.org/officeDocument/2006/relationships/slide" Target="/ppt/slides/slide2.xml" Id="Ra2e436cc60294aac" /><Relationship Type="http://schemas.openxmlformats.org/officeDocument/2006/relationships/slide" Target="/ppt/slides/slide3.xml" Id="R75e2665446744670" /><Relationship Type="http://schemas.openxmlformats.org/officeDocument/2006/relationships/slide" Target="/ppt/slides/slide4.xml" Id="R7b5365a960c74c67" /><Relationship Type="http://schemas.openxmlformats.org/officeDocument/2006/relationships/slide" Target="/ppt/slides/slide5.xml" Id="Re656d220b822466e" /><Relationship Type="http://schemas.openxmlformats.org/officeDocument/2006/relationships/slide" Target="/ppt/slides/slide6.xml" Id="R6ef66d0fff164e3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ec4694392004e1c"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ae9936a5292424e" /><Relationship Type="http://schemas.openxmlformats.org/officeDocument/2006/relationships/notesMaster" Target="/ppt/notesMasters/notesMaster1.xml" Id="R0252a42d1ecd41db" /></Relationships>
</file>

<file path=ppt/notesSlides/_rels/notesSlide2.xml.rels>&#65279;<?xml version="1.0" encoding="utf-8"?><Relationships xmlns="http://schemas.openxmlformats.org/package/2006/relationships"><Relationship Type="http://schemas.openxmlformats.org/officeDocument/2006/relationships/slide" Target="/ppt/slides/slide2.xml" Id="R0e5aba994854448b" /><Relationship Type="http://schemas.openxmlformats.org/officeDocument/2006/relationships/notesMaster" Target="/ppt/notesMasters/notesMaster1.xml" Id="Ra6f2a58c42fd4ebd" /></Relationships>
</file>

<file path=ppt/notesSlides/_rels/notesSlide3.xml.rels>&#65279;<?xml version="1.0" encoding="utf-8"?><Relationships xmlns="http://schemas.openxmlformats.org/package/2006/relationships"><Relationship Type="http://schemas.openxmlformats.org/officeDocument/2006/relationships/slide" Target="/ppt/slides/slide3.xml" Id="R4f3b65ad3762488c" /><Relationship Type="http://schemas.openxmlformats.org/officeDocument/2006/relationships/notesMaster" Target="/ppt/notesMasters/notesMaster1.xml" Id="R6a1b064a409749d3" /></Relationships>
</file>

<file path=ppt/notesSlides/_rels/notesSlide4.xml.rels>&#65279;<?xml version="1.0" encoding="utf-8"?><Relationships xmlns="http://schemas.openxmlformats.org/package/2006/relationships"><Relationship Type="http://schemas.openxmlformats.org/officeDocument/2006/relationships/slide" Target="/ppt/slides/slide4.xml" Id="Rf2e68f7c321e4581" /><Relationship Type="http://schemas.openxmlformats.org/officeDocument/2006/relationships/notesMaster" Target="/ppt/notesMasters/notesMaster1.xml" Id="R75340c2cb6ca4794" /></Relationships>
</file>

<file path=ppt/notesSlides/_rels/notesSlide5.xml.rels>&#65279;<?xml version="1.0" encoding="utf-8"?><Relationships xmlns="http://schemas.openxmlformats.org/package/2006/relationships"><Relationship Type="http://schemas.openxmlformats.org/officeDocument/2006/relationships/slide" Target="/ppt/slides/slide5.xml" Id="Rd4535717832a49b8" /><Relationship Type="http://schemas.openxmlformats.org/officeDocument/2006/relationships/notesMaster" Target="/ppt/notesMasters/notesMaster1.xml" Id="R12e7665b1ad04a80" /></Relationships>
</file>

<file path=ppt/notesSlides/_rels/notesSlide6.xml.rels>&#65279;<?xml version="1.0" encoding="utf-8"?><Relationships xmlns="http://schemas.openxmlformats.org/package/2006/relationships"><Relationship Type="http://schemas.openxmlformats.org/officeDocument/2006/relationships/slide" Target="/ppt/slides/slide6.xml" Id="R59f9e280559e48bb" /><Relationship Type="http://schemas.openxmlformats.org/officeDocument/2006/relationships/notesMaster" Target="/ppt/notesMasters/notesMaster1.xml" Id="Rf0b0eb1e9a5547d0"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 with the goal: show that a real broadband edge function can run as a Kubernetes workload without turning this into an HA deep dive. The story is about packaging, placement, interfaces, routing, and subscriber traffic. Set expectations that the lab is deliberately small, but the architecture uses the same building blocks found in larger deployments.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the BNG in operator language. It terminates subscriber sessions, applies identity and policy, assigns addresses, provides services such as CGNAT, and exchanges routes with the provider core. Kubernetes does not remove those responsibilities. It changes how the function is packaged, placed, upgraded, and observed.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Walk left to right. UE test workloads generate VLAN-tagged subscribers. The BNG StatefulSet owns dedicated VFIO devices and runs VPP with DPDK. FRR pods use Multus macvlan interfaces and exchange BGP with both BNG members. The upstream side uses 192.168.88.12 and .13, avoiding the previously assigned .250 and .251 addresses. Kubernetes handles lifecycle and management traffic; the forwarding path remains explicit.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as the demo setup. A subscriber first gets a session and address. The BNG classifies the VLAN and service, performs CGNAT, and forwards toward an FRR next hop. FRR receives subscriber and CGNAT reachability from the BNG and the default route from the upstream router. Return traffic only works when the upstream learns the translated prefix. This is why a ping is an end-to-end proof, not just an ICMP check.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strategic point. High-speed NICs, SR-IOV, DPDK, SmartNICs, and DPUs increasingly provide acceleration and isolation. At smaller edge sites, that can make separate hardware for each network function unnecessary. A shared Kubernetes cluster may host the vBNG, software routers, AAA, and observability. Be careful with the claim: consolidation is an option, not a universal prescription. Capacity, blast radius, and operational policy still decide the production design.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on what is proven. The charts lint and render. Both FRR pods received the new .12 and .13 addresses, reached the MikroTik gateway, and established BGP with both BNG pods. The remaining external step is to update MikroTik peer addresses before the final internet return-path test. Keep HA simple for this presentation: two placements, anti-affinity, and a recovery test. The deeper HA behavior is a separate engineering topic.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d4ec88af32c46dd"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fb6f199a254b42f6"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0cab5c41cf4a447f"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87f4787358074aec"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bf2858b79c8740c7"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413e95b1743340b8"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B306CAD-AA95-4032-BDAD-5DA339FCDD16}"/>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7843DC9D-2BDB-453B-9DB5-9747AEF040F2}"/>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F642F8EA-32B7-445F-9971-4A4199DD276D}"/>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05EBA84-8FA7-4282-B3E3-F12AF33B2C3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BA670E81-912D-4476-A39F-3886667C4CA9}"/>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AE430557-56B6-46A5-8F69-E3B5123F96D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28D073BA-E89F-40AA-A524-93D0164A59E9}"/>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12524E09-0BE1-4DA8-8449-375BDFA1926C}"/>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8F63CD9-08A9-49AC-A626-6ABBA8B1987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35B4B70-C830-47A6-87D8-BA925085C6C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ab4dad4b3f04cf8" /><Relationship Type="http://schemas.openxmlformats.org/officeDocument/2006/relationships/slideLayout" Target="/ppt/slideLayouts/slideLayout1.xml" Id="R97496ab6f5a248dc" /><Relationship Type="http://schemas.openxmlformats.org/officeDocument/2006/relationships/slideLayout" Target="/ppt/slideLayouts/slideLayout2.xml" Id="R886745a8f2b84dde" /><Relationship Type="http://schemas.openxmlformats.org/officeDocument/2006/relationships/slideLayout" Target="/ppt/slideLayouts/slideLayout3.xml" Id="R2f21591489d348c1" /><Relationship Type="http://schemas.openxmlformats.org/officeDocument/2006/relationships/slideLayout" Target="/ppt/slideLayouts/slideLayout4.xml" Id="R0b096217ade64c23" /><Relationship Type="http://schemas.openxmlformats.org/officeDocument/2006/relationships/slideLayout" Target="/ppt/slideLayouts/slideLayout5.xml" Id="R39a1383072214ebf" /><Relationship Type="http://schemas.openxmlformats.org/officeDocument/2006/relationships/slideLayout" Target="/ppt/slideLayouts/slideLayout6.xml" Id="R0b3e213e5fc249f3"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7496ab6f5a248dc"/>
    <p:sldLayoutId xmlns:r="http://schemas.openxmlformats.org/officeDocument/2006/relationships" id="2147483650" r:id="R886745a8f2b84dde"/>
    <p:sldLayoutId xmlns:r="http://schemas.openxmlformats.org/officeDocument/2006/relationships" id="2147483651" r:id="R2f21591489d348c1"/>
    <p:sldLayoutId xmlns:r="http://schemas.openxmlformats.org/officeDocument/2006/relationships" id="2147483652" r:id="R0b096217ade64c23"/>
    <p:sldLayoutId xmlns:r="http://schemas.openxmlformats.org/officeDocument/2006/relationships" id="2147483653" r:id="R39a1383072214ebf"/>
    <p:sldLayoutId xmlns:r="http://schemas.openxmlformats.org/officeDocument/2006/relationships" id="2147483654" r:id="R0b3e213e5fc249f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d31038a34869429b" /><Relationship Type="http://schemas.openxmlformats.org/officeDocument/2006/relationships/notesSlide" Target="/ppt/notesSlides/notesSlide1.xml" Id="R62301de2007a477a"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bc7098cdb7254579" /><Relationship Type="http://schemas.openxmlformats.org/officeDocument/2006/relationships/notesSlide" Target="/ppt/notesSlides/notesSlide2.xml" Id="Rea0deac1f746411d"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c1135c8c12bd4293" /><Relationship Type="http://schemas.openxmlformats.org/officeDocument/2006/relationships/notesSlide" Target="/ppt/notesSlides/notesSlide3.xml" Id="R3677a84d833d4784"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2a24622187ad432d" /><Relationship Type="http://schemas.openxmlformats.org/officeDocument/2006/relationships/notesSlide" Target="/ppt/notesSlides/notesSlide4.xml" Id="R09af4615c8db4375"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796827b3201d4702" /><Relationship Type="http://schemas.openxmlformats.org/officeDocument/2006/relationships/notesSlide" Target="/ppt/notesSlides/notesSlide5.xml" Id="R33b5f985c4fa40e2"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c1426f19338d472b" /><Relationship Type="http://schemas.openxmlformats.org/officeDocument/2006/relationships/notesSlide" Target="/ppt/notesSlides/notesSlide6.xml" Id="R4fd3f3944b0c4d62" /></Relationships>
</file>

<file path=ppt/slides/slide1.xml><?xml version="1.0" encoding="utf-8"?>
<p:sld xmlns:p="http://schemas.openxmlformats.org/presentationml/2006/main">
  <p:cSld>
    <p:bg>
      <p:bgPr>
        <a:solidFill xmlns:a="http://schemas.openxmlformats.org/drawingml/2006/main">
          <a:srgbClr val="071A2B"/>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7F781E14-4A37-4EC8-98F0-13ACC998BB6D}"/>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23D5D2"/>
          </a:solidFill>
          <a:ln xmlns:a="http://schemas.openxmlformats.org/drawingml/2006/main" w="0">
            <a:solidFill>
              <a:srgbClr val="23D5D2"/>
            </a:solidFill>
            <a:prstDash val="solid"/>
          </a:ln>
        </p:spPr>
      </p:sp>
      <p:sp>
        <p:nvSpPr>
          <p:cNvPr id="2" name="">
            <a:extLst xmlns:a="http://schemas.openxmlformats.org/drawingml/2006/main">
              <a:ext uri="{FF2B5EF4-FFF2-40B4-BE49-F238E27FC236}">
                <a16:creationId xmlns:a16="http://schemas.microsoft.com/office/drawing/2014/main" id="{39C845ED-5434-4ED5-A4BA-20BF36BC7BC7}"/>
              </a:ext>
            </a:extLst>
          </p:cNvPr>
          <p:cNvSpPr>
            <a:spLocks xmlns:a="http://schemas.openxmlformats.org/drawingml/2006/main" noGrp="1"/>
          </p:cNvSpPr>
          <p:nvPr/>
        </p:nvSpPr>
        <p:spPr>
          <a:xfrm xmlns:a="http://schemas.openxmlformats.org/drawingml/2006/main">
            <a:off x="7048500" y="685800"/>
            <a:ext cx="4476750" cy="4953000"/>
          </a:xfrm>
          <a:prstGeom xmlns:a="http://schemas.openxmlformats.org/drawingml/2006/main" prst="roundRect">
            <a:avLst>
              <a:gd name="adj" fmla="val 5106"/>
            </a:avLst>
          </a:prstGeom>
          <a:solidFill xmlns:a="http://schemas.openxmlformats.org/drawingml/2006/main">
            <a:srgbClr val="0E2B42"/>
          </a:solidFill>
          <a:ln xmlns:a="http://schemas.openxmlformats.org/drawingml/2006/main" w="9525">
            <a:solidFill>
              <a:srgbClr val="31536A"/>
            </a:solidFill>
            <a:prstDash val="solid"/>
          </a:ln>
        </p:spPr>
      </p:sp>
      <p:sp>
        <p:nvSpPr>
          <p:cNvPr id="3" name="">
            <a:extLst xmlns:a="http://schemas.openxmlformats.org/drawingml/2006/main">
              <a:ext uri="{FF2B5EF4-FFF2-40B4-BE49-F238E27FC236}">
                <a16:creationId xmlns:a16="http://schemas.microsoft.com/office/drawing/2014/main" id="{896CE5C2-F7DD-491E-9C00-C3099D808D90}"/>
              </a:ext>
            </a:extLst>
          </p:cNvPr>
          <p:cNvSpPr>
            <a:spLocks xmlns:a="http://schemas.openxmlformats.org/drawingml/2006/main" noGrp="1"/>
          </p:cNvSpPr>
          <p:nvPr/>
        </p:nvSpPr>
        <p:spPr>
          <a:xfrm xmlns:a="http://schemas.openxmlformats.org/drawingml/2006/main">
            <a:off x="7667625" y="1381125"/>
            <a:ext cx="3190875" cy="647700"/>
          </a:xfrm>
          <a:prstGeom xmlns:a="http://schemas.openxmlformats.org/drawingml/2006/main" prst="roundRect">
            <a:avLst>
              <a:gd name="adj" fmla="val 17647"/>
            </a:avLst>
          </a:prstGeom>
          <a:solidFill xmlns:a="http://schemas.openxmlformats.org/drawingml/2006/main">
            <a:srgbClr val="14384F"/>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982FE7A-EFA3-42C0-8A48-2E378AF13EC6}"/>
              </a:ext>
            </a:extLst>
          </p:cNvPr>
          <p:cNvSpPr>
            <a:spLocks xmlns:a="http://schemas.openxmlformats.org/drawingml/2006/main" noGrp="1"/>
          </p:cNvSpPr>
          <p:nvPr/>
        </p:nvSpPr>
        <p:spPr>
          <a:xfrm xmlns:a="http://schemas.openxmlformats.org/drawingml/2006/main">
            <a:off x="7953375" y="1562100"/>
            <a:ext cx="26193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1500" b="1">
                <a:solidFill>
                  <a:srgbClr val="F7FBFF"/>
                </a:solidFill>
              </a:defRPr>
            </a:defPPr>
          </a:lstStyle>
          <a:p xmlns:a="http://schemas.openxmlformats.org/drawingml/2006/main">
            <a:pPr algn="ctr">
              <a:defRPr sz="1500" b="1">
                <a:solidFill>
                  <a:srgbClr val="F7FBFF"/>
                </a:solidFill>
              </a:defRPr>
            </a:pPr>
            <a:r>
              <a:rPr sz="1500" b="1">
                <a:solidFill>
                  <a:srgbClr val="F7FBFF"/>
                </a:solidFill>
              </a:rPr>
              <a:t>Subscribers</a:t>
            </a:r>
          </a:p>
        </p:txBody>
      </p:sp>
      <p:sp>
        <p:nvSpPr>
          <p:cNvPr id="5" name="">
            <a:extLst xmlns:a="http://schemas.openxmlformats.org/drawingml/2006/main">
              <a:ext uri="{FF2B5EF4-FFF2-40B4-BE49-F238E27FC236}">
                <a16:creationId xmlns:a16="http://schemas.microsoft.com/office/drawing/2014/main" id="{ACF98C53-B97C-41A2-A491-CF87225D2610}"/>
              </a:ext>
            </a:extLst>
          </p:cNvPr>
          <p:cNvSpPr>
            <a:spLocks xmlns:a="http://schemas.openxmlformats.org/drawingml/2006/main" noGrp="1"/>
          </p:cNvSpPr>
          <p:nvPr/>
        </p:nvSpPr>
        <p:spPr>
          <a:xfrm xmlns:a="http://schemas.openxmlformats.org/drawingml/2006/main">
            <a:off x="9191625" y="2028825"/>
            <a:ext cx="38100" cy="352425"/>
          </a:xfrm>
          <a:prstGeom xmlns:a="http://schemas.openxmlformats.org/drawingml/2006/main" prst="rect">
            <a:avLst/>
          </a:prstGeom>
          <a:solidFill xmlns:a="http://schemas.openxmlformats.org/drawingml/2006/main">
            <a:srgbClr val="23D5D2"/>
          </a:solidFill>
          <a:ln xmlns:a="http://schemas.openxmlformats.org/drawingml/2006/main" w="0">
            <a:solidFill>
              <a:srgbClr val="23D5D2"/>
            </a:solidFill>
            <a:prstDash val="solid"/>
          </a:ln>
        </p:spPr>
      </p:sp>
      <p:sp>
        <p:nvSpPr>
          <p:cNvPr id="6" name="">
            <a:extLst xmlns:a="http://schemas.openxmlformats.org/drawingml/2006/main">
              <a:ext uri="{FF2B5EF4-FFF2-40B4-BE49-F238E27FC236}">
                <a16:creationId xmlns:a16="http://schemas.microsoft.com/office/drawing/2014/main" id="{7CBA46AC-BBE4-4B86-B4AB-AB12BD6A8652}"/>
              </a:ext>
            </a:extLst>
          </p:cNvPr>
          <p:cNvSpPr>
            <a:spLocks xmlns:a="http://schemas.openxmlformats.org/drawingml/2006/main" noGrp="1"/>
          </p:cNvSpPr>
          <p:nvPr/>
        </p:nvSpPr>
        <p:spPr>
          <a:xfrm xmlns:a="http://schemas.openxmlformats.org/drawingml/2006/main">
            <a:off x="7667625" y="2381250"/>
            <a:ext cx="3190875" cy="647700"/>
          </a:xfrm>
          <a:prstGeom xmlns:a="http://schemas.openxmlformats.org/drawingml/2006/main" prst="roundRect">
            <a:avLst>
              <a:gd name="adj" fmla="val 17647"/>
            </a:avLst>
          </a:prstGeom>
          <a:solidFill xmlns:a="http://schemas.openxmlformats.org/drawingml/2006/main">
            <a:srgbClr val="FF9D42"/>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F205AA90-F6CB-47E2-80F0-5739A870BCC3}"/>
              </a:ext>
            </a:extLst>
          </p:cNvPr>
          <p:cNvSpPr>
            <a:spLocks xmlns:a="http://schemas.openxmlformats.org/drawingml/2006/main" noGrp="1"/>
          </p:cNvSpPr>
          <p:nvPr/>
        </p:nvSpPr>
        <p:spPr>
          <a:xfrm xmlns:a="http://schemas.openxmlformats.org/drawingml/2006/main">
            <a:off x="7953375" y="2562225"/>
            <a:ext cx="26193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1500" b="1">
                <a:solidFill>
                  <a:srgbClr val="071A2B"/>
                </a:solidFill>
              </a:defRPr>
            </a:defPPr>
          </a:lstStyle>
          <a:p xmlns:a="http://schemas.openxmlformats.org/drawingml/2006/main">
            <a:pPr algn="ctr">
              <a:defRPr sz="1500" b="1">
                <a:solidFill>
                  <a:srgbClr val="071A2B"/>
                </a:solidFill>
              </a:defRPr>
            </a:pPr>
            <a:r>
              <a:rPr sz="1500" b="1">
                <a:solidFill>
                  <a:srgbClr val="071A2B"/>
                </a:solidFill>
              </a:rPr>
              <a:t>Kubernetes edge</a:t>
            </a:r>
          </a:p>
        </p:txBody>
      </p:sp>
      <p:sp>
        <p:nvSpPr>
          <p:cNvPr id="8" name="">
            <a:extLst xmlns:a="http://schemas.openxmlformats.org/drawingml/2006/main">
              <a:ext uri="{FF2B5EF4-FFF2-40B4-BE49-F238E27FC236}">
                <a16:creationId xmlns:a16="http://schemas.microsoft.com/office/drawing/2014/main" id="{B89F9FE8-5CF3-451E-94B4-2F29ACAC2A59}"/>
              </a:ext>
            </a:extLst>
          </p:cNvPr>
          <p:cNvSpPr>
            <a:spLocks xmlns:a="http://schemas.openxmlformats.org/drawingml/2006/main" noGrp="1"/>
          </p:cNvSpPr>
          <p:nvPr/>
        </p:nvSpPr>
        <p:spPr>
          <a:xfrm xmlns:a="http://schemas.openxmlformats.org/drawingml/2006/main">
            <a:off x="9191625" y="3028950"/>
            <a:ext cx="38100" cy="352425"/>
          </a:xfrm>
          <a:prstGeom xmlns:a="http://schemas.openxmlformats.org/drawingml/2006/main" prst="rect">
            <a:avLst/>
          </a:prstGeom>
          <a:solidFill xmlns:a="http://schemas.openxmlformats.org/drawingml/2006/main">
            <a:srgbClr val="23D5D2"/>
          </a:solidFill>
          <a:ln xmlns:a="http://schemas.openxmlformats.org/drawingml/2006/main" w="0">
            <a:solidFill>
              <a:srgbClr val="23D5D2"/>
            </a:solidFill>
            <a:prstDash val="solid"/>
          </a:ln>
        </p:spPr>
      </p:sp>
      <p:sp>
        <p:nvSpPr>
          <p:cNvPr id="9" name="">
            <a:extLst xmlns:a="http://schemas.openxmlformats.org/drawingml/2006/main">
              <a:ext uri="{FF2B5EF4-FFF2-40B4-BE49-F238E27FC236}">
                <a16:creationId xmlns:a16="http://schemas.microsoft.com/office/drawing/2014/main" id="{70AD722C-3CC6-4CB1-93FA-1BC2CEBA68C3}"/>
              </a:ext>
            </a:extLst>
          </p:cNvPr>
          <p:cNvSpPr>
            <a:spLocks xmlns:a="http://schemas.openxmlformats.org/drawingml/2006/main" noGrp="1"/>
          </p:cNvSpPr>
          <p:nvPr/>
        </p:nvSpPr>
        <p:spPr>
          <a:xfrm xmlns:a="http://schemas.openxmlformats.org/drawingml/2006/main">
            <a:off x="7667625" y="3381375"/>
            <a:ext cx="3190875" cy="647700"/>
          </a:xfrm>
          <a:prstGeom xmlns:a="http://schemas.openxmlformats.org/drawingml/2006/main" prst="roundRect">
            <a:avLst>
              <a:gd name="adj" fmla="val 17647"/>
            </a:avLst>
          </a:prstGeom>
          <a:solidFill xmlns:a="http://schemas.openxmlformats.org/drawingml/2006/main">
            <a:srgbClr val="14384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3B16B055-C46D-4E02-9ADC-31F6088544B7}"/>
              </a:ext>
            </a:extLst>
          </p:cNvPr>
          <p:cNvSpPr>
            <a:spLocks xmlns:a="http://schemas.openxmlformats.org/drawingml/2006/main" noGrp="1"/>
          </p:cNvSpPr>
          <p:nvPr/>
        </p:nvSpPr>
        <p:spPr>
          <a:xfrm xmlns:a="http://schemas.openxmlformats.org/drawingml/2006/main">
            <a:off x="7953375" y="3562350"/>
            <a:ext cx="26193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1500" b="1">
                <a:solidFill>
                  <a:srgbClr val="F7FBFF"/>
                </a:solidFill>
              </a:defRPr>
            </a:defPPr>
          </a:lstStyle>
          <a:p xmlns:a="http://schemas.openxmlformats.org/drawingml/2006/main">
            <a:pPr algn="ctr">
              <a:defRPr sz="1500" b="1">
                <a:solidFill>
                  <a:srgbClr val="F7FBFF"/>
                </a:solidFill>
              </a:defRPr>
            </a:pPr>
            <a:r>
              <a:rPr sz="1500" b="1">
                <a:solidFill>
                  <a:srgbClr val="F7FBFF"/>
                </a:solidFill>
              </a:rPr>
              <a:t>vBNG + routing</a:t>
            </a:r>
          </a:p>
        </p:txBody>
      </p:sp>
      <p:sp>
        <p:nvSpPr>
          <p:cNvPr id="11" name="">
            <a:extLst xmlns:a="http://schemas.openxmlformats.org/drawingml/2006/main">
              <a:ext uri="{FF2B5EF4-FFF2-40B4-BE49-F238E27FC236}">
                <a16:creationId xmlns:a16="http://schemas.microsoft.com/office/drawing/2014/main" id="{F39E45DF-AA2E-4862-8C71-232AC9AE4968}"/>
              </a:ext>
            </a:extLst>
          </p:cNvPr>
          <p:cNvSpPr>
            <a:spLocks xmlns:a="http://schemas.openxmlformats.org/drawingml/2006/main" noGrp="1"/>
          </p:cNvSpPr>
          <p:nvPr/>
        </p:nvSpPr>
        <p:spPr>
          <a:xfrm xmlns:a="http://schemas.openxmlformats.org/drawingml/2006/main">
            <a:off x="9191625" y="4029075"/>
            <a:ext cx="38100" cy="352425"/>
          </a:xfrm>
          <a:prstGeom xmlns:a="http://schemas.openxmlformats.org/drawingml/2006/main" prst="rect">
            <a:avLst/>
          </a:prstGeom>
          <a:solidFill xmlns:a="http://schemas.openxmlformats.org/drawingml/2006/main">
            <a:srgbClr val="23D5D2"/>
          </a:solidFill>
          <a:ln xmlns:a="http://schemas.openxmlformats.org/drawingml/2006/main" w="0">
            <a:solidFill>
              <a:srgbClr val="23D5D2"/>
            </a:solidFill>
            <a:prstDash val="solid"/>
          </a:ln>
        </p:spPr>
      </p:sp>
      <p:sp>
        <p:nvSpPr>
          <p:cNvPr id="12" name="">
            <a:extLst xmlns:a="http://schemas.openxmlformats.org/drawingml/2006/main">
              <a:ext uri="{FF2B5EF4-FFF2-40B4-BE49-F238E27FC236}">
                <a16:creationId xmlns:a16="http://schemas.microsoft.com/office/drawing/2014/main" id="{9C46FF8B-E913-4EA3-9A78-DD60EEC49A92}"/>
              </a:ext>
            </a:extLst>
          </p:cNvPr>
          <p:cNvSpPr>
            <a:spLocks xmlns:a="http://schemas.openxmlformats.org/drawingml/2006/main" noGrp="1"/>
          </p:cNvSpPr>
          <p:nvPr/>
        </p:nvSpPr>
        <p:spPr>
          <a:xfrm xmlns:a="http://schemas.openxmlformats.org/drawingml/2006/main">
            <a:off x="7667625" y="4381500"/>
            <a:ext cx="3190875" cy="647700"/>
          </a:xfrm>
          <a:prstGeom xmlns:a="http://schemas.openxmlformats.org/drawingml/2006/main" prst="roundRect">
            <a:avLst>
              <a:gd name="adj" fmla="val 17647"/>
            </a:avLst>
          </a:prstGeom>
          <a:solidFill xmlns:a="http://schemas.openxmlformats.org/drawingml/2006/main">
            <a:srgbClr val="14384F"/>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1CDEA71D-34DB-4B2E-830F-BF2DDDF810E3}"/>
              </a:ext>
            </a:extLst>
          </p:cNvPr>
          <p:cNvSpPr>
            <a:spLocks xmlns:a="http://schemas.openxmlformats.org/drawingml/2006/main" noGrp="1"/>
          </p:cNvSpPr>
          <p:nvPr/>
        </p:nvSpPr>
        <p:spPr>
          <a:xfrm xmlns:a="http://schemas.openxmlformats.org/drawingml/2006/main">
            <a:off x="7953375" y="4562475"/>
            <a:ext cx="26193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1500" b="1">
                <a:solidFill>
                  <a:srgbClr val="F7FBFF"/>
                </a:solidFill>
              </a:defRPr>
            </a:defPPr>
          </a:lstStyle>
          <a:p xmlns:a="http://schemas.openxmlformats.org/drawingml/2006/main">
            <a:pPr algn="ctr">
              <a:defRPr sz="1500" b="1">
                <a:solidFill>
                  <a:srgbClr val="F7FBFF"/>
                </a:solidFill>
              </a:defRPr>
            </a:pPr>
            <a:r>
              <a:rPr sz="1500" b="1">
                <a:solidFill>
                  <a:srgbClr val="F7FBFF"/>
                </a:solidFill>
              </a:rPr>
              <a:t>Internet services</a:t>
            </a:r>
          </a:p>
        </p:txBody>
      </p:sp>
      <p:sp>
        <p:nvSpPr>
          <p:cNvPr id="14" name="">
            <a:extLst xmlns:a="http://schemas.openxmlformats.org/drawingml/2006/main">
              <a:ext uri="{FF2B5EF4-FFF2-40B4-BE49-F238E27FC236}">
                <a16:creationId xmlns:a16="http://schemas.microsoft.com/office/drawing/2014/main" id="{F49CF0B3-798F-4D03-8854-ABE54742D27D}"/>
              </a:ext>
            </a:extLst>
          </p:cNvPr>
          <p:cNvSpPr>
            <a:spLocks xmlns:a="http://schemas.openxmlformats.org/drawingml/2006/main" noGrp="1"/>
          </p:cNvSpPr>
          <p:nvPr/>
        </p:nvSpPr>
        <p:spPr>
          <a:xfrm xmlns:a="http://schemas.openxmlformats.org/drawingml/2006/main">
            <a:off x="685800" y="1123950"/>
            <a:ext cx="57150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3600" b="1">
                <a:solidFill>
                  <a:srgbClr val="F7FBFF"/>
                </a:solidFill>
              </a:defRPr>
            </a:defPPr>
          </a:lstStyle>
          <a:p xmlns:a="http://schemas.openxmlformats.org/drawingml/2006/main">
            <a:pPr algn="l">
              <a:defRPr sz="3600" b="1">
                <a:solidFill>
                  <a:srgbClr val="F7FBFF"/>
                </a:solidFill>
              </a:defRPr>
            </a:pPr>
            <a:r>
              <a:rPr sz="3600" b="1">
                <a:solidFill>
                  <a:srgbClr val="F7FBFF"/>
                </a:solidFill>
              </a:rPr>
              <a:t>Cloud-Native</a:t>
            </a:r>
          </a:p>
          <a:p xmlns:a="http://schemas.openxmlformats.org/drawingml/2006/main">
            <a:pPr algn="l">
              <a:defRPr sz="3600" b="1">
                <a:solidFill>
                  <a:srgbClr val="F7FBFF"/>
                </a:solidFill>
              </a:defRPr>
            </a:pPr>
            <a:r>
              <a:rPr sz="3600" b="1">
                <a:solidFill>
                  <a:srgbClr val="F7FBFF"/>
                </a:solidFill>
              </a:rPr>
              <a:t>Broadband Edge</a:t>
            </a:r>
          </a:p>
        </p:txBody>
      </p:sp>
      <p:sp>
        <p:nvSpPr>
          <p:cNvPr id="15" name="">
            <a:extLst xmlns:a="http://schemas.openxmlformats.org/drawingml/2006/main">
              <a:ext uri="{FF2B5EF4-FFF2-40B4-BE49-F238E27FC236}">
                <a16:creationId xmlns:a16="http://schemas.microsoft.com/office/drawing/2014/main" id="{62D2C13B-CD79-495F-A3FA-3FA1228824FF}"/>
              </a:ext>
            </a:extLst>
          </p:cNvPr>
          <p:cNvSpPr>
            <a:spLocks xmlns:a="http://schemas.openxmlformats.org/drawingml/2006/main" noGrp="1"/>
          </p:cNvSpPr>
          <p:nvPr/>
        </p:nvSpPr>
        <p:spPr>
          <a:xfrm xmlns:a="http://schemas.openxmlformats.org/drawingml/2006/main">
            <a:off x="685800" y="2743200"/>
            <a:ext cx="5619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875" b="1">
                <a:solidFill>
                  <a:srgbClr val="23D5D2"/>
                </a:solidFill>
              </a:defRPr>
            </a:defPPr>
          </a:lstStyle>
          <a:p xmlns:a="http://schemas.openxmlformats.org/drawingml/2006/main">
            <a:pPr algn="l">
              <a:defRPr sz="1875" b="1">
                <a:solidFill>
                  <a:srgbClr val="23D5D2"/>
                </a:solidFill>
              </a:defRPr>
            </a:pPr>
            <a:r>
              <a:rPr sz="1875" b="1">
                <a:solidFill>
                  <a:srgbClr val="23D5D2"/>
                </a:solidFill>
              </a:rPr>
              <a:t>Deploying a high-performance vBNG on Kubernetes</a:t>
            </a:r>
          </a:p>
        </p:txBody>
      </p:sp>
      <p:sp>
        <p:nvSpPr>
          <p:cNvPr id="16" name="">
            <a:extLst xmlns:a="http://schemas.openxmlformats.org/drawingml/2006/main">
              <a:ext uri="{FF2B5EF4-FFF2-40B4-BE49-F238E27FC236}">
                <a16:creationId xmlns:a16="http://schemas.microsoft.com/office/drawing/2014/main" id="{FE97397D-42F8-4E64-A08F-7C2607189DA7}"/>
              </a:ext>
            </a:extLst>
          </p:cNvPr>
          <p:cNvSpPr>
            <a:spLocks xmlns:a="http://schemas.openxmlformats.org/drawingml/2006/main" noGrp="1"/>
          </p:cNvSpPr>
          <p:nvPr/>
        </p:nvSpPr>
        <p:spPr>
          <a:xfrm xmlns:a="http://schemas.openxmlformats.org/drawingml/2006/main">
            <a:off x="685800" y="3638550"/>
            <a:ext cx="5429250" cy="933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500" b="0">
                <a:solidFill>
                  <a:srgbClr val="A9C1D2"/>
                </a:solidFill>
              </a:defRPr>
            </a:defPPr>
          </a:lstStyle>
          <a:p xmlns:a="http://schemas.openxmlformats.org/drawingml/2006/main">
            <a:pPr algn="l">
              <a:defRPr sz="1500" b="0">
                <a:solidFill>
                  <a:srgbClr val="A9C1D2"/>
                </a:solidFill>
              </a:defRPr>
            </a:pPr>
            <a:r>
              <a:rPr sz="1500" b="0">
                <a:solidFill>
                  <a:srgbClr val="A9C1D2"/>
                </a:solidFill>
              </a:rPr>
              <a:t>A practical 10-minute deployment story: DPDK data plane, BGP routing, CGNAT, and repeatable Helm operations.</a:t>
            </a:r>
          </a:p>
        </p:txBody>
      </p:sp>
      <p:sp>
        <p:nvSpPr>
          <p:cNvPr id="17" name="">
            <a:extLst xmlns:a="http://schemas.openxmlformats.org/drawingml/2006/main">
              <a:ext uri="{FF2B5EF4-FFF2-40B4-BE49-F238E27FC236}">
                <a16:creationId xmlns:a16="http://schemas.microsoft.com/office/drawing/2014/main" id="{1E0B2C45-CFAB-4ACD-8733-488AD8D53A44}"/>
              </a:ext>
            </a:extLst>
          </p:cNvPr>
          <p:cNvSpPr>
            <a:spLocks xmlns:a="http://schemas.openxmlformats.org/drawingml/2006/main" noGrp="1"/>
          </p:cNvSpPr>
          <p:nvPr/>
        </p:nvSpPr>
        <p:spPr>
          <a:xfrm xmlns:a="http://schemas.openxmlformats.org/drawingml/2006/main">
            <a:off x="685800" y="4953000"/>
            <a:ext cx="1428750" cy="323850"/>
          </a:xfrm>
          <a:prstGeom xmlns:a="http://schemas.openxmlformats.org/drawingml/2006/main" prst="roundRect">
            <a:avLst>
              <a:gd name="adj" fmla="val 50000"/>
            </a:avLst>
          </a:prstGeom>
          <a:solidFill xmlns:a="http://schemas.openxmlformats.org/drawingml/2006/main">
            <a:srgbClr val="0E2B42"/>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CB54DF6B-0163-47CF-BC51-E9B57F25FA3C}"/>
              </a:ext>
            </a:extLst>
          </p:cNvPr>
          <p:cNvSpPr>
            <a:spLocks xmlns:a="http://schemas.openxmlformats.org/drawingml/2006/main" noGrp="1"/>
          </p:cNvSpPr>
          <p:nvPr/>
        </p:nvSpPr>
        <p:spPr>
          <a:xfrm xmlns:a="http://schemas.openxmlformats.org/drawingml/2006/main">
            <a:off x="800100" y="5019675"/>
            <a:ext cx="12001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975" b="1">
                <a:solidFill>
                  <a:srgbClr val="F7FBFF"/>
                </a:solidFill>
              </a:defRPr>
            </a:defPPr>
          </a:lstStyle>
          <a:p xmlns:a="http://schemas.openxmlformats.org/drawingml/2006/main">
            <a:pPr algn="ctr">
              <a:defRPr sz="975" b="1">
                <a:solidFill>
                  <a:srgbClr val="F7FBFF"/>
                </a:solidFill>
              </a:defRPr>
            </a:pPr>
            <a:r>
              <a:rPr sz="975" b="1">
                <a:solidFill>
                  <a:srgbClr val="F7FBFF"/>
                </a:solidFill>
              </a:rPr>
              <a:t>KUBERNETES</a:t>
            </a:r>
          </a:p>
        </p:txBody>
      </p:sp>
      <p:sp>
        <p:nvSpPr>
          <p:cNvPr id="19" name="">
            <a:extLst xmlns:a="http://schemas.openxmlformats.org/drawingml/2006/main">
              <a:ext uri="{FF2B5EF4-FFF2-40B4-BE49-F238E27FC236}">
                <a16:creationId xmlns:a16="http://schemas.microsoft.com/office/drawing/2014/main" id="{1F693526-2EAE-49EE-9DC4-C2A8D0861DFC}"/>
              </a:ext>
            </a:extLst>
          </p:cNvPr>
          <p:cNvSpPr>
            <a:spLocks xmlns:a="http://schemas.openxmlformats.org/drawingml/2006/main" noGrp="1"/>
          </p:cNvSpPr>
          <p:nvPr/>
        </p:nvSpPr>
        <p:spPr>
          <a:xfrm xmlns:a="http://schemas.openxmlformats.org/drawingml/2006/main">
            <a:off x="2247900" y="4953000"/>
            <a:ext cx="1428750" cy="323850"/>
          </a:xfrm>
          <a:prstGeom xmlns:a="http://schemas.openxmlformats.org/drawingml/2006/main" prst="roundRect">
            <a:avLst>
              <a:gd name="adj" fmla="val 50000"/>
            </a:avLst>
          </a:prstGeom>
          <a:solidFill xmlns:a="http://schemas.openxmlformats.org/drawingml/2006/main">
            <a:srgbClr val="0E2B42"/>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BFECE7AF-8ADE-4998-B9FE-168B329E19C9}"/>
              </a:ext>
            </a:extLst>
          </p:cNvPr>
          <p:cNvSpPr>
            <a:spLocks xmlns:a="http://schemas.openxmlformats.org/drawingml/2006/main" noGrp="1"/>
          </p:cNvSpPr>
          <p:nvPr/>
        </p:nvSpPr>
        <p:spPr>
          <a:xfrm xmlns:a="http://schemas.openxmlformats.org/drawingml/2006/main">
            <a:off x="2362200" y="5019675"/>
            <a:ext cx="12001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975" b="1">
                <a:solidFill>
                  <a:srgbClr val="F7FBFF"/>
                </a:solidFill>
              </a:defRPr>
            </a:defPPr>
          </a:lstStyle>
          <a:p xmlns:a="http://schemas.openxmlformats.org/drawingml/2006/main">
            <a:pPr algn="ctr">
              <a:defRPr sz="975" b="1">
                <a:solidFill>
                  <a:srgbClr val="F7FBFF"/>
                </a:solidFill>
              </a:defRPr>
            </a:pPr>
            <a:r>
              <a:rPr sz="975" b="1">
                <a:solidFill>
                  <a:srgbClr val="F7FBFF"/>
                </a:solidFill>
              </a:rPr>
              <a:t>DPDK / VPP</a:t>
            </a:r>
          </a:p>
        </p:txBody>
      </p:sp>
      <p:sp>
        <p:nvSpPr>
          <p:cNvPr id="21" name="">
            <a:extLst xmlns:a="http://schemas.openxmlformats.org/drawingml/2006/main">
              <a:ext uri="{FF2B5EF4-FFF2-40B4-BE49-F238E27FC236}">
                <a16:creationId xmlns:a16="http://schemas.microsoft.com/office/drawing/2014/main" id="{D658371D-16FD-406A-A22C-4B4E9F76310B}"/>
              </a:ext>
            </a:extLst>
          </p:cNvPr>
          <p:cNvSpPr>
            <a:spLocks xmlns:a="http://schemas.openxmlformats.org/drawingml/2006/main" noGrp="1"/>
          </p:cNvSpPr>
          <p:nvPr/>
        </p:nvSpPr>
        <p:spPr>
          <a:xfrm xmlns:a="http://schemas.openxmlformats.org/drawingml/2006/main">
            <a:off x="3810000" y="4953000"/>
            <a:ext cx="1000125" cy="323850"/>
          </a:xfrm>
          <a:prstGeom xmlns:a="http://schemas.openxmlformats.org/drawingml/2006/main" prst="roundRect">
            <a:avLst>
              <a:gd name="adj" fmla="val 50000"/>
            </a:avLst>
          </a:prstGeom>
          <a:solidFill xmlns:a="http://schemas.openxmlformats.org/drawingml/2006/main">
            <a:srgbClr val="FF9D42"/>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178D2B73-CDC6-45C7-A39E-B2E0520BF469}"/>
              </a:ext>
            </a:extLst>
          </p:cNvPr>
          <p:cNvSpPr>
            <a:spLocks xmlns:a="http://schemas.openxmlformats.org/drawingml/2006/main" noGrp="1"/>
          </p:cNvSpPr>
          <p:nvPr/>
        </p:nvSpPr>
        <p:spPr>
          <a:xfrm xmlns:a="http://schemas.openxmlformats.org/drawingml/2006/main">
            <a:off x="3924300" y="5019675"/>
            <a:ext cx="7715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975" b="1">
                <a:solidFill>
                  <a:srgbClr val="071A2B"/>
                </a:solidFill>
              </a:defRPr>
            </a:defPPr>
          </a:lstStyle>
          <a:p xmlns:a="http://schemas.openxmlformats.org/drawingml/2006/main">
            <a:pPr algn="ctr">
              <a:defRPr sz="975" b="1">
                <a:solidFill>
                  <a:srgbClr val="071A2B"/>
                </a:solidFill>
              </a:defRPr>
            </a:pPr>
            <a:r>
              <a:rPr sz="975" b="1">
                <a:solidFill>
                  <a:srgbClr val="071A2B"/>
                </a:solidFill>
              </a:rPr>
              <a:t>HELM</a:t>
            </a:r>
          </a:p>
        </p:txBody>
      </p:sp>
      <p:sp>
        <p:nvSpPr>
          <p:cNvPr id="23" name="">
            <a:extLst xmlns:a="http://schemas.openxmlformats.org/drawingml/2006/main">
              <a:ext uri="{FF2B5EF4-FFF2-40B4-BE49-F238E27FC236}">
                <a16:creationId xmlns:a16="http://schemas.microsoft.com/office/drawing/2014/main" id="{F1F69E3B-E306-4B0C-B3BF-7A6C931E3702}"/>
              </a:ext>
            </a:extLst>
          </p:cNvPr>
          <p:cNvSpPr>
            <a:spLocks xmlns:a="http://schemas.openxmlformats.org/drawingml/2006/main" noGrp="1"/>
          </p:cNvSpPr>
          <p:nvPr/>
        </p:nvSpPr>
        <p:spPr>
          <a:xfrm xmlns:a="http://schemas.openxmlformats.org/drawingml/2006/main">
            <a:off x="685800" y="590550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050" b="0">
                <a:solidFill>
                  <a:srgbClr val="A9C1D2"/>
                </a:solidFill>
              </a:defRPr>
            </a:defPPr>
          </a:lstStyle>
          <a:p xmlns:a="http://schemas.openxmlformats.org/drawingml/2006/main">
            <a:pPr algn="l">
              <a:defRPr sz="1050" b="0">
                <a:solidFill>
                  <a:srgbClr val="A9C1D2"/>
                </a:solidFill>
              </a:defRPr>
            </a:pPr>
            <a:r>
              <a:rPr sz="1050" b="0">
                <a:solidFill>
                  <a:srgbClr val="A9C1D2"/>
                </a:solidFill>
              </a:rPr>
              <a:t>Presented by Christopher Adigun • October 2026</a:t>
            </a:r>
          </a:p>
        </p:txBody>
      </p:sp>
      <p:sp>
        <p:nvSpPr>
          <p:cNvPr id="24" name="">
            <a:extLst xmlns:a="http://schemas.openxmlformats.org/drawingml/2006/main">
              <a:ext uri="{FF2B5EF4-FFF2-40B4-BE49-F238E27FC236}">
                <a16:creationId xmlns:a16="http://schemas.microsoft.com/office/drawing/2014/main" id="{D366E2E0-9D72-4FDF-85C5-55B53ECFAB3F}"/>
              </a:ext>
            </a:extLst>
          </p:cNvPr>
          <p:cNvSpPr>
            <a:spLocks xmlns:a="http://schemas.openxmlformats.org/drawingml/2006/main" noGrp="1"/>
          </p:cNvSpPr>
          <p:nvPr/>
        </p:nvSpPr>
        <p:spPr>
          <a:xfrm xmlns:a="http://schemas.openxmlformats.org/drawingml/2006/main">
            <a:off x="685800" y="6410325"/>
            <a:ext cx="10820400" cy="9525"/>
          </a:xfrm>
          <a:prstGeom xmlns:a="http://schemas.openxmlformats.org/drawingml/2006/main" prst="rect">
            <a:avLst/>
          </a:prstGeom>
          <a:solidFill xmlns:a="http://schemas.openxmlformats.org/drawingml/2006/main">
            <a:srgbClr val="29485D"/>
          </a:solidFill>
          <a:ln xmlns:a="http://schemas.openxmlformats.org/drawingml/2006/main" w="0">
            <a:solidFill>
              <a:srgbClr val="29485D"/>
            </a:solidFill>
            <a:prstDash val="solid"/>
          </a:ln>
        </p:spPr>
      </p:sp>
      <p:sp>
        <p:nvSpPr>
          <p:cNvPr id="25" name="">
            <a:extLst xmlns:a="http://schemas.openxmlformats.org/drawingml/2006/main">
              <a:ext uri="{FF2B5EF4-FFF2-40B4-BE49-F238E27FC236}">
                <a16:creationId xmlns:a16="http://schemas.microsoft.com/office/drawing/2014/main" id="{59A66930-BC11-426E-ABCC-4D67B88E7C75}"/>
              </a:ext>
            </a:extLst>
          </p:cNvPr>
          <p:cNvSpPr>
            <a:spLocks xmlns:a="http://schemas.openxmlformats.org/drawingml/2006/main" noGrp="1"/>
          </p:cNvSpPr>
          <p:nvPr/>
        </p:nvSpPr>
        <p:spPr>
          <a:xfrm xmlns:a="http://schemas.openxmlformats.org/drawingml/2006/main">
            <a:off x="685800" y="6477000"/>
            <a:ext cx="9525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675" b="0">
                <a:solidFill>
                  <a:srgbClr val="A9C1D2"/>
                </a:solidFill>
              </a:defRPr>
            </a:defPPr>
          </a:lstStyle>
          <a:p xmlns:a="http://schemas.openxmlformats.org/drawingml/2006/main">
            <a:r>
              <a:t/>
            </a:r>
          </a:p>
        </p:txBody>
      </p:sp>
      <p:sp>
        <p:nvSpPr>
          <p:cNvPr id="26" name="">
            <a:extLst xmlns:a="http://schemas.openxmlformats.org/drawingml/2006/main">
              <a:ext uri="{FF2B5EF4-FFF2-40B4-BE49-F238E27FC236}">
                <a16:creationId xmlns:a16="http://schemas.microsoft.com/office/drawing/2014/main" id="{45D90558-7BCB-4D92-BB9B-D0BB903F3C60}"/>
              </a:ext>
            </a:extLst>
          </p:cNvPr>
          <p:cNvSpPr>
            <a:spLocks xmlns:a="http://schemas.openxmlformats.org/drawingml/2006/main" noGrp="1"/>
          </p:cNvSpPr>
          <p:nvPr/>
        </p:nvSpPr>
        <p:spPr>
          <a:xfrm xmlns:a="http://schemas.openxmlformats.org/drawingml/2006/main">
            <a:off x="10953750" y="6448425"/>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r">
              <a:defRPr sz="825" b="1">
                <a:solidFill>
                  <a:srgbClr val="23D5D2"/>
                </a:solidFill>
              </a:defRPr>
            </a:defPPr>
          </a:lstStyle>
          <a:p xmlns:a="http://schemas.openxmlformats.org/drawingml/2006/main">
            <a:pPr algn="r">
              <a:defRPr sz="825" b="1">
                <a:solidFill>
                  <a:srgbClr val="23D5D2"/>
                </a:solidFill>
              </a:defRPr>
            </a:pPr>
            <a:r>
              <a:rPr sz="825" b="1">
                <a:solidFill>
                  <a:srgbClr val="23D5D2"/>
                </a:solidFill>
              </a:rPr>
              <a:t>01</a:t>
            </a:r>
          </a:p>
        </p:txBody>
      </p:sp>
    </p:spTree>
    <p:extLst>
      <p:ext uri="{BB962C8B-B14F-4D97-AF65-F5344CB8AC3E}">
        <p14:creationId xmlns:p14="http://schemas.microsoft.com/office/powerpoint/2010/main" val="710938844"/>
      </p:ext>
    </p:extLst>
  </p:cSld>
</p:sld>
</file>

<file path=ppt/slides/slide2.xml><?xml version="1.0" encoding="utf-8"?>
<p:sld xmlns:p="http://schemas.openxmlformats.org/presentationml/2006/main">
  <p:cSld>
    <p:bg>
      <p:bgPr>
        <a:solidFill xmlns:a="http://schemas.openxmlformats.org/drawingml/2006/main">
          <a:srgbClr val="071A2B"/>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FE91AA9D-4130-4113-8D70-7C5BEF0FFB9D}"/>
              </a:ext>
            </a:extLst>
          </p:cNvPr>
          <p:cNvSpPr>
            <a:spLocks xmlns:a="http://schemas.openxmlformats.org/drawingml/2006/main" noGrp="1"/>
          </p:cNvSpPr>
          <p:nvPr/>
        </p:nvSpPr>
        <p:spPr>
          <a:xfrm xmlns:a="http://schemas.openxmlformats.org/drawingml/2006/main">
            <a:off x="685800" y="45720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975" b="1">
                <a:solidFill>
                  <a:srgbClr val="23D5D2"/>
                </a:solidFill>
              </a:defRPr>
            </a:defPPr>
          </a:lstStyle>
          <a:p xmlns:a="http://schemas.openxmlformats.org/drawingml/2006/main">
            <a:pPr algn="l">
              <a:defRPr sz="975" b="1">
                <a:solidFill>
                  <a:srgbClr val="23D5D2"/>
                </a:solidFill>
              </a:defRPr>
            </a:pPr>
            <a:r>
              <a:rPr sz="975" b="1">
                <a:solidFill>
                  <a:srgbClr val="23D5D2"/>
                </a:solidFill>
              </a:rPr>
              <a:t>1 • THE ROLE</a:t>
            </a:r>
          </a:p>
        </p:txBody>
      </p:sp>
      <p:sp>
        <p:nvSpPr>
          <p:cNvPr id="2" name="">
            <a:extLst xmlns:a="http://schemas.openxmlformats.org/drawingml/2006/main">
              <a:ext uri="{FF2B5EF4-FFF2-40B4-BE49-F238E27FC236}">
                <a16:creationId xmlns:a16="http://schemas.microsoft.com/office/drawing/2014/main" id="{4A9369A0-BA94-40BF-ABFF-B7F64EEB96ED}"/>
              </a:ext>
            </a:extLst>
          </p:cNvPr>
          <p:cNvSpPr>
            <a:spLocks xmlns:a="http://schemas.openxmlformats.org/drawingml/2006/main" noGrp="1"/>
          </p:cNvSpPr>
          <p:nvPr/>
        </p:nvSpPr>
        <p:spPr>
          <a:xfrm xmlns:a="http://schemas.openxmlformats.org/drawingml/2006/main">
            <a:off x="685800" y="819150"/>
            <a:ext cx="108204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2550" b="1">
                <a:solidFill>
                  <a:srgbClr val="F7FBFF"/>
                </a:solidFill>
              </a:defRPr>
            </a:defPPr>
          </a:lstStyle>
          <a:p xmlns:a="http://schemas.openxmlformats.org/drawingml/2006/main">
            <a:pPr algn="l">
              <a:defRPr sz="2550" b="1">
                <a:solidFill>
                  <a:srgbClr val="F7FBFF"/>
                </a:solidFill>
              </a:defRPr>
            </a:pPr>
            <a:r>
              <a:rPr sz="2550" b="1">
                <a:solidFill>
                  <a:srgbClr val="F7FBFF"/>
                </a:solidFill>
              </a:rPr>
              <a:t>The BNG is the subscriber edge control point</a:t>
            </a:r>
          </a:p>
        </p:txBody>
      </p:sp>
      <p:sp>
        <p:nvSpPr>
          <p:cNvPr id="3" name="">
            <a:extLst xmlns:a="http://schemas.openxmlformats.org/drawingml/2006/main">
              <a:ext uri="{FF2B5EF4-FFF2-40B4-BE49-F238E27FC236}">
                <a16:creationId xmlns:a16="http://schemas.microsoft.com/office/drawing/2014/main" id="{4FAC5BAE-616B-4B1F-B9D2-72FEEAE57A7A}"/>
              </a:ext>
            </a:extLst>
          </p:cNvPr>
          <p:cNvSpPr>
            <a:spLocks xmlns:a="http://schemas.openxmlformats.org/drawingml/2006/main" noGrp="1"/>
          </p:cNvSpPr>
          <p:nvPr/>
        </p:nvSpPr>
        <p:spPr>
          <a:xfrm xmlns:a="http://schemas.openxmlformats.org/drawingml/2006/main">
            <a:off x="685800" y="1457325"/>
            <a:ext cx="10287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350" b="0">
                <a:solidFill>
                  <a:srgbClr val="A9C1D2"/>
                </a:solidFill>
              </a:defRPr>
            </a:defPPr>
          </a:lstStyle>
          <a:p xmlns:a="http://schemas.openxmlformats.org/drawingml/2006/main">
            <a:pPr algn="l">
              <a:defRPr sz="1350" b="0">
                <a:solidFill>
                  <a:srgbClr val="A9C1D2"/>
                </a:solidFill>
              </a:defRPr>
            </a:pPr>
            <a:r>
              <a:rPr sz="1350" b="0">
                <a:solidFill>
                  <a:srgbClr val="A9C1D2"/>
                </a:solidFill>
              </a:rPr>
              <a:t>It joins subscriber access, policy, addressing, routing, and internet reachability.</a:t>
            </a:r>
          </a:p>
        </p:txBody>
      </p:sp>
      <p:sp>
        <p:nvSpPr>
          <p:cNvPr id="4" name="">
            <a:extLst xmlns:a="http://schemas.openxmlformats.org/drawingml/2006/main">
              <a:ext uri="{FF2B5EF4-FFF2-40B4-BE49-F238E27FC236}">
                <a16:creationId xmlns:a16="http://schemas.microsoft.com/office/drawing/2014/main" id="{55BD8822-1651-46B6-BC01-F2466B48CCE5}"/>
              </a:ext>
            </a:extLst>
          </p:cNvPr>
          <p:cNvSpPr>
            <a:spLocks xmlns:a="http://schemas.openxmlformats.org/drawingml/2006/main" noGrp="1"/>
          </p:cNvSpPr>
          <p:nvPr/>
        </p:nvSpPr>
        <p:spPr>
          <a:xfrm xmlns:a="http://schemas.openxmlformats.org/drawingml/2006/main">
            <a:off x="685800" y="2333625"/>
            <a:ext cx="2419350" cy="2238375"/>
          </a:xfrm>
          <a:prstGeom xmlns:a="http://schemas.openxmlformats.org/drawingml/2006/main" prst="roundRect">
            <a:avLst>
              <a:gd name="adj" fmla="val 6809"/>
            </a:avLst>
          </a:prstGeom>
          <a:solidFill xmlns:a="http://schemas.openxmlformats.org/drawingml/2006/main">
            <a:srgbClr val="0E2B42"/>
          </a:solidFill>
          <a:ln xmlns:a="http://schemas.openxmlformats.org/drawingml/2006/main" w="9525">
            <a:solidFill>
              <a:srgbClr val="31536A"/>
            </a:solidFill>
            <a:prstDash val="solid"/>
          </a:ln>
        </p:spPr>
      </p:sp>
      <p:sp>
        <p:nvSpPr>
          <p:cNvPr id="5" name="">
            <a:extLst xmlns:a="http://schemas.openxmlformats.org/drawingml/2006/main">
              <a:ext uri="{FF2B5EF4-FFF2-40B4-BE49-F238E27FC236}">
                <a16:creationId xmlns:a16="http://schemas.microsoft.com/office/drawing/2014/main" id="{BDE39197-32D1-4FF5-9BBF-DC7D43FFA181}"/>
              </a:ext>
            </a:extLst>
          </p:cNvPr>
          <p:cNvSpPr>
            <a:spLocks xmlns:a="http://schemas.openxmlformats.org/drawingml/2006/main" noGrp="1"/>
          </p:cNvSpPr>
          <p:nvPr/>
        </p:nvSpPr>
        <p:spPr>
          <a:xfrm xmlns:a="http://schemas.openxmlformats.org/drawingml/2006/main">
            <a:off x="857250" y="2505075"/>
            <a:ext cx="400050" cy="323850"/>
          </a:xfrm>
          <a:prstGeom xmlns:a="http://schemas.openxmlformats.org/drawingml/2006/main" prst="roundRect">
            <a:avLst>
              <a:gd name="adj" fmla="val 50000"/>
            </a:avLst>
          </a:prstGeom>
          <a:solidFill xmlns:a="http://schemas.openxmlformats.org/drawingml/2006/main">
            <a:srgbClr val="23D5D2"/>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A667A50D-F8BD-4E1B-86F9-F9692F72DEEB}"/>
              </a:ext>
            </a:extLst>
          </p:cNvPr>
          <p:cNvSpPr>
            <a:spLocks xmlns:a="http://schemas.openxmlformats.org/drawingml/2006/main" noGrp="1"/>
          </p:cNvSpPr>
          <p:nvPr/>
        </p:nvSpPr>
        <p:spPr>
          <a:xfrm xmlns:a="http://schemas.openxmlformats.org/drawingml/2006/main">
            <a:off x="971550" y="2571750"/>
            <a:ext cx="171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975" b="1">
                <a:solidFill>
                  <a:srgbClr val="071A2B"/>
                </a:solidFill>
              </a:defRPr>
            </a:defPPr>
          </a:lstStyle>
          <a:p xmlns:a="http://schemas.openxmlformats.org/drawingml/2006/main">
            <a:pPr algn="ctr">
              <a:defRPr sz="975" b="1">
                <a:solidFill>
                  <a:srgbClr val="071A2B"/>
                </a:solidFill>
              </a:defRPr>
            </a:pPr>
            <a:r>
              <a:rPr sz="975" b="1">
                <a:solidFill>
                  <a:srgbClr val="071A2B"/>
                </a:solidFill>
              </a:rPr>
              <a:t>1</a:t>
            </a:r>
          </a:p>
        </p:txBody>
      </p:sp>
      <p:sp>
        <p:nvSpPr>
          <p:cNvPr id="7" name="">
            <a:extLst xmlns:a="http://schemas.openxmlformats.org/drawingml/2006/main">
              <a:ext uri="{FF2B5EF4-FFF2-40B4-BE49-F238E27FC236}">
                <a16:creationId xmlns:a16="http://schemas.microsoft.com/office/drawing/2014/main" id="{F7A11C97-E787-4AD7-A142-6CC00A4E2C36}"/>
              </a:ext>
            </a:extLst>
          </p:cNvPr>
          <p:cNvSpPr>
            <a:spLocks xmlns:a="http://schemas.openxmlformats.org/drawingml/2006/main" noGrp="1"/>
          </p:cNvSpPr>
          <p:nvPr/>
        </p:nvSpPr>
        <p:spPr>
          <a:xfrm xmlns:a="http://schemas.openxmlformats.org/drawingml/2006/main">
            <a:off x="895350" y="3048000"/>
            <a:ext cx="2000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725" b="1">
                <a:solidFill>
                  <a:srgbClr val="F7FBFF"/>
                </a:solidFill>
              </a:defRPr>
            </a:defPPr>
          </a:lstStyle>
          <a:p xmlns:a="http://schemas.openxmlformats.org/drawingml/2006/main">
            <a:pPr algn="l">
              <a:defRPr sz="1725" b="1">
                <a:solidFill>
                  <a:srgbClr val="F7FBFF"/>
                </a:solidFill>
              </a:defRPr>
            </a:pPr>
            <a:r>
              <a:rPr sz="1725" b="1">
                <a:solidFill>
                  <a:srgbClr val="F7FBFF"/>
                </a:solidFill>
              </a:rPr>
              <a:t>Session control</a:t>
            </a:r>
          </a:p>
        </p:txBody>
      </p:sp>
      <p:sp>
        <p:nvSpPr>
          <p:cNvPr id="8" name="">
            <a:extLst xmlns:a="http://schemas.openxmlformats.org/drawingml/2006/main">
              <a:ext uri="{FF2B5EF4-FFF2-40B4-BE49-F238E27FC236}">
                <a16:creationId xmlns:a16="http://schemas.microsoft.com/office/drawing/2014/main" id="{E209B841-C2BE-4119-9819-ABD056691AB9}"/>
              </a:ext>
            </a:extLst>
          </p:cNvPr>
          <p:cNvSpPr>
            <a:spLocks xmlns:a="http://schemas.openxmlformats.org/drawingml/2006/main" noGrp="1"/>
          </p:cNvSpPr>
          <p:nvPr/>
        </p:nvSpPr>
        <p:spPr>
          <a:xfrm xmlns:a="http://schemas.openxmlformats.org/drawingml/2006/main">
            <a:off x="895350" y="3543300"/>
            <a:ext cx="2000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200" b="0">
                <a:solidFill>
                  <a:srgbClr val="A9C1D2"/>
                </a:solidFill>
              </a:defRPr>
            </a:defPPr>
          </a:lstStyle>
          <a:p xmlns:a="http://schemas.openxmlformats.org/drawingml/2006/main">
            <a:pPr algn="l">
              <a:defRPr sz="1200" b="0">
                <a:solidFill>
                  <a:srgbClr val="A9C1D2"/>
                </a:solidFill>
              </a:defRPr>
            </a:pPr>
            <a:r>
              <a:rPr sz="1200" b="0">
                <a:solidFill>
                  <a:srgbClr val="A9C1D2"/>
                </a:solidFill>
              </a:rPr>
              <a:t>IPoE / DHCP sessions</a:t>
            </a:r>
          </a:p>
          <a:p xmlns:a="http://schemas.openxmlformats.org/drawingml/2006/main">
            <a:pPr algn="l">
              <a:defRPr sz="1200" b="0">
                <a:solidFill>
                  <a:srgbClr val="A9C1D2"/>
                </a:solidFill>
              </a:defRPr>
            </a:pPr>
            <a:r>
              <a:rPr sz="1200" b="0">
                <a:solidFill>
                  <a:srgbClr val="A9C1D2"/>
                </a:solidFill>
              </a:rPr>
              <a:t>subscriber lifecycle</a:t>
            </a:r>
          </a:p>
        </p:txBody>
      </p:sp>
      <p:sp>
        <p:nvSpPr>
          <p:cNvPr id="9" name="">
            <a:extLst xmlns:a="http://schemas.openxmlformats.org/drawingml/2006/main">
              <a:ext uri="{FF2B5EF4-FFF2-40B4-BE49-F238E27FC236}">
                <a16:creationId xmlns:a16="http://schemas.microsoft.com/office/drawing/2014/main" id="{45A567EA-14C9-4831-8F70-12A20A3A8771}"/>
              </a:ext>
            </a:extLst>
          </p:cNvPr>
          <p:cNvSpPr>
            <a:spLocks xmlns:a="http://schemas.openxmlformats.org/drawingml/2006/main" noGrp="1"/>
          </p:cNvSpPr>
          <p:nvPr/>
        </p:nvSpPr>
        <p:spPr>
          <a:xfrm xmlns:a="http://schemas.openxmlformats.org/drawingml/2006/main">
            <a:off x="3371850" y="2333625"/>
            <a:ext cx="2419350" cy="2238375"/>
          </a:xfrm>
          <a:prstGeom xmlns:a="http://schemas.openxmlformats.org/drawingml/2006/main" prst="roundRect">
            <a:avLst>
              <a:gd name="adj" fmla="val 6809"/>
            </a:avLst>
          </a:prstGeom>
          <a:solidFill xmlns:a="http://schemas.openxmlformats.org/drawingml/2006/main">
            <a:srgbClr val="0E2B42"/>
          </a:solidFill>
          <a:ln xmlns:a="http://schemas.openxmlformats.org/drawingml/2006/main" w="9525">
            <a:solidFill>
              <a:srgbClr val="31536A"/>
            </a:solidFill>
            <a:prstDash val="solid"/>
          </a:ln>
        </p:spPr>
      </p:sp>
      <p:sp>
        <p:nvSpPr>
          <p:cNvPr id="10" name="">
            <a:extLst xmlns:a="http://schemas.openxmlformats.org/drawingml/2006/main">
              <a:ext uri="{FF2B5EF4-FFF2-40B4-BE49-F238E27FC236}">
                <a16:creationId xmlns:a16="http://schemas.microsoft.com/office/drawing/2014/main" id="{F8BDFB5A-027A-4A27-AB0C-99C7C735DA7E}"/>
              </a:ext>
            </a:extLst>
          </p:cNvPr>
          <p:cNvSpPr>
            <a:spLocks xmlns:a="http://schemas.openxmlformats.org/drawingml/2006/main" noGrp="1"/>
          </p:cNvSpPr>
          <p:nvPr/>
        </p:nvSpPr>
        <p:spPr>
          <a:xfrm xmlns:a="http://schemas.openxmlformats.org/drawingml/2006/main">
            <a:off x="3543300" y="2505075"/>
            <a:ext cx="400050" cy="323850"/>
          </a:xfrm>
          <a:prstGeom xmlns:a="http://schemas.openxmlformats.org/drawingml/2006/main" prst="roundRect">
            <a:avLst>
              <a:gd name="adj" fmla="val 50000"/>
            </a:avLst>
          </a:prstGeom>
          <a:solidFill xmlns:a="http://schemas.openxmlformats.org/drawingml/2006/main">
            <a:srgbClr val="23D5D2"/>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DDA3932D-CC48-4AEF-BCB2-94405A204467}"/>
              </a:ext>
            </a:extLst>
          </p:cNvPr>
          <p:cNvSpPr>
            <a:spLocks xmlns:a="http://schemas.openxmlformats.org/drawingml/2006/main" noGrp="1"/>
          </p:cNvSpPr>
          <p:nvPr/>
        </p:nvSpPr>
        <p:spPr>
          <a:xfrm xmlns:a="http://schemas.openxmlformats.org/drawingml/2006/main">
            <a:off x="3657600" y="2571750"/>
            <a:ext cx="171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975" b="1">
                <a:solidFill>
                  <a:srgbClr val="071A2B"/>
                </a:solidFill>
              </a:defRPr>
            </a:defPPr>
          </a:lstStyle>
          <a:p xmlns:a="http://schemas.openxmlformats.org/drawingml/2006/main">
            <a:pPr algn="ctr">
              <a:defRPr sz="975" b="1">
                <a:solidFill>
                  <a:srgbClr val="071A2B"/>
                </a:solidFill>
              </a:defRPr>
            </a:pPr>
            <a:r>
              <a:rPr sz="975" b="1">
                <a:solidFill>
                  <a:srgbClr val="071A2B"/>
                </a:solidFill>
              </a:rPr>
              <a:t>2</a:t>
            </a:r>
          </a:p>
        </p:txBody>
      </p:sp>
      <p:sp>
        <p:nvSpPr>
          <p:cNvPr id="12" name="">
            <a:extLst xmlns:a="http://schemas.openxmlformats.org/drawingml/2006/main">
              <a:ext uri="{FF2B5EF4-FFF2-40B4-BE49-F238E27FC236}">
                <a16:creationId xmlns:a16="http://schemas.microsoft.com/office/drawing/2014/main" id="{D1D2F086-1AEC-46EF-AE96-81C9DE465095}"/>
              </a:ext>
            </a:extLst>
          </p:cNvPr>
          <p:cNvSpPr>
            <a:spLocks xmlns:a="http://schemas.openxmlformats.org/drawingml/2006/main" noGrp="1"/>
          </p:cNvSpPr>
          <p:nvPr/>
        </p:nvSpPr>
        <p:spPr>
          <a:xfrm xmlns:a="http://schemas.openxmlformats.org/drawingml/2006/main">
            <a:off x="3581400" y="3048000"/>
            <a:ext cx="2000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725" b="1">
                <a:solidFill>
                  <a:srgbClr val="F7FBFF"/>
                </a:solidFill>
              </a:defRPr>
            </a:defPPr>
          </a:lstStyle>
          <a:p xmlns:a="http://schemas.openxmlformats.org/drawingml/2006/main">
            <a:pPr algn="l">
              <a:defRPr sz="1725" b="1">
                <a:solidFill>
                  <a:srgbClr val="F7FBFF"/>
                </a:solidFill>
              </a:defRPr>
            </a:pPr>
            <a:r>
              <a:rPr sz="1725" b="1">
                <a:solidFill>
                  <a:srgbClr val="F7FBFF"/>
                </a:solidFill>
              </a:rPr>
              <a:t>Policy + AAA</a:t>
            </a:r>
          </a:p>
        </p:txBody>
      </p:sp>
      <p:sp>
        <p:nvSpPr>
          <p:cNvPr id="13" name="">
            <a:extLst xmlns:a="http://schemas.openxmlformats.org/drawingml/2006/main">
              <a:ext uri="{FF2B5EF4-FFF2-40B4-BE49-F238E27FC236}">
                <a16:creationId xmlns:a16="http://schemas.microsoft.com/office/drawing/2014/main" id="{6DC25665-8A46-4B46-8A5A-29155EBA918E}"/>
              </a:ext>
            </a:extLst>
          </p:cNvPr>
          <p:cNvSpPr>
            <a:spLocks xmlns:a="http://schemas.openxmlformats.org/drawingml/2006/main" noGrp="1"/>
          </p:cNvSpPr>
          <p:nvPr/>
        </p:nvSpPr>
        <p:spPr>
          <a:xfrm xmlns:a="http://schemas.openxmlformats.org/drawingml/2006/main">
            <a:off x="3581400" y="3543300"/>
            <a:ext cx="2000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200" b="0">
                <a:solidFill>
                  <a:srgbClr val="A9C1D2"/>
                </a:solidFill>
              </a:defRPr>
            </a:defPPr>
          </a:lstStyle>
          <a:p xmlns:a="http://schemas.openxmlformats.org/drawingml/2006/main">
            <a:pPr algn="l">
              <a:defRPr sz="1200" b="0">
                <a:solidFill>
                  <a:srgbClr val="A9C1D2"/>
                </a:solidFill>
              </a:defRPr>
            </a:pPr>
            <a:r>
              <a:rPr sz="1200" b="0">
                <a:solidFill>
                  <a:srgbClr val="A9C1D2"/>
                </a:solidFill>
              </a:rPr>
              <a:t>RADIUS-backed identity</a:t>
            </a:r>
          </a:p>
          <a:p xmlns:a="http://schemas.openxmlformats.org/drawingml/2006/main">
            <a:pPr algn="l">
              <a:defRPr sz="1200" b="0">
                <a:solidFill>
                  <a:srgbClr val="A9C1D2"/>
                </a:solidFill>
              </a:defRPr>
            </a:pPr>
            <a:r>
              <a:rPr sz="1200" b="0">
                <a:solidFill>
                  <a:srgbClr val="A9C1D2"/>
                </a:solidFill>
              </a:rPr>
              <a:t>and service policy</a:t>
            </a:r>
          </a:p>
        </p:txBody>
      </p:sp>
      <p:sp>
        <p:nvSpPr>
          <p:cNvPr id="14" name="">
            <a:extLst xmlns:a="http://schemas.openxmlformats.org/drawingml/2006/main">
              <a:ext uri="{FF2B5EF4-FFF2-40B4-BE49-F238E27FC236}">
                <a16:creationId xmlns:a16="http://schemas.microsoft.com/office/drawing/2014/main" id="{D9F6E633-C6C8-4CBE-B1FF-167519C061D7}"/>
              </a:ext>
            </a:extLst>
          </p:cNvPr>
          <p:cNvSpPr>
            <a:spLocks xmlns:a="http://schemas.openxmlformats.org/drawingml/2006/main" noGrp="1"/>
          </p:cNvSpPr>
          <p:nvPr/>
        </p:nvSpPr>
        <p:spPr>
          <a:xfrm xmlns:a="http://schemas.openxmlformats.org/drawingml/2006/main">
            <a:off x="6057900" y="2333625"/>
            <a:ext cx="2419350" cy="2238375"/>
          </a:xfrm>
          <a:prstGeom xmlns:a="http://schemas.openxmlformats.org/drawingml/2006/main" prst="roundRect">
            <a:avLst>
              <a:gd name="adj" fmla="val 6809"/>
            </a:avLst>
          </a:prstGeom>
          <a:solidFill xmlns:a="http://schemas.openxmlformats.org/drawingml/2006/main">
            <a:srgbClr val="123A49"/>
          </a:solidFill>
          <a:ln xmlns:a="http://schemas.openxmlformats.org/drawingml/2006/main" w="9525">
            <a:solidFill>
              <a:srgbClr val="31536A"/>
            </a:solidFill>
            <a:prstDash val="solid"/>
          </a:ln>
        </p:spPr>
      </p:sp>
      <p:sp>
        <p:nvSpPr>
          <p:cNvPr id="15" name="">
            <a:extLst xmlns:a="http://schemas.openxmlformats.org/drawingml/2006/main">
              <a:ext uri="{FF2B5EF4-FFF2-40B4-BE49-F238E27FC236}">
                <a16:creationId xmlns:a16="http://schemas.microsoft.com/office/drawing/2014/main" id="{71A9B322-D589-4FFB-9B53-B3ABABF34E88}"/>
              </a:ext>
            </a:extLst>
          </p:cNvPr>
          <p:cNvSpPr>
            <a:spLocks xmlns:a="http://schemas.openxmlformats.org/drawingml/2006/main" noGrp="1"/>
          </p:cNvSpPr>
          <p:nvPr/>
        </p:nvSpPr>
        <p:spPr>
          <a:xfrm xmlns:a="http://schemas.openxmlformats.org/drawingml/2006/main">
            <a:off x="6229350" y="2505075"/>
            <a:ext cx="400050" cy="323850"/>
          </a:xfrm>
          <a:prstGeom xmlns:a="http://schemas.openxmlformats.org/drawingml/2006/main" prst="roundRect">
            <a:avLst>
              <a:gd name="adj" fmla="val 50000"/>
            </a:avLst>
          </a:prstGeom>
          <a:solidFill xmlns:a="http://schemas.openxmlformats.org/drawingml/2006/main">
            <a:srgbClr val="FF9D42"/>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E57F0030-4891-430C-803E-E4722F79DA2B}"/>
              </a:ext>
            </a:extLst>
          </p:cNvPr>
          <p:cNvSpPr>
            <a:spLocks xmlns:a="http://schemas.openxmlformats.org/drawingml/2006/main" noGrp="1"/>
          </p:cNvSpPr>
          <p:nvPr/>
        </p:nvSpPr>
        <p:spPr>
          <a:xfrm xmlns:a="http://schemas.openxmlformats.org/drawingml/2006/main">
            <a:off x="6343650" y="2571750"/>
            <a:ext cx="171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975" b="1">
                <a:solidFill>
                  <a:srgbClr val="071A2B"/>
                </a:solidFill>
              </a:defRPr>
            </a:defPPr>
          </a:lstStyle>
          <a:p xmlns:a="http://schemas.openxmlformats.org/drawingml/2006/main">
            <a:pPr algn="ctr">
              <a:defRPr sz="975" b="1">
                <a:solidFill>
                  <a:srgbClr val="071A2B"/>
                </a:solidFill>
              </a:defRPr>
            </a:pPr>
            <a:r>
              <a:rPr sz="975" b="1">
                <a:solidFill>
                  <a:srgbClr val="071A2B"/>
                </a:solidFill>
              </a:rPr>
              <a:t>3</a:t>
            </a:r>
          </a:p>
        </p:txBody>
      </p:sp>
      <p:sp>
        <p:nvSpPr>
          <p:cNvPr id="17" name="">
            <a:extLst xmlns:a="http://schemas.openxmlformats.org/drawingml/2006/main">
              <a:ext uri="{FF2B5EF4-FFF2-40B4-BE49-F238E27FC236}">
                <a16:creationId xmlns:a16="http://schemas.microsoft.com/office/drawing/2014/main" id="{8D966A12-FD00-42FF-B34D-6C09DA55F22E}"/>
              </a:ext>
            </a:extLst>
          </p:cNvPr>
          <p:cNvSpPr>
            <a:spLocks xmlns:a="http://schemas.openxmlformats.org/drawingml/2006/main" noGrp="1"/>
          </p:cNvSpPr>
          <p:nvPr/>
        </p:nvSpPr>
        <p:spPr>
          <a:xfrm xmlns:a="http://schemas.openxmlformats.org/drawingml/2006/main">
            <a:off x="6267450" y="3048000"/>
            <a:ext cx="2000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725" b="1">
                <a:solidFill>
                  <a:srgbClr val="F7FBFF"/>
                </a:solidFill>
              </a:defRPr>
            </a:defPPr>
          </a:lstStyle>
          <a:p xmlns:a="http://schemas.openxmlformats.org/drawingml/2006/main">
            <a:pPr algn="l">
              <a:defRPr sz="1725" b="1">
                <a:solidFill>
                  <a:srgbClr val="F7FBFF"/>
                </a:solidFill>
              </a:defRPr>
            </a:pPr>
            <a:r>
              <a:rPr sz="1725" b="1">
                <a:solidFill>
                  <a:srgbClr val="F7FBFF"/>
                </a:solidFill>
              </a:rPr>
              <a:t>Traffic services</a:t>
            </a:r>
          </a:p>
        </p:txBody>
      </p:sp>
      <p:sp>
        <p:nvSpPr>
          <p:cNvPr id="18" name="">
            <a:extLst xmlns:a="http://schemas.openxmlformats.org/drawingml/2006/main">
              <a:ext uri="{FF2B5EF4-FFF2-40B4-BE49-F238E27FC236}">
                <a16:creationId xmlns:a16="http://schemas.microsoft.com/office/drawing/2014/main" id="{DEA4E9A2-68F1-4184-A651-B10B9EFAAD1A}"/>
              </a:ext>
            </a:extLst>
          </p:cNvPr>
          <p:cNvSpPr>
            <a:spLocks xmlns:a="http://schemas.openxmlformats.org/drawingml/2006/main" noGrp="1"/>
          </p:cNvSpPr>
          <p:nvPr/>
        </p:nvSpPr>
        <p:spPr>
          <a:xfrm xmlns:a="http://schemas.openxmlformats.org/drawingml/2006/main">
            <a:off x="6267450" y="3543300"/>
            <a:ext cx="2000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200" b="0">
                <a:solidFill>
                  <a:srgbClr val="A9C1D2"/>
                </a:solidFill>
              </a:defRPr>
            </a:defPPr>
          </a:lstStyle>
          <a:p xmlns:a="http://schemas.openxmlformats.org/drawingml/2006/main">
            <a:pPr algn="l">
              <a:defRPr sz="1200" b="0">
                <a:solidFill>
                  <a:srgbClr val="A9C1D2"/>
                </a:solidFill>
              </a:defRPr>
            </a:pPr>
            <a:r>
              <a:rPr sz="1200" b="0">
                <a:solidFill>
                  <a:srgbClr val="A9C1D2"/>
                </a:solidFill>
              </a:rPr>
              <a:t>CGNAT, QoS, counters</a:t>
            </a:r>
          </a:p>
          <a:p xmlns:a="http://schemas.openxmlformats.org/drawingml/2006/main">
            <a:pPr algn="l">
              <a:defRPr sz="1200" b="0">
                <a:solidFill>
                  <a:srgbClr val="A9C1D2"/>
                </a:solidFill>
              </a:defRPr>
            </a:pPr>
            <a:r>
              <a:rPr sz="1200" b="0">
                <a:solidFill>
                  <a:srgbClr val="A9C1D2"/>
                </a:solidFill>
              </a:rPr>
              <a:t>and forwarding</a:t>
            </a:r>
          </a:p>
        </p:txBody>
      </p:sp>
      <p:sp>
        <p:nvSpPr>
          <p:cNvPr id="19" name="">
            <a:extLst xmlns:a="http://schemas.openxmlformats.org/drawingml/2006/main">
              <a:ext uri="{FF2B5EF4-FFF2-40B4-BE49-F238E27FC236}">
                <a16:creationId xmlns:a16="http://schemas.microsoft.com/office/drawing/2014/main" id="{30A296FF-A30F-4FFC-ACC5-DAB211145A8D}"/>
              </a:ext>
            </a:extLst>
          </p:cNvPr>
          <p:cNvSpPr>
            <a:spLocks xmlns:a="http://schemas.openxmlformats.org/drawingml/2006/main" noGrp="1"/>
          </p:cNvSpPr>
          <p:nvPr/>
        </p:nvSpPr>
        <p:spPr>
          <a:xfrm xmlns:a="http://schemas.openxmlformats.org/drawingml/2006/main">
            <a:off x="8743950" y="2333625"/>
            <a:ext cx="2419350" cy="2238375"/>
          </a:xfrm>
          <a:prstGeom xmlns:a="http://schemas.openxmlformats.org/drawingml/2006/main" prst="roundRect">
            <a:avLst>
              <a:gd name="adj" fmla="val 6809"/>
            </a:avLst>
          </a:prstGeom>
          <a:solidFill xmlns:a="http://schemas.openxmlformats.org/drawingml/2006/main">
            <a:srgbClr val="0E2B42"/>
          </a:solidFill>
          <a:ln xmlns:a="http://schemas.openxmlformats.org/drawingml/2006/main" w="9525">
            <a:solidFill>
              <a:srgbClr val="31536A"/>
            </a:solidFill>
            <a:prstDash val="solid"/>
          </a:ln>
        </p:spPr>
      </p:sp>
      <p:sp>
        <p:nvSpPr>
          <p:cNvPr id="20" name="">
            <a:extLst xmlns:a="http://schemas.openxmlformats.org/drawingml/2006/main">
              <a:ext uri="{FF2B5EF4-FFF2-40B4-BE49-F238E27FC236}">
                <a16:creationId xmlns:a16="http://schemas.microsoft.com/office/drawing/2014/main" id="{66EBAB1C-A3B1-4A4D-8F3B-38A5C51AD314}"/>
              </a:ext>
            </a:extLst>
          </p:cNvPr>
          <p:cNvSpPr>
            <a:spLocks xmlns:a="http://schemas.openxmlformats.org/drawingml/2006/main" noGrp="1"/>
          </p:cNvSpPr>
          <p:nvPr/>
        </p:nvSpPr>
        <p:spPr>
          <a:xfrm xmlns:a="http://schemas.openxmlformats.org/drawingml/2006/main">
            <a:off x="8915400" y="2505075"/>
            <a:ext cx="400050" cy="323850"/>
          </a:xfrm>
          <a:prstGeom xmlns:a="http://schemas.openxmlformats.org/drawingml/2006/main" prst="roundRect">
            <a:avLst>
              <a:gd name="adj" fmla="val 50000"/>
            </a:avLst>
          </a:prstGeom>
          <a:solidFill xmlns:a="http://schemas.openxmlformats.org/drawingml/2006/main">
            <a:srgbClr val="23D5D2"/>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2710F067-BFC9-4B5C-B50C-121349DAA5EE}"/>
              </a:ext>
            </a:extLst>
          </p:cNvPr>
          <p:cNvSpPr>
            <a:spLocks xmlns:a="http://schemas.openxmlformats.org/drawingml/2006/main" noGrp="1"/>
          </p:cNvSpPr>
          <p:nvPr/>
        </p:nvSpPr>
        <p:spPr>
          <a:xfrm xmlns:a="http://schemas.openxmlformats.org/drawingml/2006/main">
            <a:off x="9029700" y="2571750"/>
            <a:ext cx="171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975" b="1">
                <a:solidFill>
                  <a:srgbClr val="071A2B"/>
                </a:solidFill>
              </a:defRPr>
            </a:defPPr>
          </a:lstStyle>
          <a:p xmlns:a="http://schemas.openxmlformats.org/drawingml/2006/main">
            <a:pPr algn="ctr">
              <a:defRPr sz="975" b="1">
                <a:solidFill>
                  <a:srgbClr val="071A2B"/>
                </a:solidFill>
              </a:defRPr>
            </a:pPr>
            <a:r>
              <a:rPr sz="975" b="1">
                <a:solidFill>
                  <a:srgbClr val="071A2B"/>
                </a:solidFill>
              </a:rPr>
              <a:t>4</a:t>
            </a:r>
          </a:p>
        </p:txBody>
      </p:sp>
      <p:sp>
        <p:nvSpPr>
          <p:cNvPr id="22" name="">
            <a:extLst xmlns:a="http://schemas.openxmlformats.org/drawingml/2006/main">
              <a:ext uri="{FF2B5EF4-FFF2-40B4-BE49-F238E27FC236}">
                <a16:creationId xmlns:a16="http://schemas.microsoft.com/office/drawing/2014/main" id="{A9D1D1B7-C166-497C-8138-40D98C004BED}"/>
              </a:ext>
            </a:extLst>
          </p:cNvPr>
          <p:cNvSpPr>
            <a:spLocks xmlns:a="http://schemas.openxmlformats.org/drawingml/2006/main" noGrp="1"/>
          </p:cNvSpPr>
          <p:nvPr/>
        </p:nvSpPr>
        <p:spPr>
          <a:xfrm xmlns:a="http://schemas.openxmlformats.org/drawingml/2006/main">
            <a:off x="8953500" y="3048000"/>
            <a:ext cx="2000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725" b="1">
                <a:solidFill>
                  <a:srgbClr val="F7FBFF"/>
                </a:solidFill>
              </a:defRPr>
            </a:defPPr>
          </a:lstStyle>
          <a:p xmlns:a="http://schemas.openxmlformats.org/drawingml/2006/main">
            <a:pPr algn="l">
              <a:defRPr sz="1725" b="1">
                <a:solidFill>
                  <a:srgbClr val="F7FBFF"/>
                </a:solidFill>
              </a:defRPr>
            </a:pPr>
            <a:r>
              <a:rPr sz="1725" b="1">
                <a:solidFill>
                  <a:srgbClr val="F7FBFF"/>
                </a:solidFill>
              </a:rPr>
              <a:t>Core routing</a:t>
            </a:r>
          </a:p>
        </p:txBody>
      </p:sp>
      <p:sp>
        <p:nvSpPr>
          <p:cNvPr id="23" name="">
            <a:extLst xmlns:a="http://schemas.openxmlformats.org/drawingml/2006/main">
              <a:ext uri="{FF2B5EF4-FFF2-40B4-BE49-F238E27FC236}">
                <a16:creationId xmlns:a16="http://schemas.microsoft.com/office/drawing/2014/main" id="{883CB6F3-F4AC-4B7B-9AAA-78BC468FA204}"/>
              </a:ext>
            </a:extLst>
          </p:cNvPr>
          <p:cNvSpPr>
            <a:spLocks xmlns:a="http://schemas.openxmlformats.org/drawingml/2006/main" noGrp="1"/>
          </p:cNvSpPr>
          <p:nvPr/>
        </p:nvSpPr>
        <p:spPr>
          <a:xfrm xmlns:a="http://schemas.openxmlformats.org/drawingml/2006/main">
            <a:off x="8953500" y="3543300"/>
            <a:ext cx="2000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200" b="0">
                <a:solidFill>
                  <a:srgbClr val="A9C1D2"/>
                </a:solidFill>
              </a:defRPr>
            </a:defPPr>
          </a:lstStyle>
          <a:p xmlns:a="http://schemas.openxmlformats.org/drawingml/2006/main">
            <a:pPr algn="l">
              <a:defRPr sz="1200" b="0">
                <a:solidFill>
                  <a:srgbClr val="A9C1D2"/>
                </a:solidFill>
              </a:defRPr>
            </a:pPr>
            <a:r>
              <a:rPr sz="1200" b="0">
                <a:solidFill>
                  <a:srgbClr val="A9C1D2"/>
                </a:solidFill>
              </a:rPr>
              <a:t>BGP reachability</a:t>
            </a:r>
          </a:p>
          <a:p xmlns:a="http://schemas.openxmlformats.org/drawingml/2006/main">
            <a:pPr algn="l">
              <a:defRPr sz="1200" b="0">
                <a:solidFill>
                  <a:srgbClr val="A9C1D2"/>
                </a:solidFill>
              </a:defRPr>
            </a:pPr>
            <a:r>
              <a:rPr sz="1200" b="0">
                <a:solidFill>
                  <a:srgbClr val="A9C1D2"/>
                </a:solidFill>
              </a:rPr>
              <a:t>toward the ISP edge</a:t>
            </a:r>
          </a:p>
        </p:txBody>
      </p:sp>
      <p:sp>
        <p:nvSpPr>
          <p:cNvPr id="24" name="">
            <a:extLst xmlns:a="http://schemas.openxmlformats.org/drawingml/2006/main">
              <a:ext uri="{FF2B5EF4-FFF2-40B4-BE49-F238E27FC236}">
                <a16:creationId xmlns:a16="http://schemas.microsoft.com/office/drawing/2014/main" id="{E8B48078-8964-455F-9669-8FD98D5091DC}"/>
              </a:ext>
            </a:extLst>
          </p:cNvPr>
          <p:cNvSpPr>
            <a:spLocks xmlns:a="http://schemas.openxmlformats.org/drawingml/2006/main" noGrp="1"/>
          </p:cNvSpPr>
          <p:nvPr/>
        </p:nvSpPr>
        <p:spPr>
          <a:xfrm xmlns:a="http://schemas.openxmlformats.org/drawingml/2006/main">
            <a:off x="685800" y="4953000"/>
            <a:ext cx="10477500" cy="809625"/>
          </a:xfrm>
          <a:prstGeom xmlns:a="http://schemas.openxmlformats.org/drawingml/2006/main" prst="roundRect">
            <a:avLst>
              <a:gd name="adj" fmla="val 14118"/>
            </a:avLst>
          </a:prstGeom>
          <a:solidFill xmlns:a="http://schemas.openxmlformats.org/drawingml/2006/main">
            <a:srgbClr val="102C41"/>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F8CBA29F-C370-405A-A700-96C57DA160A0}"/>
              </a:ext>
            </a:extLst>
          </p:cNvPr>
          <p:cNvSpPr>
            <a:spLocks xmlns:a="http://schemas.openxmlformats.org/drawingml/2006/main" noGrp="1"/>
          </p:cNvSpPr>
          <p:nvPr/>
        </p:nvSpPr>
        <p:spPr>
          <a:xfrm xmlns:a="http://schemas.openxmlformats.org/drawingml/2006/main">
            <a:off x="914400" y="5143500"/>
            <a:ext cx="2190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350" b="1">
                <a:solidFill>
                  <a:srgbClr val="FF9D42"/>
                </a:solidFill>
              </a:defRPr>
            </a:defPPr>
          </a:lstStyle>
          <a:p xmlns:a="http://schemas.openxmlformats.org/drawingml/2006/main">
            <a:pPr algn="l">
              <a:defRPr sz="1350" b="1">
                <a:solidFill>
                  <a:srgbClr val="FF9D42"/>
                </a:solidFill>
              </a:defRPr>
            </a:pPr>
            <a:r>
              <a:rPr sz="1350" b="1">
                <a:solidFill>
                  <a:srgbClr val="FF9D42"/>
                </a:solidFill>
              </a:rPr>
              <a:t>Key design question</a:t>
            </a:r>
          </a:p>
        </p:txBody>
      </p:sp>
      <p:sp>
        <p:nvSpPr>
          <p:cNvPr id="26" name="">
            <a:extLst xmlns:a="http://schemas.openxmlformats.org/drawingml/2006/main">
              <a:ext uri="{FF2B5EF4-FFF2-40B4-BE49-F238E27FC236}">
                <a16:creationId xmlns:a16="http://schemas.microsoft.com/office/drawing/2014/main" id="{5B5D4849-2590-416D-8552-EB5B78A315E0}"/>
              </a:ext>
            </a:extLst>
          </p:cNvPr>
          <p:cNvSpPr>
            <a:spLocks xmlns:a="http://schemas.openxmlformats.org/drawingml/2006/main" noGrp="1"/>
          </p:cNvSpPr>
          <p:nvPr/>
        </p:nvSpPr>
        <p:spPr>
          <a:xfrm xmlns:a="http://schemas.openxmlformats.org/drawingml/2006/main">
            <a:off x="3143250" y="5095875"/>
            <a:ext cx="76676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575" b="1">
                <a:solidFill>
                  <a:srgbClr val="F7FBFF"/>
                </a:solidFill>
              </a:defRPr>
            </a:defPPr>
          </a:lstStyle>
          <a:p xmlns:a="http://schemas.openxmlformats.org/drawingml/2006/main">
            <a:pPr algn="l">
              <a:defRPr sz="1575" b="1">
                <a:solidFill>
                  <a:srgbClr val="F7FBFF"/>
                </a:solidFill>
              </a:defRPr>
            </a:pPr>
            <a:r>
              <a:rPr sz="1575" b="1">
                <a:solidFill>
                  <a:srgbClr val="F7FBFF"/>
                </a:solidFill>
              </a:rPr>
              <a:t>Can these functions become schedulable, observable workloads without losing deterministic packet I/O?</a:t>
            </a:r>
          </a:p>
        </p:txBody>
      </p:sp>
      <p:sp>
        <p:nvSpPr>
          <p:cNvPr id="27" name="">
            <a:extLst xmlns:a="http://schemas.openxmlformats.org/drawingml/2006/main">
              <a:ext uri="{FF2B5EF4-FFF2-40B4-BE49-F238E27FC236}">
                <a16:creationId xmlns:a16="http://schemas.microsoft.com/office/drawing/2014/main" id="{BF6D0F10-E9F5-4BFE-83EE-14D9D151E2A5}"/>
              </a:ext>
            </a:extLst>
          </p:cNvPr>
          <p:cNvSpPr>
            <a:spLocks xmlns:a="http://schemas.openxmlformats.org/drawingml/2006/main" noGrp="1"/>
          </p:cNvSpPr>
          <p:nvPr/>
        </p:nvSpPr>
        <p:spPr>
          <a:xfrm xmlns:a="http://schemas.openxmlformats.org/drawingml/2006/main">
            <a:off x="685800" y="6410325"/>
            <a:ext cx="10820400" cy="9525"/>
          </a:xfrm>
          <a:prstGeom xmlns:a="http://schemas.openxmlformats.org/drawingml/2006/main" prst="rect">
            <a:avLst/>
          </a:prstGeom>
          <a:solidFill xmlns:a="http://schemas.openxmlformats.org/drawingml/2006/main">
            <a:srgbClr val="29485D"/>
          </a:solidFill>
          <a:ln xmlns:a="http://schemas.openxmlformats.org/drawingml/2006/main" w="0">
            <a:solidFill>
              <a:srgbClr val="29485D"/>
            </a:solidFill>
            <a:prstDash val="solid"/>
          </a:ln>
        </p:spPr>
      </p:sp>
      <p:sp>
        <p:nvSpPr>
          <p:cNvPr id="28" name="">
            <a:extLst xmlns:a="http://schemas.openxmlformats.org/drawingml/2006/main">
              <a:ext uri="{FF2B5EF4-FFF2-40B4-BE49-F238E27FC236}">
                <a16:creationId xmlns:a16="http://schemas.microsoft.com/office/drawing/2014/main" id="{CD3163A2-F69D-4BCD-828A-2D136A1D9907}"/>
              </a:ext>
            </a:extLst>
          </p:cNvPr>
          <p:cNvSpPr>
            <a:spLocks xmlns:a="http://schemas.openxmlformats.org/drawingml/2006/main" noGrp="1"/>
          </p:cNvSpPr>
          <p:nvPr/>
        </p:nvSpPr>
        <p:spPr>
          <a:xfrm xmlns:a="http://schemas.openxmlformats.org/drawingml/2006/main">
            <a:off x="685800" y="6477000"/>
            <a:ext cx="9525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675" b="0">
                <a:solidFill>
                  <a:srgbClr val="A9C1D2"/>
                </a:solidFill>
              </a:defRPr>
            </a:defPPr>
          </a:lstStyle>
          <a:p xmlns:a="http://schemas.openxmlformats.org/drawingml/2006/main">
            <a:pPr algn="l">
              <a:defRPr sz="675" b="0">
                <a:solidFill>
                  <a:srgbClr val="A9C1D2"/>
                </a:solidFill>
              </a:defRPr>
            </a:pPr>
            <a:r>
              <a:rPr sz="675" b="0">
                <a:solidFill>
                  <a:srgbClr val="A9C1D2"/>
                </a:solidFill>
              </a:rPr>
              <a:t>Source: veesix-networks/osvbng project overview and feature list.</a:t>
            </a:r>
          </a:p>
        </p:txBody>
      </p:sp>
      <p:sp>
        <p:nvSpPr>
          <p:cNvPr id="29" name="">
            <a:extLst xmlns:a="http://schemas.openxmlformats.org/drawingml/2006/main">
              <a:ext uri="{FF2B5EF4-FFF2-40B4-BE49-F238E27FC236}">
                <a16:creationId xmlns:a16="http://schemas.microsoft.com/office/drawing/2014/main" id="{0B893596-026F-4394-9F04-329F64867477}"/>
              </a:ext>
            </a:extLst>
          </p:cNvPr>
          <p:cNvSpPr>
            <a:spLocks xmlns:a="http://schemas.openxmlformats.org/drawingml/2006/main" noGrp="1"/>
          </p:cNvSpPr>
          <p:nvPr/>
        </p:nvSpPr>
        <p:spPr>
          <a:xfrm xmlns:a="http://schemas.openxmlformats.org/drawingml/2006/main">
            <a:off x="10953750" y="6448425"/>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r">
              <a:defRPr sz="825" b="1">
                <a:solidFill>
                  <a:srgbClr val="23D5D2"/>
                </a:solidFill>
              </a:defRPr>
            </a:defPPr>
          </a:lstStyle>
          <a:p xmlns:a="http://schemas.openxmlformats.org/drawingml/2006/main">
            <a:pPr algn="r">
              <a:defRPr sz="825" b="1">
                <a:solidFill>
                  <a:srgbClr val="23D5D2"/>
                </a:solidFill>
              </a:defRPr>
            </a:pPr>
            <a:r>
              <a:rPr sz="825" b="1">
                <a:solidFill>
                  <a:srgbClr val="23D5D2"/>
                </a:solidFill>
              </a:rPr>
              <a:t>02</a:t>
            </a:r>
          </a:p>
        </p:txBody>
      </p:sp>
    </p:spTree>
    <p:extLst>
      <p:ext uri="{BB962C8B-B14F-4D97-AF65-F5344CB8AC3E}">
        <p14:creationId xmlns:p14="http://schemas.microsoft.com/office/powerpoint/2010/main" val="297304293"/>
      </p:ext>
    </p:extLst>
  </p:cSld>
</p:sld>
</file>

<file path=ppt/slides/slide3.xml><?xml version="1.0" encoding="utf-8"?>
<p:sld xmlns:p="http://schemas.openxmlformats.org/presentationml/2006/main">
  <p:cSld>
    <p:bg>
      <p:bgPr>
        <a:solidFill xmlns:a="http://schemas.openxmlformats.org/drawingml/2006/main">
          <a:srgbClr val="071A2B"/>
        </a:solidFill>
      </p:bgPr>
    </p:bg>
    <p:spTree>
      <p:nvGrpSpPr>
        <p:cNvPr id="1" name=""/>
        <p:cNvGrpSpPr/>
        <p:nvPr/>
      </p:nvGrpSpPr>
      <p:grpSpPr>
        <a:xfrm xmlns:a="http://schemas.openxmlformats.org/drawingml/2006/main"/>
      </p:grpSpPr>
      <p:sp>
        <p:nvSpPr>
          <p:cNvPr id="36" name="">
            <a:extLst xmlns:a="http://schemas.openxmlformats.org/drawingml/2006/main">
              <a:ext uri="{FF2B5EF4-FFF2-40B4-BE49-F238E27FC236}">
                <a16:creationId xmlns:a16="http://schemas.microsoft.com/office/drawing/2014/main" id="{8652CE66-E678-4D7D-A971-CCED4DB9D7AD}"/>
              </a:ext>
            </a:extLst>
          </p:cNvPr>
          <p:cNvSpPr>
            <a:spLocks xmlns:a="http://schemas.openxmlformats.org/drawingml/2006/main" noGrp="1"/>
          </p:cNvSpPr>
          <p:nvPr/>
        </p:nvSpPr>
        <p:spPr>
          <a:xfrm xmlns:a="http://schemas.openxmlformats.org/drawingml/2006/main">
            <a:off x="685800" y="45720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975" b="1">
                <a:solidFill>
                  <a:srgbClr val="23D5D2"/>
                </a:solidFill>
              </a:defRPr>
            </a:defPPr>
          </a:lstStyle>
          <a:p xmlns:a="http://schemas.openxmlformats.org/drawingml/2006/main">
            <a:pPr algn="l">
              <a:defRPr sz="975" b="1">
                <a:solidFill>
                  <a:srgbClr val="23D5D2"/>
                </a:solidFill>
              </a:defRPr>
            </a:pPr>
            <a:r>
              <a:rPr sz="975" b="1">
                <a:solidFill>
                  <a:srgbClr val="23D5D2"/>
                </a:solidFill>
              </a:rPr>
              <a:t>2 • THE DESIGN</a:t>
            </a:r>
          </a:p>
        </p:txBody>
      </p:sp>
      <p:sp>
        <p:nvSpPr>
          <p:cNvPr id="2" name="">
            <a:extLst xmlns:a="http://schemas.openxmlformats.org/drawingml/2006/main">
              <a:ext uri="{FF2B5EF4-FFF2-40B4-BE49-F238E27FC236}">
                <a16:creationId xmlns:a16="http://schemas.microsoft.com/office/drawing/2014/main" id="{FFDF0F51-AB84-4B0F-829E-CD30EFDE2F47}"/>
              </a:ext>
            </a:extLst>
          </p:cNvPr>
          <p:cNvSpPr>
            <a:spLocks xmlns:a="http://schemas.openxmlformats.org/drawingml/2006/main" noGrp="1"/>
          </p:cNvSpPr>
          <p:nvPr/>
        </p:nvSpPr>
        <p:spPr>
          <a:xfrm xmlns:a="http://schemas.openxmlformats.org/drawingml/2006/main">
            <a:off x="685800" y="819150"/>
            <a:ext cx="108204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2550" b="1">
                <a:solidFill>
                  <a:srgbClr val="F7FBFF"/>
                </a:solidFill>
              </a:defRPr>
            </a:defPPr>
          </a:lstStyle>
          <a:p xmlns:a="http://schemas.openxmlformats.org/drawingml/2006/main">
            <a:pPr algn="l">
              <a:defRPr sz="2550" b="1">
                <a:solidFill>
                  <a:srgbClr val="F7FBFF"/>
                </a:solidFill>
              </a:defRPr>
            </a:pPr>
            <a:r>
              <a:rPr sz="2550" b="1">
                <a:solidFill>
                  <a:srgbClr val="F7FBFF"/>
                </a:solidFill>
              </a:rPr>
              <a:t>One cluster, explicit data-plane interfaces</a:t>
            </a:r>
          </a:p>
        </p:txBody>
      </p:sp>
      <p:sp>
        <p:nvSpPr>
          <p:cNvPr id="3" name="">
            <a:extLst xmlns:a="http://schemas.openxmlformats.org/drawingml/2006/main">
              <a:ext uri="{FF2B5EF4-FFF2-40B4-BE49-F238E27FC236}">
                <a16:creationId xmlns:a16="http://schemas.microsoft.com/office/drawing/2014/main" id="{E8E74B43-25F6-41CE-8D21-8C6854195A6B}"/>
              </a:ext>
            </a:extLst>
          </p:cNvPr>
          <p:cNvSpPr>
            <a:spLocks xmlns:a="http://schemas.openxmlformats.org/drawingml/2006/main" noGrp="1"/>
          </p:cNvSpPr>
          <p:nvPr/>
        </p:nvSpPr>
        <p:spPr>
          <a:xfrm xmlns:a="http://schemas.openxmlformats.org/drawingml/2006/main">
            <a:off x="685800" y="1457325"/>
            <a:ext cx="10287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350" b="0">
                <a:solidFill>
                  <a:srgbClr val="A9C1D2"/>
                </a:solidFill>
              </a:defRPr>
            </a:defPPr>
          </a:lstStyle>
          <a:p xmlns:a="http://schemas.openxmlformats.org/drawingml/2006/main">
            <a:pPr algn="l">
              <a:defRPr sz="1350" b="0">
                <a:solidFill>
                  <a:srgbClr val="A9C1D2"/>
                </a:solidFill>
              </a:defRPr>
            </a:pPr>
            <a:r>
              <a:rPr sz="1350" b="0">
                <a:solidFill>
                  <a:srgbClr val="A9C1D2"/>
                </a:solidFill>
              </a:rPr>
              <a:t>Management stays Kubernetes-native. Subscriber and core traffic use Multus plus VFIO-bound virtio NICs.</a:t>
            </a:r>
          </a:p>
        </p:txBody>
      </p:sp>
      <p:sp>
        <p:nvSpPr>
          <p:cNvPr id="4" name="">
            <a:extLst xmlns:a="http://schemas.openxmlformats.org/drawingml/2006/main">
              <a:ext uri="{FF2B5EF4-FFF2-40B4-BE49-F238E27FC236}">
                <a16:creationId xmlns:a16="http://schemas.microsoft.com/office/drawing/2014/main" id="{075270A3-8346-4581-BC09-5BC51EA01851}"/>
              </a:ext>
            </a:extLst>
          </p:cNvPr>
          <p:cNvSpPr>
            <a:spLocks xmlns:a="http://schemas.openxmlformats.org/drawingml/2006/main" noGrp="1"/>
          </p:cNvSpPr>
          <p:nvPr/>
        </p:nvSpPr>
        <p:spPr>
          <a:xfrm xmlns:a="http://schemas.openxmlformats.org/drawingml/2006/main">
            <a:off x="552450" y="2343150"/>
            <a:ext cx="2095500" cy="1381125"/>
          </a:xfrm>
          <a:prstGeom xmlns:a="http://schemas.openxmlformats.org/drawingml/2006/main" prst="roundRect">
            <a:avLst>
              <a:gd name="adj" fmla="val 8276"/>
            </a:avLst>
          </a:prstGeom>
          <a:solidFill xmlns:a="http://schemas.openxmlformats.org/drawingml/2006/main">
            <a:srgbClr val="0E2B42"/>
          </a:solidFill>
          <a:ln xmlns:a="http://schemas.openxmlformats.org/drawingml/2006/main" w="9525">
            <a:solidFill>
              <a:srgbClr val="31536A"/>
            </a:solidFill>
            <a:prstDash val="solid"/>
          </a:ln>
        </p:spPr>
      </p:sp>
      <p:sp>
        <p:nvSpPr>
          <p:cNvPr id="5" name="">
            <a:extLst xmlns:a="http://schemas.openxmlformats.org/drawingml/2006/main">
              <a:ext uri="{FF2B5EF4-FFF2-40B4-BE49-F238E27FC236}">
                <a16:creationId xmlns:a16="http://schemas.microsoft.com/office/drawing/2014/main" id="{7A1FD101-96CD-4636-B7D4-8CEF244F5E3A}"/>
              </a:ext>
            </a:extLst>
          </p:cNvPr>
          <p:cNvSpPr>
            <a:spLocks xmlns:a="http://schemas.openxmlformats.org/drawingml/2006/main" noGrp="1"/>
          </p:cNvSpPr>
          <p:nvPr/>
        </p:nvSpPr>
        <p:spPr>
          <a:xfrm xmlns:a="http://schemas.openxmlformats.org/drawingml/2006/main">
            <a:off x="552450" y="2343150"/>
            <a:ext cx="57150" cy="1381125"/>
          </a:xfrm>
          <a:prstGeom xmlns:a="http://schemas.openxmlformats.org/drawingml/2006/main" prst="rect">
            <a:avLst/>
          </a:prstGeom>
          <a:solidFill xmlns:a="http://schemas.openxmlformats.org/drawingml/2006/main">
            <a:srgbClr val="FF9D42"/>
          </a:solidFill>
          <a:ln xmlns:a="http://schemas.openxmlformats.org/drawingml/2006/main" w="0">
            <a:solidFill>
              <a:srgbClr val="FF9D42"/>
            </a:solidFill>
            <a:prstDash val="solid"/>
          </a:ln>
        </p:spPr>
      </p:sp>
      <p:sp>
        <p:nvSpPr>
          <p:cNvPr id="6" name="">
            <a:extLst xmlns:a="http://schemas.openxmlformats.org/drawingml/2006/main">
              <a:ext uri="{FF2B5EF4-FFF2-40B4-BE49-F238E27FC236}">
                <a16:creationId xmlns:a16="http://schemas.microsoft.com/office/drawing/2014/main" id="{40CFF99C-13E9-4282-9CA3-8F54ED9DB09C}"/>
              </a:ext>
            </a:extLst>
          </p:cNvPr>
          <p:cNvSpPr>
            <a:spLocks xmlns:a="http://schemas.openxmlformats.org/drawingml/2006/main" noGrp="1"/>
          </p:cNvSpPr>
          <p:nvPr/>
        </p:nvSpPr>
        <p:spPr>
          <a:xfrm xmlns:a="http://schemas.openxmlformats.org/drawingml/2006/main">
            <a:off x="742950" y="2476500"/>
            <a:ext cx="17907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575" b="1">
                <a:solidFill>
                  <a:srgbClr val="F7FBFF"/>
                </a:solidFill>
              </a:defRPr>
            </a:defPPr>
          </a:lstStyle>
          <a:p xmlns:a="http://schemas.openxmlformats.org/drawingml/2006/main">
            <a:pPr algn="l">
              <a:defRPr sz="1575" b="1">
                <a:solidFill>
                  <a:srgbClr val="F7FBFF"/>
                </a:solidFill>
              </a:defRPr>
            </a:pPr>
            <a:r>
              <a:rPr sz="1575" b="1">
                <a:solidFill>
                  <a:srgbClr val="F7FBFF"/>
                </a:solidFill>
              </a:rPr>
              <a:t>UE generator</a:t>
            </a:r>
          </a:p>
        </p:txBody>
      </p:sp>
      <p:sp>
        <p:nvSpPr>
          <p:cNvPr id="7" name="">
            <a:extLst xmlns:a="http://schemas.openxmlformats.org/drawingml/2006/main">
              <a:ext uri="{FF2B5EF4-FFF2-40B4-BE49-F238E27FC236}">
                <a16:creationId xmlns:a16="http://schemas.microsoft.com/office/drawing/2014/main" id="{B1B2D643-C05D-48F0-A93C-75B2744A69A2}"/>
              </a:ext>
            </a:extLst>
          </p:cNvPr>
          <p:cNvSpPr>
            <a:spLocks xmlns:a="http://schemas.openxmlformats.org/drawingml/2006/main" noGrp="1"/>
          </p:cNvSpPr>
          <p:nvPr/>
        </p:nvSpPr>
        <p:spPr>
          <a:xfrm xmlns:a="http://schemas.openxmlformats.org/drawingml/2006/main">
            <a:off x="742950" y="3028950"/>
            <a:ext cx="1790700" cy="600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975" b="0">
                <a:solidFill>
                  <a:srgbClr val="A9C1D2"/>
                </a:solidFill>
              </a:defRPr>
            </a:defPPr>
          </a:lstStyle>
          <a:p xmlns:a="http://schemas.openxmlformats.org/drawingml/2006/main">
            <a:pPr algn="l">
              <a:defRPr sz="975" b="0">
                <a:solidFill>
                  <a:srgbClr val="A9C1D2"/>
                </a:solidFill>
              </a:defRPr>
            </a:pPr>
            <a:r>
              <a:rPr sz="975" b="0">
                <a:solidFill>
                  <a:srgbClr val="A9C1D2"/>
                </a:solidFill>
              </a:rPr>
              <a:t>BNG Blaster</a:t>
            </a:r>
          </a:p>
          <a:p xmlns:a="http://schemas.openxmlformats.org/drawingml/2006/main">
            <a:pPr algn="l">
              <a:defRPr sz="975" b="0">
                <a:solidFill>
                  <a:srgbClr val="A9C1D2"/>
                </a:solidFill>
              </a:defRPr>
            </a:pPr>
            <a:r>
              <a:rPr sz="975" b="0">
                <a:solidFill>
                  <a:srgbClr val="A9C1D2"/>
                </a:solidFill>
              </a:rPr>
              <a:t>VLAN sessions and tests</a:t>
            </a:r>
          </a:p>
        </p:txBody>
      </p:sp>
      <p:sp>
        <p:nvSpPr>
          <p:cNvPr id="8" name="">
            <a:extLst xmlns:a="http://schemas.openxmlformats.org/drawingml/2006/main">
              <a:ext uri="{FF2B5EF4-FFF2-40B4-BE49-F238E27FC236}">
                <a16:creationId xmlns:a16="http://schemas.microsoft.com/office/drawing/2014/main" id="{BD965246-3AF0-4A44-ABF5-4CE8CB699145}"/>
              </a:ext>
            </a:extLst>
          </p:cNvPr>
          <p:cNvSpPr>
            <a:spLocks xmlns:a="http://schemas.openxmlformats.org/drawingml/2006/main" noGrp="1"/>
          </p:cNvSpPr>
          <p:nvPr/>
        </p:nvSpPr>
        <p:spPr>
          <a:xfrm xmlns:a="http://schemas.openxmlformats.org/drawingml/2006/main">
            <a:off x="3333750" y="2343150"/>
            <a:ext cx="2381250" cy="1381125"/>
          </a:xfrm>
          <a:prstGeom xmlns:a="http://schemas.openxmlformats.org/drawingml/2006/main" prst="roundRect">
            <a:avLst>
              <a:gd name="adj" fmla="val 8276"/>
            </a:avLst>
          </a:prstGeom>
          <a:solidFill xmlns:a="http://schemas.openxmlformats.org/drawingml/2006/main">
            <a:srgbClr val="0E2B42"/>
          </a:solidFill>
          <a:ln xmlns:a="http://schemas.openxmlformats.org/drawingml/2006/main" w="9525">
            <a:solidFill>
              <a:srgbClr val="31536A"/>
            </a:solidFill>
            <a:prstDash val="solid"/>
          </a:ln>
        </p:spPr>
      </p:sp>
      <p:sp>
        <p:nvSpPr>
          <p:cNvPr id="9" name="">
            <a:extLst xmlns:a="http://schemas.openxmlformats.org/drawingml/2006/main">
              <a:ext uri="{FF2B5EF4-FFF2-40B4-BE49-F238E27FC236}">
                <a16:creationId xmlns:a16="http://schemas.microsoft.com/office/drawing/2014/main" id="{6A3C7D75-A062-4C2A-B111-14DF59727098}"/>
              </a:ext>
            </a:extLst>
          </p:cNvPr>
          <p:cNvSpPr>
            <a:spLocks xmlns:a="http://schemas.openxmlformats.org/drawingml/2006/main" noGrp="1"/>
          </p:cNvSpPr>
          <p:nvPr/>
        </p:nvSpPr>
        <p:spPr>
          <a:xfrm xmlns:a="http://schemas.openxmlformats.org/drawingml/2006/main">
            <a:off x="3333750" y="2343150"/>
            <a:ext cx="57150" cy="1381125"/>
          </a:xfrm>
          <a:prstGeom xmlns:a="http://schemas.openxmlformats.org/drawingml/2006/main" prst="rect">
            <a:avLst/>
          </a:prstGeom>
          <a:solidFill xmlns:a="http://schemas.openxmlformats.org/drawingml/2006/main">
            <a:srgbClr val="23D5D2"/>
          </a:solidFill>
          <a:ln xmlns:a="http://schemas.openxmlformats.org/drawingml/2006/main" w="0">
            <a:solidFill>
              <a:srgbClr val="23D5D2"/>
            </a:solidFill>
            <a:prstDash val="solid"/>
          </a:ln>
        </p:spPr>
      </p:sp>
      <p:sp>
        <p:nvSpPr>
          <p:cNvPr id="10" name="">
            <a:extLst xmlns:a="http://schemas.openxmlformats.org/drawingml/2006/main">
              <a:ext uri="{FF2B5EF4-FFF2-40B4-BE49-F238E27FC236}">
                <a16:creationId xmlns:a16="http://schemas.microsoft.com/office/drawing/2014/main" id="{94872E2B-8107-409A-AD56-2A81027E168F}"/>
              </a:ext>
            </a:extLst>
          </p:cNvPr>
          <p:cNvSpPr>
            <a:spLocks xmlns:a="http://schemas.openxmlformats.org/drawingml/2006/main" noGrp="1"/>
          </p:cNvSpPr>
          <p:nvPr/>
        </p:nvSpPr>
        <p:spPr>
          <a:xfrm xmlns:a="http://schemas.openxmlformats.org/drawingml/2006/main">
            <a:off x="3524250" y="2476500"/>
            <a:ext cx="20764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575" b="1">
                <a:solidFill>
                  <a:srgbClr val="F7FBFF"/>
                </a:solidFill>
              </a:defRPr>
            </a:defPPr>
          </a:lstStyle>
          <a:p xmlns:a="http://schemas.openxmlformats.org/drawingml/2006/main">
            <a:pPr algn="l">
              <a:defRPr sz="1575" b="1">
                <a:solidFill>
                  <a:srgbClr val="F7FBFF"/>
                </a:solidFill>
              </a:defRPr>
            </a:pPr>
            <a:r>
              <a:rPr sz="1575" b="1">
                <a:solidFill>
                  <a:srgbClr val="F7FBFF"/>
                </a:solidFill>
              </a:rPr>
              <a:t>OSVBNG StatefulSet</a:t>
            </a:r>
          </a:p>
        </p:txBody>
      </p:sp>
      <p:sp>
        <p:nvSpPr>
          <p:cNvPr id="11" name="">
            <a:extLst xmlns:a="http://schemas.openxmlformats.org/drawingml/2006/main">
              <a:ext uri="{FF2B5EF4-FFF2-40B4-BE49-F238E27FC236}">
                <a16:creationId xmlns:a16="http://schemas.microsoft.com/office/drawing/2014/main" id="{5A5E0875-66A4-4B69-A0A6-2AFAF6EDB4CC}"/>
              </a:ext>
            </a:extLst>
          </p:cNvPr>
          <p:cNvSpPr>
            <a:spLocks xmlns:a="http://schemas.openxmlformats.org/drawingml/2006/main" noGrp="1"/>
          </p:cNvSpPr>
          <p:nvPr/>
        </p:nvSpPr>
        <p:spPr>
          <a:xfrm xmlns:a="http://schemas.openxmlformats.org/drawingml/2006/main">
            <a:off x="3524250" y="3028950"/>
            <a:ext cx="2076450" cy="600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975" b="0">
                <a:solidFill>
                  <a:srgbClr val="A9C1D2"/>
                </a:solidFill>
              </a:defRPr>
            </a:defPPr>
          </a:lstStyle>
          <a:p xmlns:a="http://schemas.openxmlformats.org/drawingml/2006/main">
            <a:pPr algn="l">
              <a:defRPr sz="975" b="0">
                <a:solidFill>
                  <a:srgbClr val="A9C1D2"/>
                </a:solidFill>
              </a:defRPr>
            </a:pPr>
            <a:r>
              <a:rPr sz="975" b="0">
                <a:solidFill>
                  <a:srgbClr val="A9C1D2"/>
                </a:solidFill>
              </a:rPr>
              <a:t>VPP + DPDK</a:t>
            </a:r>
          </a:p>
          <a:p xmlns:a="http://schemas.openxmlformats.org/drawingml/2006/main">
            <a:pPr algn="l">
              <a:defRPr sz="975" b="0">
                <a:solidFill>
                  <a:srgbClr val="A9C1D2"/>
                </a:solidFill>
              </a:defRPr>
            </a:pPr>
            <a:r>
              <a:rPr sz="975" b="0">
                <a:solidFill>
                  <a:srgbClr val="A9C1D2"/>
                </a:solidFill>
              </a:rPr>
              <a:t>subscriber forwarding</a:t>
            </a:r>
          </a:p>
        </p:txBody>
      </p:sp>
      <p:sp>
        <p:nvSpPr>
          <p:cNvPr id="12" name="">
            <a:extLst xmlns:a="http://schemas.openxmlformats.org/drawingml/2006/main">
              <a:ext uri="{FF2B5EF4-FFF2-40B4-BE49-F238E27FC236}">
                <a16:creationId xmlns:a16="http://schemas.microsoft.com/office/drawing/2014/main" id="{069F2107-B8E5-4D1D-9987-3206B80C77F9}"/>
              </a:ext>
            </a:extLst>
          </p:cNvPr>
          <p:cNvSpPr>
            <a:spLocks xmlns:a="http://schemas.openxmlformats.org/drawingml/2006/main" noGrp="1"/>
          </p:cNvSpPr>
          <p:nvPr/>
        </p:nvSpPr>
        <p:spPr>
          <a:xfrm xmlns:a="http://schemas.openxmlformats.org/drawingml/2006/main">
            <a:off x="6572250" y="2343150"/>
            <a:ext cx="2190750" cy="1381125"/>
          </a:xfrm>
          <a:prstGeom xmlns:a="http://schemas.openxmlformats.org/drawingml/2006/main" prst="roundRect">
            <a:avLst>
              <a:gd name="adj" fmla="val 8276"/>
            </a:avLst>
          </a:prstGeom>
          <a:solidFill xmlns:a="http://schemas.openxmlformats.org/drawingml/2006/main">
            <a:srgbClr val="0E2B42"/>
          </a:solidFill>
          <a:ln xmlns:a="http://schemas.openxmlformats.org/drawingml/2006/main" w="9525">
            <a:solidFill>
              <a:srgbClr val="31536A"/>
            </a:solidFill>
            <a:prstDash val="solid"/>
          </a:ln>
        </p:spPr>
      </p:sp>
      <p:sp>
        <p:nvSpPr>
          <p:cNvPr id="13" name="">
            <a:extLst xmlns:a="http://schemas.openxmlformats.org/drawingml/2006/main">
              <a:ext uri="{FF2B5EF4-FFF2-40B4-BE49-F238E27FC236}">
                <a16:creationId xmlns:a16="http://schemas.microsoft.com/office/drawing/2014/main" id="{0E9F7D07-4D67-4784-AAC9-A6E615D76E3A}"/>
              </a:ext>
            </a:extLst>
          </p:cNvPr>
          <p:cNvSpPr>
            <a:spLocks xmlns:a="http://schemas.openxmlformats.org/drawingml/2006/main" noGrp="1"/>
          </p:cNvSpPr>
          <p:nvPr/>
        </p:nvSpPr>
        <p:spPr>
          <a:xfrm xmlns:a="http://schemas.openxmlformats.org/drawingml/2006/main">
            <a:off x="6572250" y="2343150"/>
            <a:ext cx="57150" cy="1381125"/>
          </a:xfrm>
          <a:prstGeom xmlns:a="http://schemas.openxmlformats.org/drawingml/2006/main" prst="rect">
            <a:avLst/>
          </a:prstGeom>
          <a:solidFill xmlns:a="http://schemas.openxmlformats.org/drawingml/2006/main">
            <a:srgbClr val="43D17D"/>
          </a:solidFill>
          <a:ln xmlns:a="http://schemas.openxmlformats.org/drawingml/2006/main" w="0">
            <a:solidFill>
              <a:srgbClr val="43D17D"/>
            </a:solidFill>
            <a:prstDash val="solid"/>
          </a:ln>
        </p:spPr>
      </p:sp>
      <p:sp>
        <p:nvSpPr>
          <p:cNvPr id="14" name="">
            <a:extLst xmlns:a="http://schemas.openxmlformats.org/drawingml/2006/main">
              <a:ext uri="{FF2B5EF4-FFF2-40B4-BE49-F238E27FC236}">
                <a16:creationId xmlns:a16="http://schemas.microsoft.com/office/drawing/2014/main" id="{C6819007-FB89-43D9-ABBA-7D0501046671}"/>
              </a:ext>
            </a:extLst>
          </p:cNvPr>
          <p:cNvSpPr>
            <a:spLocks xmlns:a="http://schemas.openxmlformats.org/drawingml/2006/main" noGrp="1"/>
          </p:cNvSpPr>
          <p:nvPr/>
        </p:nvSpPr>
        <p:spPr>
          <a:xfrm xmlns:a="http://schemas.openxmlformats.org/drawingml/2006/main">
            <a:off x="6762750" y="2476500"/>
            <a:ext cx="18859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575" b="1">
                <a:solidFill>
                  <a:srgbClr val="F7FBFF"/>
                </a:solidFill>
              </a:defRPr>
            </a:defPPr>
          </a:lstStyle>
          <a:p xmlns:a="http://schemas.openxmlformats.org/drawingml/2006/main">
            <a:pPr algn="l">
              <a:defRPr sz="1575" b="1">
                <a:solidFill>
                  <a:srgbClr val="F7FBFF"/>
                </a:solidFill>
              </a:defRPr>
            </a:pPr>
            <a:r>
              <a:rPr sz="1575" b="1">
                <a:solidFill>
                  <a:srgbClr val="F7FBFF"/>
                </a:solidFill>
              </a:rPr>
              <a:t>FRR edge routers</a:t>
            </a:r>
          </a:p>
        </p:txBody>
      </p:sp>
      <p:sp>
        <p:nvSpPr>
          <p:cNvPr id="15" name="">
            <a:extLst xmlns:a="http://schemas.openxmlformats.org/drawingml/2006/main">
              <a:ext uri="{FF2B5EF4-FFF2-40B4-BE49-F238E27FC236}">
                <a16:creationId xmlns:a16="http://schemas.microsoft.com/office/drawing/2014/main" id="{8746A92C-04EB-407C-A73E-B054C4AF5A03}"/>
              </a:ext>
            </a:extLst>
          </p:cNvPr>
          <p:cNvSpPr>
            <a:spLocks xmlns:a="http://schemas.openxmlformats.org/drawingml/2006/main" noGrp="1"/>
          </p:cNvSpPr>
          <p:nvPr/>
        </p:nvSpPr>
        <p:spPr>
          <a:xfrm xmlns:a="http://schemas.openxmlformats.org/drawingml/2006/main">
            <a:off x="6762750" y="3028950"/>
            <a:ext cx="1885950" cy="600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975" b="0">
                <a:solidFill>
                  <a:srgbClr val="A9C1D2"/>
                </a:solidFill>
              </a:defRPr>
            </a:defPPr>
          </a:lstStyle>
          <a:p xmlns:a="http://schemas.openxmlformats.org/drawingml/2006/main">
            <a:pPr algn="l">
              <a:defRPr sz="975" b="0">
                <a:solidFill>
                  <a:srgbClr val="A9C1D2"/>
                </a:solidFill>
              </a:defRPr>
            </a:pPr>
            <a:r>
              <a:rPr sz="975" b="0">
                <a:solidFill>
                  <a:srgbClr val="A9C1D2"/>
                </a:solidFill>
              </a:rPr>
              <a:t>BGP toward the BNG</a:t>
            </a:r>
          </a:p>
          <a:p xmlns:a="http://schemas.openxmlformats.org/drawingml/2006/main">
            <a:pPr algn="l">
              <a:defRPr sz="975" b="0">
                <a:solidFill>
                  <a:srgbClr val="A9C1D2"/>
                </a:solidFill>
              </a:defRPr>
            </a:pPr>
            <a:r>
              <a:rPr sz="975" b="0">
                <a:solidFill>
                  <a:srgbClr val="A9C1D2"/>
                </a:solidFill>
              </a:rPr>
              <a:t>and MikroTik</a:t>
            </a:r>
          </a:p>
        </p:txBody>
      </p:sp>
      <p:sp>
        <p:nvSpPr>
          <p:cNvPr id="16" name="">
            <a:extLst xmlns:a="http://schemas.openxmlformats.org/drawingml/2006/main">
              <a:ext uri="{FF2B5EF4-FFF2-40B4-BE49-F238E27FC236}">
                <a16:creationId xmlns:a16="http://schemas.microsoft.com/office/drawing/2014/main" id="{DAB79A6D-0BA0-4EBE-91C5-35D9017C7230}"/>
              </a:ext>
            </a:extLst>
          </p:cNvPr>
          <p:cNvSpPr>
            <a:spLocks xmlns:a="http://schemas.openxmlformats.org/drawingml/2006/main" noGrp="1"/>
          </p:cNvSpPr>
          <p:nvPr/>
        </p:nvSpPr>
        <p:spPr>
          <a:xfrm xmlns:a="http://schemas.openxmlformats.org/drawingml/2006/main">
            <a:off x="9525000" y="2343150"/>
            <a:ext cx="2095500" cy="1381125"/>
          </a:xfrm>
          <a:prstGeom xmlns:a="http://schemas.openxmlformats.org/drawingml/2006/main" prst="roundRect">
            <a:avLst>
              <a:gd name="adj" fmla="val 8276"/>
            </a:avLst>
          </a:prstGeom>
          <a:solidFill xmlns:a="http://schemas.openxmlformats.org/drawingml/2006/main">
            <a:srgbClr val="0E2B42"/>
          </a:solidFill>
          <a:ln xmlns:a="http://schemas.openxmlformats.org/drawingml/2006/main" w="9525">
            <a:solidFill>
              <a:srgbClr val="31536A"/>
            </a:solidFill>
            <a:prstDash val="solid"/>
          </a:ln>
        </p:spPr>
      </p:sp>
      <p:sp>
        <p:nvSpPr>
          <p:cNvPr id="17" name="">
            <a:extLst xmlns:a="http://schemas.openxmlformats.org/drawingml/2006/main">
              <a:ext uri="{FF2B5EF4-FFF2-40B4-BE49-F238E27FC236}">
                <a16:creationId xmlns:a16="http://schemas.microsoft.com/office/drawing/2014/main" id="{D60B7567-AB26-44FF-B803-77F6ADB94848}"/>
              </a:ext>
            </a:extLst>
          </p:cNvPr>
          <p:cNvSpPr>
            <a:spLocks xmlns:a="http://schemas.openxmlformats.org/drawingml/2006/main" noGrp="1"/>
          </p:cNvSpPr>
          <p:nvPr/>
        </p:nvSpPr>
        <p:spPr>
          <a:xfrm xmlns:a="http://schemas.openxmlformats.org/drawingml/2006/main">
            <a:off x="9525000" y="2343150"/>
            <a:ext cx="57150" cy="1381125"/>
          </a:xfrm>
          <a:prstGeom xmlns:a="http://schemas.openxmlformats.org/drawingml/2006/main" prst="rect">
            <a:avLst/>
          </a:prstGeom>
          <a:solidFill xmlns:a="http://schemas.openxmlformats.org/drawingml/2006/main">
            <a:srgbClr val="FF9D42"/>
          </a:solidFill>
          <a:ln xmlns:a="http://schemas.openxmlformats.org/drawingml/2006/main" w="0">
            <a:solidFill>
              <a:srgbClr val="FF9D42"/>
            </a:solidFill>
            <a:prstDash val="solid"/>
          </a:ln>
        </p:spPr>
      </p:sp>
      <p:sp>
        <p:nvSpPr>
          <p:cNvPr id="18" name="">
            <a:extLst xmlns:a="http://schemas.openxmlformats.org/drawingml/2006/main">
              <a:ext uri="{FF2B5EF4-FFF2-40B4-BE49-F238E27FC236}">
                <a16:creationId xmlns:a16="http://schemas.microsoft.com/office/drawing/2014/main" id="{98B88BDE-C27D-42D1-A523-9EE81FC6B3AE}"/>
              </a:ext>
            </a:extLst>
          </p:cNvPr>
          <p:cNvSpPr>
            <a:spLocks xmlns:a="http://schemas.openxmlformats.org/drawingml/2006/main" noGrp="1"/>
          </p:cNvSpPr>
          <p:nvPr/>
        </p:nvSpPr>
        <p:spPr>
          <a:xfrm xmlns:a="http://schemas.openxmlformats.org/drawingml/2006/main">
            <a:off x="9715500" y="2476500"/>
            <a:ext cx="17907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575" b="1">
                <a:solidFill>
                  <a:srgbClr val="F7FBFF"/>
                </a:solidFill>
              </a:defRPr>
            </a:defPPr>
          </a:lstStyle>
          <a:p xmlns:a="http://schemas.openxmlformats.org/drawingml/2006/main">
            <a:pPr algn="l">
              <a:defRPr sz="1575" b="1">
                <a:solidFill>
                  <a:srgbClr val="F7FBFF"/>
                </a:solidFill>
              </a:defRPr>
            </a:pPr>
            <a:r>
              <a:rPr sz="1575" b="1">
                <a:solidFill>
                  <a:srgbClr val="F7FBFF"/>
                </a:solidFill>
              </a:rPr>
              <a:t>MikroTik / Internet</a:t>
            </a:r>
          </a:p>
        </p:txBody>
      </p:sp>
      <p:sp>
        <p:nvSpPr>
          <p:cNvPr id="19" name="">
            <a:extLst xmlns:a="http://schemas.openxmlformats.org/drawingml/2006/main">
              <a:ext uri="{FF2B5EF4-FFF2-40B4-BE49-F238E27FC236}">
                <a16:creationId xmlns:a16="http://schemas.microsoft.com/office/drawing/2014/main" id="{ED3FECBB-36DF-48EE-9C90-6DEB99924CB9}"/>
              </a:ext>
            </a:extLst>
          </p:cNvPr>
          <p:cNvSpPr>
            <a:spLocks xmlns:a="http://schemas.openxmlformats.org/drawingml/2006/main" noGrp="1"/>
          </p:cNvSpPr>
          <p:nvPr/>
        </p:nvSpPr>
        <p:spPr>
          <a:xfrm xmlns:a="http://schemas.openxmlformats.org/drawingml/2006/main">
            <a:off x="9715500" y="3028950"/>
            <a:ext cx="1790700" cy="600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975" b="0">
                <a:solidFill>
                  <a:srgbClr val="A9C1D2"/>
                </a:solidFill>
              </a:defRPr>
            </a:defPPr>
          </a:lstStyle>
          <a:p xmlns:a="http://schemas.openxmlformats.org/drawingml/2006/main">
            <a:pPr algn="l">
              <a:defRPr sz="975" b="0">
                <a:solidFill>
                  <a:srgbClr val="A9C1D2"/>
                </a:solidFill>
              </a:defRPr>
            </a:pPr>
            <a:r>
              <a:rPr sz="975" b="0">
                <a:solidFill>
                  <a:srgbClr val="A9C1D2"/>
                </a:solidFill>
              </a:rPr>
              <a:t>Default route</a:t>
            </a:r>
          </a:p>
          <a:p xmlns:a="http://schemas.openxmlformats.org/drawingml/2006/main">
            <a:pPr algn="l">
              <a:defRPr sz="975" b="0">
                <a:solidFill>
                  <a:srgbClr val="A9C1D2"/>
                </a:solidFill>
              </a:defRPr>
            </a:pPr>
            <a:r>
              <a:rPr sz="975" b="0">
                <a:solidFill>
                  <a:srgbClr val="A9C1D2"/>
                </a:solidFill>
              </a:rPr>
              <a:t>and return path</a:t>
            </a:r>
          </a:p>
        </p:txBody>
      </p:sp>
      <p:sp>
        <p:nvSpPr>
          <p:cNvPr id="20" name="">
            <a:extLst xmlns:a="http://schemas.openxmlformats.org/drawingml/2006/main">
              <a:ext uri="{FF2B5EF4-FFF2-40B4-BE49-F238E27FC236}">
                <a16:creationId xmlns:a16="http://schemas.microsoft.com/office/drawing/2014/main" id="{C0C89BC1-83B6-483F-B2B8-72072209D1FD}"/>
              </a:ext>
            </a:extLst>
          </p:cNvPr>
          <p:cNvSpPr>
            <a:spLocks xmlns:a="http://schemas.openxmlformats.org/drawingml/2006/main" noGrp="1"/>
          </p:cNvSpPr>
          <p:nvPr/>
        </p:nvSpPr>
        <p:spPr>
          <a:xfrm xmlns:a="http://schemas.openxmlformats.org/drawingml/2006/main">
            <a:off x="2647950" y="3009900"/>
            <a:ext cx="685800" cy="38100"/>
          </a:xfrm>
          <a:prstGeom xmlns:a="http://schemas.openxmlformats.org/drawingml/2006/main" prst="rect">
            <a:avLst/>
          </a:prstGeom>
          <a:solidFill xmlns:a="http://schemas.openxmlformats.org/drawingml/2006/main">
            <a:srgbClr val="FF9D42"/>
          </a:solidFill>
          <a:ln xmlns:a="http://schemas.openxmlformats.org/drawingml/2006/main" w="0">
            <a:solidFill>
              <a:srgbClr val="FF9D42"/>
            </a:solidFill>
            <a:prstDash val="solid"/>
          </a:ln>
        </p:spPr>
      </p:sp>
      <p:sp>
        <p:nvSpPr>
          <p:cNvPr id="21" name="">
            <a:extLst xmlns:a="http://schemas.openxmlformats.org/drawingml/2006/main">
              <a:ext uri="{FF2B5EF4-FFF2-40B4-BE49-F238E27FC236}">
                <a16:creationId xmlns:a16="http://schemas.microsoft.com/office/drawing/2014/main" id="{744CD504-49CC-4990-819C-C56A9D90C8BF}"/>
              </a:ext>
            </a:extLst>
          </p:cNvPr>
          <p:cNvSpPr>
            <a:spLocks xmlns:a="http://schemas.openxmlformats.org/drawingml/2006/main" noGrp="1"/>
          </p:cNvSpPr>
          <p:nvPr/>
        </p:nvSpPr>
        <p:spPr>
          <a:xfrm xmlns:a="http://schemas.openxmlformats.org/drawingml/2006/main">
            <a:off x="5715000" y="3009900"/>
            <a:ext cx="857250" cy="38100"/>
          </a:xfrm>
          <a:prstGeom xmlns:a="http://schemas.openxmlformats.org/drawingml/2006/main" prst="rect">
            <a:avLst/>
          </a:prstGeom>
          <a:solidFill xmlns:a="http://schemas.openxmlformats.org/drawingml/2006/main">
            <a:srgbClr val="23D5D2"/>
          </a:solidFill>
          <a:ln xmlns:a="http://schemas.openxmlformats.org/drawingml/2006/main" w="0">
            <a:solidFill>
              <a:srgbClr val="23D5D2"/>
            </a:solidFill>
            <a:prstDash val="solid"/>
          </a:ln>
        </p:spPr>
      </p:sp>
      <p:sp>
        <p:nvSpPr>
          <p:cNvPr id="22" name="">
            <a:extLst xmlns:a="http://schemas.openxmlformats.org/drawingml/2006/main">
              <a:ext uri="{FF2B5EF4-FFF2-40B4-BE49-F238E27FC236}">
                <a16:creationId xmlns:a16="http://schemas.microsoft.com/office/drawing/2014/main" id="{3161673A-0C3F-4910-A0C4-0F851E2BDBBD}"/>
              </a:ext>
            </a:extLst>
          </p:cNvPr>
          <p:cNvSpPr>
            <a:spLocks xmlns:a="http://schemas.openxmlformats.org/drawingml/2006/main" noGrp="1"/>
          </p:cNvSpPr>
          <p:nvPr/>
        </p:nvSpPr>
        <p:spPr>
          <a:xfrm xmlns:a="http://schemas.openxmlformats.org/drawingml/2006/main">
            <a:off x="8763000" y="3009900"/>
            <a:ext cx="762000" cy="38100"/>
          </a:xfrm>
          <a:prstGeom xmlns:a="http://schemas.openxmlformats.org/drawingml/2006/main" prst="rect">
            <a:avLst/>
          </a:prstGeom>
          <a:solidFill xmlns:a="http://schemas.openxmlformats.org/drawingml/2006/main">
            <a:srgbClr val="43D17D"/>
          </a:solidFill>
          <a:ln xmlns:a="http://schemas.openxmlformats.org/drawingml/2006/main" w="0">
            <a:solidFill>
              <a:srgbClr val="43D17D"/>
            </a:solidFill>
            <a:prstDash val="solid"/>
          </a:ln>
        </p:spPr>
      </p:sp>
      <p:sp>
        <p:nvSpPr>
          <p:cNvPr id="23" name="">
            <a:extLst xmlns:a="http://schemas.openxmlformats.org/drawingml/2006/main">
              <a:ext uri="{FF2B5EF4-FFF2-40B4-BE49-F238E27FC236}">
                <a16:creationId xmlns:a16="http://schemas.microsoft.com/office/drawing/2014/main" id="{3637E4B5-35CF-48E1-9080-535D94BF0949}"/>
              </a:ext>
            </a:extLst>
          </p:cNvPr>
          <p:cNvSpPr>
            <a:spLocks xmlns:a="http://schemas.openxmlformats.org/drawingml/2006/main" noGrp="1"/>
          </p:cNvSpPr>
          <p:nvPr/>
        </p:nvSpPr>
        <p:spPr>
          <a:xfrm xmlns:a="http://schemas.openxmlformats.org/drawingml/2006/main">
            <a:off x="552450" y="4048125"/>
            <a:ext cx="2095500" cy="590550"/>
          </a:xfrm>
          <a:prstGeom xmlns:a="http://schemas.openxmlformats.org/drawingml/2006/main" prst="roundRect">
            <a:avLst>
              <a:gd name="adj" fmla="val 19355"/>
            </a:avLst>
          </a:prstGeom>
          <a:solidFill xmlns:a="http://schemas.openxmlformats.org/drawingml/2006/main">
            <a:srgbClr val="102C41"/>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C0C6AAA6-D8A3-442F-97A8-A5355560CDDC}"/>
              </a:ext>
            </a:extLst>
          </p:cNvPr>
          <p:cNvSpPr>
            <a:spLocks xmlns:a="http://schemas.openxmlformats.org/drawingml/2006/main" noGrp="1"/>
          </p:cNvSpPr>
          <p:nvPr/>
        </p:nvSpPr>
        <p:spPr>
          <a:xfrm xmlns:a="http://schemas.openxmlformats.org/drawingml/2006/main">
            <a:off x="666750" y="4152900"/>
            <a:ext cx="18669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1125" b="1">
                <a:solidFill>
                  <a:srgbClr val="F7FBFF"/>
                </a:solidFill>
              </a:defRPr>
            </a:defPPr>
          </a:lstStyle>
          <a:p xmlns:a="http://schemas.openxmlformats.org/drawingml/2006/main">
            <a:pPr algn="ctr">
              <a:defRPr sz="1125" b="1">
                <a:solidFill>
                  <a:srgbClr val="F7FBFF"/>
                </a:solidFill>
              </a:defRPr>
            </a:pPr>
            <a:r>
              <a:rPr sz="1125" b="1">
                <a:solidFill>
                  <a:srgbClr val="F7FBFF"/>
                </a:solidFill>
              </a:rPr>
              <a:t>Subscriber access</a:t>
            </a:r>
          </a:p>
          <a:p xmlns:a="http://schemas.openxmlformats.org/drawingml/2006/main">
            <a:pPr algn="ctr">
              <a:defRPr sz="1125" b="1">
                <a:solidFill>
                  <a:srgbClr val="F7FBFF"/>
                </a:solidFill>
              </a:defRPr>
            </a:pPr>
            <a:r>
              <a:rPr sz="1125" b="1">
                <a:solidFill>
                  <a:srgbClr val="F7FBFF"/>
                </a:solidFill>
              </a:rPr>
              <a:t>VLANs 100–119</a:t>
            </a:r>
          </a:p>
        </p:txBody>
      </p:sp>
      <p:sp>
        <p:nvSpPr>
          <p:cNvPr id="25" name="">
            <a:extLst xmlns:a="http://schemas.openxmlformats.org/drawingml/2006/main">
              <a:ext uri="{FF2B5EF4-FFF2-40B4-BE49-F238E27FC236}">
                <a16:creationId xmlns:a16="http://schemas.microsoft.com/office/drawing/2014/main" id="{1060F738-A97F-46FC-ADAB-72360583EA58}"/>
              </a:ext>
            </a:extLst>
          </p:cNvPr>
          <p:cNvSpPr>
            <a:spLocks xmlns:a="http://schemas.openxmlformats.org/drawingml/2006/main" noGrp="1"/>
          </p:cNvSpPr>
          <p:nvPr/>
        </p:nvSpPr>
        <p:spPr>
          <a:xfrm xmlns:a="http://schemas.openxmlformats.org/drawingml/2006/main">
            <a:off x="3333750" y="4048125"/>
            <a:ext cx="2381250" cy="590550"/>
          </a:xfrm>
          <a:prstGeom xmlns:a="http://schemas.openxmlformats.org/drawingml/2006/main" prst="roundRect">
            <a:avLst>
              <a:gd name="adj" fmla="val 19355"/>
            </a:avLst>
          </a:prstGeom>
          <a:solidFill xmlns:a="http://schemas.openxmlformats.org/drawingml/2006/main">
            <a:srgbClr val="102C41"/>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C370C099-668A-40EC-BB01-BA7F0E5D6D8A}"/>
              </a:ext>
            </a:extLst>
          </p:cNvPr>
          <p:cNvSpPr>
            <a:spLocks xmlns:a="http://schemas.openxmlformats.org/drawingml/2006/main" noGrp="1"/>
          </p:cNvSpPr>
          <p:nvPr/>
        </p:nvSpPr>
        <p:spPr>
          <a:xfrm xmlns:a="http://schemas.openxmlformats.org/drawingml/2006/main">
            <a:off x="3486150" y="4152900"/>
            <a:ext cx="2076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1125" b="1">
                <a:solidFill>
                  <a:srgbClr val="F7FBFF"/>
                </a:solidFill>
              </a:defRPr>
            </a:defPPr>
          </a:lstStyle>
          <a:p xmlns:a="http://schemas.openxmlformats.org/drawingml/2006/main">
            <a:pPr algn="ctr">
              <a:defRPr sz="1125" b="1">
                <a:solidFill>
                  <a:srgbClr val="F7FBFF"/>
                </a:solidFill>
              </a:defRPr>
            </a:pPr>
            <a:r>
              <a:rPr sz="1125" b="1">
                <a:solidFill>
                  <a:srgbClr val="F7FBFF"/>
                </a:solidFill>
              </a:rPr>
              <a:t>BNG–FRR transit</a:t>
            </a:r>
          </a:p>
          <a:p xmlns:a="http://schemas.openxmlformats.org/drawingml/2006/main">
            <a:pPr algn="ctr">
              <a:defRPr sz="1125" b="1">
                <a:solidFill>
                  <a:srgbClr val="F7FBFF"/>
                </a:solidFill>
              </a:defRPr>
            </a:pPr>
            <a:r>
              <a:rPr sz="1125" b="1">
                <a:solidFill>
                  <a:srgbClr val="F7FBFF"/>
                </a:solidFill>
              </a:rPr>
              <a:t>172.31.255.0/29</a:t>
            </a:r>
          </a:p>
        </p:txBody>
      </p:sp>
      <p:sp>
        <p:nvSpPr>
          <p:cNvPr id="27" name="">
            <a:extLst xmlns:a="http://schemas.openxmlformats.org/drawingml/2006/main">
              <a:ext uri="{FF2B5EF4-FFF2-40B4-BE49-F238E27FC236}">
                <a16:creationId xmlns:a16="http://schemas.microsoft.com/office/drawing/2014/main" id="{8A0E09E8-8FDD-4B82-B651-46836E493B3D}"/>
              </a:ext>
            </a:extLst>
          </p:cNvPr>
          <p:cNvSpPr>
            <a:spLocks xmlns:a="http://schemas.openxmlformats.org/drawingml/2006/main" noGrp="1"/>
          </p:cNvSpPr>
          <p:nvPr/>
        </p:nvSpPr>
        <p:spPr>
          <a:xfrm xmlns:a="http://schemas.openxmlformats.org/drawingml/2006/main">
            <a:off x="6572250" y="4048125"/>
            <a:ext cx="2190750" cy="590550"/>
          </a:xfrm>
          <a:prstGeom xmlns:a="http://schemas.openxmlformats.org/drawingml/2006/main" prst="roundRect">
            <a:avLst>
              <a:gd name="adj" fmla="val 19355"/>
            </a:avLst>
          </a:prstGeom>
          <a:solidFill xmlns:a="http://schemas.openxmlformats.org/drawingml/2006/main">
            <a:srgbClr val="102C41"/>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B92F3281-DD42-4569-A578-371B8D9B8CC5}"/>
              </a:ext>
            </a:extLst>
          </p:cNvPr>
          <p:cNvSpPr>
            <a:spLocks xmlns:a="http://schemas.openxmlformats.org/drawingml/2006/main" noGrp="1"/>
          </p:cNvSpPr>
          <p:nvPr/>
        </p:nvSpPr>
        <p:spPr>
          <a:xfrm xmlns:a="http://schemas.openxmlformats.org/drawingml/2006/main">
            <a:off x="6705600" y="4152900"/>
            <a:ext cx="1924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1125" b="1">
                <a:solidFill>
                  <a:srgbClr val="F7FBFF"/>
                </a:solidFill>
              </a:defRPr>
            </a:defPPr>
          </a:lstStyle>
          <a:p xmlns:a="http://schemas.openxmlformats.org/drawingml/2006/main">
            <a:pPr algn="ctr">
              <a:defRPr sz="1125" b="1">
                <a:solidFill>
                  <a:srgbClr val="F7FBFF"/>
                </a:solidFill>
              </a:defRPr>
            </a:pPr>
            <a:r>
              <a:rPr sz="1125" b="1">
                <a:solidFill>
                  <a:srgbClr val="F7FBFF"/>
                </a:solidFill>
              </a:rPr>
              <a:t>FRR–MikroTik uplink</a:t>
            </a:r>
          </a:p>
          <a:p xmlns:a="http://schemas.openxmlformats.org/drawingml/2006/main">
            <a:pPr algn="ctr">
              <a:defRPr sz="1125" b="1">
                <a:solidFill>
                  <a:srgbClr val="F7FBFF"/>
                </a:solidFill>
              </a:defRPr>
            </a:pPr>
            <a:r>
              <a:rPr sz="1125" b="1">
                <a:solidFill>
                  <a:srgbClr val="F7FBFF"/>
                </a:solidFill>
              </a:rPr>
              <a:t>192.168.88.12 / .13</a:t>
            </a:r>
          </a:p>
        </p:txBody>
      </p:sp>
      <p:sp>
        <p:nvSpPr>
          <p:cNvPr id="29" name="">
            <a:extLst xmlns:a="http://schemas.openxmlformats.org/drawingml/2006/main">
              <a:ext uri="{FF2B5EF4-FFF2-40B4-BE49-F238E27FC236}">
                <a16:creationId xmlns:a16="http://schemas.microsoft.com/office/drawing/2014/main" id="{15E49002-2E3C-4ED4-95ED-EA97ED85697A}"/>
              </a:ext>
            </a:extLst>
          </p:cNvPr>
          <p:cNvSpPr>
            <a:spLocks xmlns:a="http://schemas.openxmlformats.org/drawingml/2006/main" noGrp="1"/>
          </p:cNvSpPr>
          <p:nvPr/>
        </p:nvSpPr>
        <p:spPr>
          <a:xfrm xmlns:a="http://schemas.openxmlformats.org/drawingml/2006/main">
            <a:off x="9525000" y="4048125"/>
            <a:ext cx="2095500" cy="590550"/>
          </a:xfrm>
          <a:prstGeom xmlns:a="http://schemas.openxmlformats.org/drawingml/2006/main" prst="roundRect">
            <a:avLst>
              <a:gd name="adj" fmla="val 19355"/>
            </a:avLst>
          </a:prstGeom>
          <a:solidFill xmlns:a="http://schemas.openxmlformats.org/drawingml/2006/main">
            <a:srgbClr val="102C41"/>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CD007679-2770-4788-B51E-1CB79C861A5C}"/>
              </a:ext>
            </a:extLst>
          </p:cNvPr>
          <p:cNvSpPr>
            <a:spLocks xmlns:a="http://schemas.openxmlformats.org/drawingml/2006/main" noGrp="1"/>
          </p:cNvSpPr>
          <p:nvPr/>
        </p:nvSpPr>
        <p:spPr>
          <a:xfrm xmlns:a="http://schemas.openxmlformats.org/drawingml/2006/main">
            <a:off x="9639300" y="4152900"/>
            <a:ext cx="18669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1125" b="1">
                <a:solidFill>
                  <a:srgbClr val="F7FBFF"/>
                </a:solidFill>
              </a:defRPr>
            </a:defPPr>
          </a:lstStyle>
          <a:p xmlns:a="http://schemas.openxmlformats.org/drawingml/2006/main">
            <a:pPr algn="ctr">
              <a:defRPr sz="1125" b="1">
                <a:solidFill>
                  <a:srgbClr val="F7FBFF"/>
                </a:solidFill>
              </a:defRPr>
            </a:pPr>
            <a:r>
              <a:rPr sz="1125" b="1">
                <a:solidFill>
                  <a:srgbClr val="F7FBFF"/>
                </a:solidFill>
              </a:rPr>
              <a:t>Upstream LAN</a:t>
            </a:r>
          </a:p>
          <a:p xmlns:a="http://schemas.openxmlformats.org/drawingml/2006/main">
            <a:pPr algn="ctr">
              <a:defRPr sz="1125" b="1">
                <a:solidFill>
                  <a:srgbClr val="F7FBFF"/>
                </a:solidFill>
              </a:defRPr>
            </a:pPr>
            <a:r>
              <a:rPr sz="1125" b="1">
                <a:solidFill>
                  <a:srgbClr val="F7FBFF"/>
                </a:solidFill>
              </a:rPr>
              <a:t>192.168.88.0/24</a:t>
            </a:r>
          </a:p>
        </p:txBody>
      </p:sp>
      <p:sp>
        <p:nvSpPr>
          <p:cNvPr id="31" name="">
            <a:extLst xmlns:a="http://schemas.openxmlformats.org/drawingml/2006/main">
              <a:ext uri="{FF2B5EF4-FFF2-40B4-BE49-F238E27FC236}">
                <a16:creationId xmlns:a16="http://schemas.microsoft.com/office/drawing/2014/main" id="{91132683-9797-4A4D-B318-8B39AE337F4F}"/>
              </a:ext>
            </a:extLst>
          </p:cNvPr>
          <p:cNvSpPr>
            <a:spLocks xmlns:a="http://schemas.openxmlformats.org/drawingml/2006/main" noGrp="1"/>
          </p:cNvSpPr>
          <p:nvPr/>
        </p:nvSpPr>
        <p:spPr>
          <a:xfrm xmlns:a="http://schemas.openxmlformats.org/drawingml/2006/main">
            <a:off x="2714625" y="5010150"/>
            <a:ext cx="6858000" cy="685800"/>
          </a:xfrm>
          <a:prstGeom xmlns:a="http://schemas.openxmlformats.org/drawingml/2006/main" prst="roundRect">
            <a:avLst>
              <a:gd name="adj" fmla="val 16667"/>
            </a:avLst>
          </a:prstGeom>
          <a:solidFill xmlns:a="http://schemas.openxmlformats.org/drawingml/2006/main">
            <a:srgbClr val="102C41"/>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42D467BA-BF7B-4C49-BF8A-8B59C4584D4D}"/>
              </a:ext>
            </a:extLst>
          </p:cNvPr>
          <p:cNvSpPr>
            <a:spLocks xmlns:a="http://schemas.openxmlformats.org/drawingml/2006/main" noGrp="1"/>
          </p:cNvSpPr>
          <p:nvPr/>
        </p:nvSpPr>
        <p:spPr>
          <a:xfrm xmlns:a="http://schemas.openxmlformats.org/drawingml/2006/main">
            <a:off x="3000375" y="5191125"/>
            <a:ext cx="6286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1425" b="1">
                <a:solidFill>
                  <a:srgbClr val="F7FBFF"/>
                </a:solidFill>
              </a:defRPr>
            </a:defPPr>
          </a:lstStyle>
          <a:p xmlns:a="http://schemas.openxmlformats.org/drawingml/2006/main">
            <a:pPr algn="ctr">
              <a:defRPr sz="1425" b="1">
                <a:solidFill>
                  <a:srgbClr val="F7FBFF"/>
                </a:solidFill>
              </a:defRPr>
            </a:pPr>
            <a:r>
              <a:rPr sz="1425" b="1">
                <a:solidFill>
                  <a:srgbClr val="F7FBFF"/>
                </a:solidFill>
              </a:rPr>
              <a:t>Kubernetes manages placement, restart, configuration, secrets, and observability.</a:t>
            </a:r>
          </a:p>
        </p:txBody>
      </p:sp>
      <p:sp>
        <p:nvSpPr>
          <p:cNvPr id="33" name="">
            <a:extLst xmlns:a="http://schemas.openxmlformats.org/drawingml/2006/main">
              <a:ext uri="{FF2B5EF4-FFF2-40B4-BE49-F238E27FC236}">
                <a16:creationId xmlns:a16="http://schemas.microsoft.com/office/drawing/2014/main" id="{57750369-B89B-483F-B2EB-8FCA21C9E646}"/>
              </a:ext>
            </a:extLst>
          </p:cNvPr>
          <p:cNvSpPr>
            <a:spLocks xmlns:a="http://schemas.openxmlformats.org/drawingml/2006/main" noGrp="1"/>
          </p:cNvSpPr>
          <p:nvPr/>
        </p:nvSpPr>
        <p:spPr>
          <a:xfrm xmlns:a="http://schemas.openxmlformats.org/drawingml/2006/main">
            <a:off x="685800" y="6410325"/>
            <a:ext cx="10820400" cy="9525"/>
          </a:xfrm>
          <a:prstGeom xmlns:a="http://schemas.openxmlformats.org/drawingml/2006/main" prst="rect">
            <a:avLst/>
          </a:prstGeom>
          <a:solidFill xmlns:a="http://schemas.openxmlformats.org/drawingml/2006/main">
            <a:srgbClr val="29485D"/>
          </a:solidFill>
          <a:ln xmlns:a="http://schemas.openxmlformats.org/drawingml/2006/main" w="0">
            <a:solidFill>
              <a:srgbClr val="29485D"/>
            </a:solidFill>
            <a:prstDash val="solid"/>
          </a:ln>
        </p:spPr>
      </p:sp>
      <p:sp>
        <p:nvSpPr>
          <p:cNvPr id="34" name="">
            <a:extLst xmlns:a="http://schemas.openxmlformats.org/drawingml/2006/main">
              <a:ext uri="{FF2B5EF4-FFF2-40B4-BE49-F238E27FC236}">
                <a16:creationId xmlns:a16="http://schemas.microsoft.com/office/drawing/2014/main" id="{FE7F64AA-3C93-48BF-934D-5F9F709E1452}"/>
              </a:ext>
            </a:extLst>
          </p:cNvPr>
          <p:cNvSpPr>
            <a:spLocks xmlns:a="http://schemas.openxmlformats.org/drawingml/2006/main" noGrp="1"/>
          </p:cNvSpPr>
          <p:nvPr/>
        </p:nvSpPr>
        <p:spPr>
          <a:xfrm xmlns:a="http://schemas.openxmlformats.org/drawingml/2006/main">
            <a:off x="685800" y="6477000"/>
            <a:ext cx="9525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675" b="0">
                <a:solidFill>
                  <a:srgbClr val="A9C1D2"/>
                </a:solidFill>
              </a:defRPr>
            </a:defPPr>
          </a:lstStyle>
          <a:p xmlns:a="http://schemas.openxmlformats.org/drawingml/2006/main">
            <a:pPr algn="l">
              <a:defRPr sz="675" b="0">
                <a:solidFill>
                  <a:srgbClr val="A9C1D2"/>
                </a:solidFill>
              </a:defRPr>
            </a:pPr>
            <a:r>
              <a:rPr sz="675" b="0">
                <a:solidFill>
                  <a:srgbClr val="A9C1D2"/>
                </a:solidFill>
              </a:rPr>
              <a:t>Deployment addresses: FRR-A 192.168.88.12/24 and FRR-B 192.168.88.13/24.</a:t>
            </a:r>
          </a:p>
        </p:txBody>
      </p:sp>
      <p:sp>
        <p:nvSpPr>
          <p:cNvPr id="35" name="">
            <a:extLst xmlns:a="http://schemas.openxmlformats.org/drawingml/2006/main">
              <a:ext uri="{FF2B5EF4-FFF2-40B4-BE49-F238E27FC236}">
                <a16:creationId xmlns:a16="http://schemas.microsoft.com/office/drawing/2014/main" id="{96DED55B-7B2D-4FA7-B9DB-7153B7A508F7}"/>
              </a:ext>
            </a:extLst>
          </p:cNvPr>
          <p:cNvSpPr>
            <a:spLocks xmlns:a="http://schemas.openxmlformats.org/drawingml/2006/main" noGrp="1"/>
          </p:cNvSpPr>
          <p:nvPr/>
        </p:nvSpPr>
        <p:spPr>
          <a:xfrm xmlns:a="http://schemas.openxmlformats.org/drawingml/2006/main">
            <a:off x="10953750" y="6448425"/>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r">
              <a:defRPr sz="825" b="1">
                <a:solidFill>
                  <a:srgbClr val="23D5D2"/>
                </a:solidFill>
              </a:defRPr>
            </a:defPPr>
          </a:lstStyle>
          <a:p xmlns:a="http://schemas.openxmlformats.org/drawingml/2006/main">
            <a:pPr algn="r">
              <a:defRPr sz="825" b="1">
                <a:solidFill>
                  <a:srgbClr val="23D5D2"/>
                </a:solidFill>
              </a:defRPr>
            </a:pPr>
            <a:r>
              <a:rPr sz="825" b="1">
                <a:solidFill>
                  <a:srgbClr val="23D5D2"/>
                </a:solidFill>
              </a:rPr>
              <a:t>03</a:t>
            </a:r>
          </a:p>
        </p:txBody>
      </p:sp>
    </p:spTree>
    <p:extLst>
      <p:ext uri="{BB962C8B-B14F-4D97-AF65-F5344CB8AC3E}">
        <p14:creationId xmlns:p14="http://schemas.microsoft.com/office/powerpoint/2010/main" val="2019975046"/>
      </p:ext>
    </p:extLst>
  </p:cSld>
</p:sld>
</file>

<file path=ppt/slides/slide4.xml><?xml version="1.0" encoding="utf-8"?>
<p:sld xmlns:p="http://schemas.openxmlformats.org/presentationml/2006/main">
  <p:cSld>
    <p:bg>
      <p:bgPr>
        <a:solidFill xmlns:a="http://schemas.openxmlformats.org/drawingml/2006/main">
          <a:srgbClr val="071A2B"/>
        </a:solidFill>
      </p:bgPr>
    </p:bg>
    <p:spTree>
      <p:nvGrpSpPr>
        <p:cNvPr id="1" name=""/>
        <p:cNvGrpSpPr/>
        <p:nvPr/>
      </p:nvGrpSpPr>
      <p:grpSpPr>
        <a:xfrm xmlns:a="http://schemas.openxmlformats.org/drawingml/2006/main"/>
      </p:grpSpPr>
      <p:sp>
        <p:nvSpPr>
          <p:cNvPr id="39" name="">
            <a:extLst xmlns:a="http://schemas.openxmlformats.org/drawingml/2006/main">
              <a:ext uri="{FF2B5EF4-FFF2-40B4-BE49-F238E27FC236}">
                <a16:creationId xmlns:a16="http://schemas.microsoft.com/office/drawing/2014/main" id="{3EB0B0FC-7A0A-4856-8907-C9DA2E863847}"/>
              </a:ext>
            </a:extLst>
          </p:cNvPr>
          <p:cNvSpPr>
            <a:spLocks xmlns:a="http://schemas.openxmlformats.org/drawingml/2006/main" noGrp="1"/>
          </p:cNvSpPr>
          <p:nvPr/>
        </p:nvSpPr>
        <p:spPr>
          <a:xfrm xmlns:a="http://schemas.openxmlformats.org/drawingml/2006/main">
            <a:off x="685800" y="45720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975" b="1">
                <a:solidFill>
                  <a:srgbClr val="23D5D2"/>
                </a:solidFill>
              </a:defRPr>
            </a:defPPr>
          </a:lstStyle>
          <a:p xmlns:a="http://schemas.openxmlformats.org/drawingml/2006/main">
            <a:pPr algn="l">
              <a:defRPr sz="975" b="1">
                <a:solidFill>
                  <a:srgbClr val="23D5D2"/>
                </a:solidFill>
              </a:defRPr>
            </a:pPr>
            <a:r>
              <a:rPr sz="975" b="1">
                <a:solidFill>
                  <a:srgbClr val="23D5D2"/>
                </a:solidFill>
              </a:rPr>
              <a:t>3 • THE PACKET WALK</a:t>
            </a:r>
          </a:p>
        </p:txBody>
      </p:sp>
      <p:sp>
        <p:nvSpPr>
          <p:cNvPr id="2" name="">
            <a:extLst xmlns:a="http://schemas.openxmlformats.org/drawingml/2006/main">
              <a:ext uri="{FF2B5EF4-FFF2-40B4-BE49-F238E27FC236}">
                <a16:creationId xmlns:a16="http://schemas.microsoft.com/office/drawing/2014/main" id="{DD6AAEBC-637B-4F48-8C8B-095E7666C704}"/>
              </a:ext>
            </a:extLst>
          </p:cNvPr>
          <p:cNvSpPr>
            <a:spLocks xmlns:a="http://schemas.openxmlformats.org/drawingml/2006/main" noGrp="1"/>
          </p:cNvSpPr>
          <p:nvPr/>
        </p:nvSpPr>
        <p:spPr>
          <a:xfrm xmlns:a="http://schemas.openxmlformats.org/drawingml/2006/main">
            <a:off x="685800" y="819150"/>
            <a:ext cx="108204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2550" b="1">
                <a:solidFill>
                  <a:srgbClr val="F7FBFF"/>
                </a:solidFill>
              </a:defRPr>
            </a:defPPr>
          </a:lstStyle>
          <a:p xmlns:a="http://schemas.openxmlformats.org/drawingml/2006/main">
            <a:pPr algn="l">
              <a:defRPr sz="2550" b="1">
                <a:solidFill>
                  <a:srgbClr val="F7FBFF"/>
                </a:solidFill>
              </a:defRPr>
            </a:pPr>
            <a:r>
              <a:rPr sz="2550" b="1">
                <a:solidFill>
                  <a:srgbClr val="F7FBFF"/>
                </a:solidFill>
              </a:rPr>
              <a:t>From a subscriber packet to the internet and back</a:t>
            </a:r>
          </a:p>
        </p:txBody>
      </p:sp>
      <p:sp>
        <p:nvSpPr>
          <p:cNvPr id="3" name="">
            <a:extLst xmlns:a="http://schemas.openxmlformats.org/drawingml/2006/main">
              <a:ext uri="{FF2B5EF4-FFF2-40B4-BE49-F238E27FC236}">
                <a16:creationId xmlns:a16="http://schemas.microsoft.com/office/drawing/2014/main" id="{AFB82F61-10C9-40C5-8DE1-3CACE3BE06A0}"/>
              </a:ext>
            </a:extLst>
          </p:cNvPr>
          <p:cNvSpPr>
            <a:spLocks xmlns:a="http://schemas.openxmlformats.org/drawingml/2006/main" noGrp="1"/>
          </p:cNvSpPr>
          <p:nvPr/>
        </p:nvSpPr>
        <p:spPr>
          <a:xfrm xmlns:a="http://schemas.openxmlformats.org/drawingml/2006/main">
            <a:off x="685800" y="1457325"/>
            <a:ext cx="10287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350" b="0">
                <a:solidFill>
                  <a:srgbClr val="A9C1D2"/>
                </a:solidFill>
              </a:defRPr>
            </a:defPPr>
          </a:lstStyle>
          <a:p xmlns:a="http://schemas.openxmlformats.org/drawingml/2006/main">
            <a:pPr algn="l">
              <a:defRPr sz="1350" b="0">
                <a:solidFill>
                  <a:srgbClr val="A9C1D2"/>
                </a:solidFill>
              </a:defRPr>
            </a:pPr>
            <a:r>
              <a:rPr sz="1350" b="0">
                <a:solidFill>
                  <a:srgbClr val="A9C1D2"/>
                </a:solidFill>
              </a:rPr>
              <a:t>The route exchange is as important as the fast path.</a:t>
            </a:r>
          </a:p>
        </p:txBody>
      </p:sp>
      <p:sp>
        <p:nvSpPr>
          <p:cNvPr id="4" name="">
            <a:extLst xmlns:a="http://schemas.openxmlformats.org/drawingml/2006/main">
              <a:ext uri="{FF2B5EF4-FFF2-40B4-BE49-F238E27FC236}">
                <a16:creationId xmlns:a16="http://schemas.microsoft.com/office/drawing/2014/main" id="{CB54558F-5EF7-4EDB-8B24-64BCECAA7E37}"/>
              </a:ext>
            </a:extLst>
          </p:cNvPr>
          <p:cNvSpPr>
            <a:spLocks xmlns:a="http://schemas.openxmlformats.org/drawingml/2006/main" noGrp="1"/>
          </p:cNvSpPr>
          <p:nvPr/>
        </p:nvSpPr>
        <p:spPr>
          <a:xfrm xmlns:a="http://schemas.openxmlformats.org/drawingml/2006/main">
            <a:off x="523875" y="2381250"/>
            <a:ext cx="1981200" cy="2000250"/>
          </a:xfrm>
          <a:prstGeom xmlns:a="http://schemas.openxmlformats.org/drawingml/2006/main" prst="roundRect">
            <a:avLst>
              <a:gd name="adj" fmla="val 7692"/>
            </a:avLst>
          </a:prstGeom>
          <a:solidFill xmlns:a="http://schemas.openxmlformats.org/drawingml/2006/main">
            <a:srgbClr val="0E2B42"/>
          </a:solidFill>
          <a:ln xmlns:a="http://schemas.openxmlformats.org/drawingml/2006/main" w="9525">
            <a:solidFill>
              <a:srgbClr val="31536A"/>
            </a:solidFill>
            <a:prstDash val="solid"/>
          </a:ln>
        </p:spPr>
      </p:sp>
      <p:sp>
        <p:nvSpPr>
          <p:cNvPr id="5" name="">
            <a:extLst xmlns:a="http://schemas.openxmlformats.org/drawingml/2006/main">
              <a:ext uri="{FF2B5EF4-FFF2-40B4-BE49-F238E27FC236}">
                <a16:creationId xmlns:a16="http://schemas.microsoft.com/office/drawing/2014/main" id="{096F355B-C761-4428-826F-3C0EC7EABEC2}"/>
              </a:ext>
            </a:extLst>
          </p:cNvPr>
          <p:cNvSpPr>
            <a:spLocks xmlns:a="http://schemas.openxmlformats.org/drawingml/2006/main" noGrp="1"/>
          </p:cNvSpPr>
          <p:nvPr/>
        </p:nvSpPr>
        <p:spPr>
          <a:xfrm xmlns:a="http://schemas.openxmlformats.org/drawingml/2006/main">
            <a:off x="695325" y="2571750"/>
            <a:ext cx="400050" cy="323850"/>
          </a:xfrm>
          <a:prstGeom xmlns:a="http://schemas.openxmlformats.org/drawingml/2006/main" prst="roundRect">
            <a:avLst>
              <a:gd name="adj" fmla="val 50000"/>
            </a:avLst>
          </a:prstGeom>
          <a:solidFill xmlns:a="http://schemas.openxmlformats.org/drawingml/2006/main">
            <a:srgbClr val="23D5D2"/>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809ABBF6-919D-47AB-BB83-5B10B286622A}"/>
              </a:ext>
            </a:extLst>
          </p:cNvPr>
          <p:cNvSpPr>
            <a:spLocks xmlns:a="http://schemas.openxmlformats.org/drawingml/2006/main" noGrp="1"/>
          </p:cNvSpPr>
          <p:nvPr/>
        </p:nvSpPr>
        <p:spPr>
          <a:xfrm xmlns:a="http://schemas.openxmlformats.org/drawingml/2006/main">
            <a:off x="809625" y="2638425"/>
            <a:ext cx="171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975" b="1">
                <a:solidFill>
                  <a:srgbClr val="071A2B"/>
                </a:solidFill>
              </a:defRPr>
            </a:defPPr>
          </a:lstStyle>
          <a:p xmlns:a="http://schemas.openxmlformats.org/drawingml/2006/main">
            <a:pPr algn="ctr">
              <a:defRPr sz="975" b="1">
                <a:solidFill>
                  <a:srgbClr val="071A2B"/>
                </a:solidFill>
              </a:defRPr>
            </a:pPr>
            <a:r>
              <a:rPr sz="975" b="1">
                <a:solidFill>
                  <a:srgbClr val="071A2B"/>
                </a:solidFill>
              </a:rPr>
              <a:t>1</a:t>
            </a:r>
          </a:p>
        </p:txBody>
      </p:sp>
      <p:sp>
        <p:nvSpPr>
          <p:cNvPr id="7" name="">
            <a:extLst xmlns:a="http://schemas.openxmlformats.org/drawingml/2006/main">
              <a:ext uri="{FF2B5EF4-FFF2-40B4-BE49-F238E27FC236}">
                <a16:creationId xmlns:a16="http://schemas.microsoft.com/office/drawing/2014/main" id="{E88838E8-B463-43EB-8C4F-39A22693BBC8}"/>
              </a:ext>
            </a:extLst>
          </p:cNvPr>
          <p:cNvSpPr>
            <a:spLocks xmlns:a="http://schemas.openxmlformats.org/drawingml/2006/main" noGrp="1"/>
          </p:cNvSpPr>
          <p:nvPr/>
        </p:nvSpPr>
        <p:spPr>
          <a:xfrm xmlns:a="http://schemas.openxmlformats.org/drawingml/2006/main">
            <a:off x="695325" y="3105150"/>
            <a:ext cx="1619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650" b="1">
                <a:solidFill>
                  <a:srgbClr val="F7FBFF"/>
                </a:solidFill>
              </a:defRPr>
            </a:defPPr>
          </a:lstStyle>
          <a:p xmlns:a="http://schemas.openxmlformats.org/drawingml/2006/main">
            <a:pPr algn="l">
              <a:defRPr sz="1650" b="1">
                <a:solidFill>
                  <a:srgbClr val="F7FBFF"/>
                </a:solidFill>
              </a:defRPr>
            </a:pPr>
            <a:r>
              <a:rPr sz="1650" b="1">
                <a:solidFill>
                  <a:srgbClr val="F7FBFF"/>
                </a:solidFill>
              </a:rPr>
              <a:t>Attach</a:t>
            </a:r>
          </a:p>
        </p:txBody>
      </p:sp>
      <p:sp>
        <p:nvSpPr>
          <p:cNvPr id="8" name="">
            <a:extLst xmlns:a="http://schemas.openxmlformats.org/drawingml/2006/main">
              <a:ext uri="{FF2B5EF4-FFF2-40B4-BE49-F238E27FC236}">
                <a16:creationId xmlns:a16="http://schemas.microsoft.com/office/drawing/2014/main" id="{A4E28051-7CBA-47FE-8FBA-9C84E805E002}"/>
              </a:ext>
            </a:extLst>
          </p:cNvPr>
          <p:cNvSpPr>
            <a:spLocks xmlns:a="http://schemas.openxmlformats.org/drawingml/2006/main" noGrp="1"/>
          </p:cNvSpPr>
          <p:nvPr/>
        </p:nvSpPr>
        <p:spPr>
          <a:xfrm xmlns:a="http://schemas.openxmlformats.org/drawingml/2006/main">
            <a:off x="695325" y="3543300"/>
            <a:ext cx="16192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125" b="0">
                <a:solidFill>
                  <a:srgbClr val="A9C1D2"/>
                </a:solidFill>
              </a:defRPr>
            </a:defPPr>
          </a:lstStyle>
          <a:p xmlns:a="http://schemas.openxmlformats.org/drawingml/2006/main">
            <a:pPr algn="l">
              <a:defRPr sz="1125" b="0">
                <a:solidFill>
                  <a:srgbClr val="A9C1D2"/>
                </a:solidFill>
              </a:defRPr>
            </a:pPr>
            <a:r>
              <a:rPr sz="1125" b="0">
                <a:solidFill>
                  <a:srgbClr val="A9C1D2"/>
                </a:solidFill>
              </a:rPr>
              <a:t>DHCP / IPoE</a:t>
            </a:r>
          </a:p>
          <a:p xmlns:a="http://schemas.openxmlformats.org/drawingml/2006/main">
            <a:pPr algn="l">
              <a:defRPr sz="1125" b="0">
                <a:solidFill>
                  <a:srgbClr val="A9C1D2"/>
                </a:solidFill>
              </a:defRPr>
            </a:pPr>
            <a:r>
              <a:rPr sz="1125" b="0">
                <a:solidFill>
                  <a:srgbClr val="A9C1D2"/>
                </a:solidFill>
              </a:rPr>
              <a:t>creates a UE session</a:t>
            </a:r>
          </a:p>
        </p:txBody>
      </p:sp>
      <p:sp>
        <p:nvSpPr>
          <p:cNvPr id="9" name="">
            <a:extLst xmlns:a="http://schemas.openxmlformats.org/drawingml/2006/main">
              <a:ext uri="{FF2B5EF4-FFF2-40B4-BE49-F238E27FC236}">
                <a16:creationId xmlns:a16="http://schemas.microsoft.com/office/drawing/2014/main" id="{0FD6731C-C668-4C6E-AE35-D60021B13ADB}"/>
              </a:ext>
            </a:extLst>
          </p:cNvPr>
          <p:cNvSpPr>
            <a:spLocks xmlns:a="http://schemas.openxmlformats.org/drawingml/2006/main" noGrp="1"/>
          </p:cNvSpPr>
          <p:nvPr/>
        </p:nvSpPr>
        <p:spPr>
          <a:xfrm xmlns:a="http://schemas.openxmlformats.org/drawingml/2006/main">
            <a:off x="2505075" y="3352800"/>
            <a:ext cx="323850" cy="38100"/>
          </a:xfrm>
          <a:prstGeom xmlns:a="http://schemas.openxmlformats.org/drawingml/2006/main" prst="rect">
            <a:avLst/>
          </a:prstGeom>
          <a:solidFill xmlns:a="http://schemas.openxmlformats.org/drawingml/2006/main">
            <a:srgbClr val="23D5D2"/>
          </a:solidFill>
          <a:ln xmlns:a="http://schemas.openxmlformats.org/drawingml/2006/main" w="0">
            <a:solidFill>
              <a:srgbClr val="23D5D2"/>
            </a:solidFill>
            <a:prstDash val="solid"/>
          </a:ln>
        </p:spPr>
      </p:sp>
      <p:sp>
        <p:nvSpPr>
          <p:cNvPr id="10" name="">
            <a:extLst xmlns:a="http://schemas.openxmlformats.org/drawingml/2006/main">
              <a:ext uri="{FF2B5EF4-FFF2-40B4-BE49-F238E27FC236}">
                <a16:creationId xmlns:a16="http://schemas.microsoft.com/office/drawing/2014/main" id="{23EF415B-107C-49CD-B277-AA0C45EC4BCE}"/>
              </a:ext>
            </a:extLst>
          </p:cNvPr>
          <p:cNvSpPr>
            <a:spLocks xmlns:a="http://schemas.openxmlformats.org/drawingml/2006/main" noGrp="1"/>
          </p:cNvSpPr>
          <p:nvPr/>
        </p:nvSpPr>
        <p:spPr>
          <a:xfrm xmlns:a="http://schemas.openxmlformats.org/drawingml/2006/main">
            <a:off x="2828925" y="2381250"/>
            <a:ext cx="1981200" cy="2000250"/>
          </a:xfrm>
          <a:prstGeom xmlns:a="http://schemas.openxmlformats.org/drawingml/2006/main" prst="roundRect">
            <a:avLst>
              <a:gd name="adj" fmla="val 7692"/>
            </a:avLst>
          </a:prstGeom>
          <a:solidFill xmlns:a="http://schemas.openxmlformats.org/drawingml/2006/main">
            <a:srgbClr val="0E2B42"/>
          </a:solidFill>
          <a:ln xmlns:a="http://schemas.openxmlformats.org/drawingml/2006/main" w="9525">
            <a:solidFill>
              <a:srgbClr val="31536A"/>
            </a:solidFill>
            <a:prstDash val="solid"/>
          </a:ln>
        </p:spPr>
      </p:sp>
      <p:sp>
        <p:nvSpPr>
          <p:cNvPr id="11" name="">
            <a:extLst xmlns:a="http://schemas.openxmlformats.org/drawingml/2006/main">
              <a:ext uri="{FF2B5EF4-FFF2-40B4-BE49-F238E27FC236}">
                <a16:creationId xmlns:a16="http://schemas.microsoft.com/office/drawing/2014/main" id="{CE70A637-7A22-47B6-9D20-15962CC7EC9C}"/>
              </a:ext>
            </a:extLst>
          </p:cNvPr>
          <p:cNvSpPr>
            <a:spLocks xmlns:a="http://schemas.openxmlformats.org/drawingml/2006/main" noGrp="1"/>
          </p:cNvSpPr>
          <p:nvPr/>
        </p:nvSpPr>
        <p:spPr>
          <a:xfrm xmlns:a="http://schemas.openxmlformats.org/drawingml/2006/main">
            <a:off x="3000375" y="2571750"/>
            <a:ext cx="400050" cy="323850"/>
          </a:xfrm>
          <a:prstGeom xmlns:a="http://schemas.openxmlformats.org/drawingml/2006/main" prst="roundRect">
            <a:avLst>
              <a:gd name="adj" fmla="val 50000"/>
            </a:avLst>
          </a:prstGeom>
          <a:solidFill xmlns:a="http://schemas.openxmlformats.org/drawingml/2006/main">
            <a:srgbClr val="23D5D2"/>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1296B640-4ECE-4CF6-A96F-5FDEC7E50874}"/>
              </a:ext>
            </a:extLst>
          </p:cNvPr>
          <p:cNvSpPr>
            <a:spLocks xmlns:a="http://schemas.openxmlformats.org/drawingml/2006/main" noGrp="1"/>
          </p:cNvSpPr>
          <p:nvPr/>
        </p:nvSpPr>
        <p:spPr>
          <a:xfrm xmlns:a="http://schemas.openxmlformats.org/drawingml/2006/main">
            <a:off x="3114675" y="2638425"/>
            <a:ext cx="171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975" b="1">
                <a:solidFill>
                  <a:srgbClr val="071A2B"/>
                </a:solidFill>
              </a:defRPr>
            </a:defPPr>
          </a:lstStyle>
          <a:p xmlns:a="http://schemas.openxmlformats.org/drawingml/2006/main">
            <a:pPr algn="ctr">
              <a:defRPr sz="975" b="1">
                <a:solidFill>
                  <a:srgbClr val="071A2B"/>
                </a:solidFill>
              </a:defRPr>
            </a:pPr>
            <a:r>
              <a:rPr sz="975" b="1">
                <a:solidFill>
                  <a:srgbClr val="071A2B"/>
                </a:solidFill>
              </a:rPr>
              <a:t>2</a:t>
            </a:r>
          </a:p>
        </p:txBody>
      </p:sp>
      <p:sp>
        <p:nvSpPr>
          <p:cNvPr id="13" name="">
            <a:extLst xmlns:a="http://schemas.openxmlformats.org/drawingml/2006/main">
              <a:ext uri="{FF2B5EF4-FFF2-40B4-BE49-F238E27FC236}">
                <a16:creationId xmlns:a16="http://schemas.microsoft.com/office/drawing/2014/main" id="{C43D644E-1538-48D0-9075-2EB826D724D6}"/>
              </a:ext>
            </a:extLst>
          </p:cNvPr>
          <p:cNvSpPr>
            <a:spLocks xmlns:a="http://schemas.openxmlformats.org/drawingml/2006/main" noGrp="1"/>
          </p:cNvSpPr>
          <p:nvPr/>
        </p:nvSpPr>
        <p:spPr>
          <a:xfrm xmlns:a="http://schemas.openxmlformats.org/drawingml/2006/main">
            <a:off x="3000375" y="3105150"/>
            <a:ext cx="1619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650" b="1">
                <a:solidFill>
                  <a:srgbClr val="F7FBFF"/>
                </a:solidFill>
              </a:defRPr>
            </a:defPPr>
          </a:lstStyle>
          <a:p xmlns:a="http://schemas.openxmlformats.org/drawingml/2006/main">
            <a:pPr algn="l">
              <a:defRPr sz="1650" b="1">
                <a:solidFill>
                  <a:srgbClr val="F7FBFF"/>
                </a:solidFill>
              </a:defRPr>
            </a:pPr>
            <a:r>
              <a:rPr sz="1650" b="1">
                <a:solidFill>
                  <a:srgbClr val="F7FBFF"/>
                </a:solidFill>
              </a:rPr>
              <a:t>Classify</a:t>
            </a:r>
          </a:p>
        </p:txBody>
      </p:sp>
      <p:sp>
        <p:nvSpPr>
          <p:cNvPr id="14" name="">
            <a:extLst xmlns:a="http://schemas.openxmlformats.org/drawingml/2006/main">
              <a:ext uri="{FF2B5EF4-FFF2-40B4-BE49-F238E27FC236}">
                <a16:creationId xmlns:a16="http://schemas.microsoft.com/office/drawing/2014/main" id="{D571663A-E78E-4E8B-B625-9E78CC8C4540}"/>
              </a:ext>
            </a:extLst>
          </p:cNvPr>
          <p:cNvSpPr>
            <a:spLocks xmlns:a="http://schemas.openxmlformats.org/drawingml/2006/main" noGrp="1"/>
          </p:cNvSpPr>
          <p:nvPr/>
        </p:nvSpPr>
        <p:spPr>
          <a:xfrm xmlns:a="http://schemas.openxmlformats.org/drawingml/2006/main">
            <a:off x="3000375" y="3543300"/>
            <a:ext cx="16192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125" b="0">
                <a:solidFill>
                  <a:srgbClr val="A9C1D2"/>
                </a:solidFill>
              </a:defRPr>
            </a:defPPr>
          </a:lstStyle>
          <a:p xmlns:a="http://schemas.openxmlformats.org/drawingml/2006/main">
            <a:pPr algn="l">
              <a:defRPr sz="1125" b="0">
                <a:solidFill>
                  <a:srgbClr val="A9C1D2"/>
                </a:solidFill>
              </a:defRPr>
            </a:pPr>
            <a:r>
              <a:rPr sz="1125" b="0">
                <a:solidFill>
                  <a:srgbClr val="A9C1D2"/>
                </a:solidFill>
              </a:rPr>
              <a:t>VLAN and policy</a:t>
            </a:r>
          </a:p>
          <a:p xmlns:a="http://schemas.openxmlformats.org/drawingml/2006/main">
            <a:pPr algn="l">
              <a:defRPr sz="1125" b="0">
                <a:solidFill>
                  <a:srgbClr val="A9C1D2"/>
                </a:solidFill>
              </a:defRPr>
            </a:pPr>
            <a:r>
              <a:rPr sz="1125" b="0">
                <a:solidFill>
                  <a:srgbClr val="A9C1D2"/>
                </a:solidFill>
              </a:rPr>
              <a:t>select service</a:t>
            </a:r>
          </a:p>
        </p:txBody>
      </p:sp>
      <p:sp>
        <p:nvSpPr>
          <p:cNvPr id="15" name="">
            <a:extLst xmlns:a="http://schemas.openxmlformats.org/drawingml/2006/main">
              <a:ext uri="{FF2B5EF4-FFF2-40B4-BE49-F238E27FC236}">
                <a16:creationId xmlns:a16="http://schemas.microsoft.com/office/drawing/2014/main" id="{78FD09AA-CDD3-476A-BD7B-A0017EF131F7}"/>
              </a:ext>
            </a:extLst>
          </p:cNvPr>
          <p:cNvSpPr>
            <a:spLocks xmlns:a="http://schemas.openxmlformats.org/drawingml/2006/main" noGrp="1"/>
          </p:cNvSpPr>
          <p:nvPr/>
        </p:nvSpPr>
        <p:spPr>
          <a:xfrm xmlns:a="http://schemas.openxmlformats.org/drawingml/2006/main">
            <a:off x="4810125" y="3352800"/>
            <a:ext cx="323850" cy="38100"/>
          </a:xfrm>
          <a:prstGeom xmlns:a="http://schemas.openxmlformats.org/drawingml/2006/main" prst="rect">
            <a:avLst/>
          </a:prstGeom>
          <a:solidFill xmlns:a="http://schemas.openxmlformats.org/drawingml/2006/main">
            <a:srgbClr val="23D5D2"/>
          </a:solidFill>
          <a:ln xmlns:a="http://schemas.openxmlformats.org/drawingml/2006/main" w="0">
            <a:solidFill>
              <a:srgbClr val="23D5D2"/>
            </a:solidFill>
            <a:prstDash val="solid"/>
          </a:ln>
        </p:spPr>
      </p:sp>
      <p:sp>
        <p:nvSpPr>
          <p:cNvPr id="16" name="">
            <a:extLst xmlns:a="http://schemas.openxmlformats.org/drawingml/2006/main">
              <a:ext uri="{FF2B5EF4-FFF2-40B4-BE49-F238E27FC236}">
                <a16:creationId xmlns:a16="http://schemas.microsoft.com/office/drawing/2014/main" id="{25D9427F-283E-45D8-9FB9-A17FD4C3E4A2}"/>
              </a:ext>
            </a:extLst>
          </p:cNvPr>
          <p:cNvSpPr>
            <a:spLocks xmlns:a="http://schemas.openxmlformats.org/drawingml/2006/main" noGrp="1"/>
          </p:cNvSpPr>
          <p:nvPr/>
        </p:nvSpPr>
        <p:spPr>
          <a:xfrm xmlns:a="http://schemas.openxmlformats.org/drawingml/2006/main">
            <a:off x="5133975" y="2381250"/>
            <a:ext cx="1981200" cy="2000250"/>
          </a:xfrm>
          <a:prstGeom xmlns:a="http://schemas.openxmlformats.org/drawingml/2006/main" prst="roundRect">
            <a:avLst>
              <a:gd name="adj" fmla="val 7692"/>
            </a:avLst>
          </a:prstGeom>
          <a:solidFill xmlns:a="http://schemas.openxmlformats.org/drawingml/2006/main">
            <a:srgbClr val="123A49"/>
          </a:solidFill>
          <a:ln xmlns:a="http://schemas.openxmlformats.org/drawingml/2006/main" w="9525">
            <a:solidFill>
              <a:srgbClr val="31536A"/>
            </a:solidFill>
            <a:prstDash val="solid"/>
          </a:ln>
        </p:spPr>
      </p:sp>
      <p:sp>
        <p:nvSpPr>
          <p:cNvPr id="17" name="">
            <a:extLst xmlns:a="http://schemas.openxmlformats.org/drawingml/2006/main">
              <a:ext uri="{FF2B5EF4-FFF2-40B4-BE49-F238E27FC236}">
                <a16:creationId xmlns:a16="http://schemas.microsoft.com/office/drawing/2014/main" id="{F30334ED-33DE-4827-B11F-3097C92413EE}"/>
              </a:ext>
            </a:extLst>
          </p:cNvPr>
          <p:cNvSpPr>
            <a:spLocks xmlns:a="http://schemas.openxmlformats.org/drawingml/2006/main" noGrp="1"/>
          </p:cNvSpPr>
          <p:nvPr/>
        </p:nvSpPr>
        <p:spPr>
          <a:xfrm xmlns:a="http://schemas.openxmlformats.org/drawingml/2006/main">
            <a:off x="5305425" y="2571750"/>
            <a:ext cx="400050" cy="323850"/>
          </a:xfrm>
          <a:prstGeom xmlns:a="http://schemas.openxmlformats.org/drawingml/2006/main" prst="roundRect">
            <a:avLst>
              <a:gd name="adj" fmla="val 50000"/>
            </a:avLst>
          </a:prstGeom>
          <a:solidFill xmlns:a="http://schemas.openxmlformats.org/drawingml/2006/main">
            <a:srgbClr val="FF9D42"/>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09894E45-5B0D-4AD0-B6E8-892B8DE7F33F}"/>
              </a:ext>
            </a:extLst>
          </p:cNvPr>
          <p:cNvSpPr>
            <a:spLocks xmlns:a="http://schemas.openxmlformats.org/drawingml/2006/main" noGrp="1"/>
          </p:cNvSpPr>
          <p:nvPr/>
        </p:nvSpPr>
        <p:spPr>
          <a:xfrm xmlns:a="http://schemas.openxmlformats.org/drawingml/2006/main">
            <a:off x="5419725" y="2638425"/>
            <a:ext cx="171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975" b="1">
                <a:solidFill>
                  <a:srgbClr val="071A2B"/>
                </a:solidFill>
              </a:defRPr>
            </a:defPPr>
          </a:lstStyle>
          <a:p xmlns:a="http://schemas.openxmlformats.org/drawingml/2006/main">
            <a:pPr algn="ctr">
              <a:defRPr sz="975" b="1">
                <a:solidFill>
                  <a:srgbClr val="071A2B"/>
                </a:solidFill>
              </a:defRPr>
            </a:pPr>
            <a:r>
              <a:rPr sz="975" b="1">
                <a:solidFill>
                  <a:srgbClr val="071A2B"/>
                </a:solidFill>
              </a:rPr>
              <a:t>3</a:t>
            </a:r>
          </a:p>
        </p:txBody>
      </p:sp>
      <p:sp>
        <p:nvSpPr>
          <p:cNvPr id="19" name="">
            <a:extLst xmlns:a="http://schemas.openxmlformats.org/drawingml/2006/main">
              <a:ext uri="{FF2B5EF4-FFF2-40B4-BE49-F238E27FC236}">
                <a16:creationId xmlns:a16="http://schemas.microsoft.com/office/drawing/2014/main" id="{7F71B145-9BB3-46F9-B8FB-1B8044D5C4D7}"/>
              </a:ext>
            </a:extLst>
          </p:cNvPr>
          <p:cNvSpPr>
            <a:spLocks xmlns:a="http://schemas.openxmlformats.org/drawingml/2006/main" noGrp="1"/>
          </p:cNvSpPr>
          <p:nvPr/>
        </p:nvSpPr>
        <p:spPr>
          <a:xfrm xmlns:a="http://schemas.openxmlformats.org/drawingml/2006/main">
            <a:off x="5305425" y="3105150"/>
            <a:ext cx="1619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650" b="1">
                <a:solidFill>
                  <a:srgbClr val="F7FBFF"/>
                </a:solidFill>
              </a:defRPr>
            </a:defPPr>
          </a:lstStyle>
          <a:p xmlns:a="http://schemas.openxmlformats.org/drawingml/2006/main">
            <a:pPr algn="l">
              <a:defRPr sz="1650" b="1">
                <a:solidFill>
                  <a:srgbClr val="F7FBFF"/>
                </a:solidFill>
              </a:defRPr>
            </a:pPr>
            <a:r>
              <a:rPr sz="1650" b="1">
                <a:solidFill>
                  <a:srgbClr val="F7FBFF"/>
                </a:solidFill>
              </a:rPr>
              <a:t>Translate</a:t>
            </a:r>
          </a:p>
        </p:txBody>
      </p:sp>
      <p:sp>
        <p:nvSpPr>
          <p:cNvPr id="20" name="">
            <a:extLst xmlns:a="http://schemas.openxmlformats.org/drawingml/2006/main">
              <a:ext uri="{FF2B5EF4-FFF2-40B4-BE49-F238E27FC236}">
                <a16:creationId xmlns:a16="http://schemas.microsoft.com/office/drawing/2014/main" id="{55BDE642-C1C5-4BDB-84CE-7E9D31CD5A1E}"/>
              </a:ext>
            </a:extLst>
          </p:cNvPr>
          <p:cNvSpPr>
            <a:spLocks xmlns:a="http://schemas.openxmlformats.org/drawingml/2006/main" noGrp="1"/>
          </p:cNvSpPr>
          <p:nvPr/>
        </p:nvSpPr>
        <p:spPr>
          <a:xfrm xmlns:a="http://schemas.openxmlformats.org/drawingml/2006/main">
            <a:off x="5305425" y="3543300"/>
            <a:ext cx="16192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125" b="0">
                <a:solidFill>
                  <a:srgbClr val="A9C1D2"/>
                </a:solidFill>
              </a:defRPr>
            </a:defPPr>
          </a:lstStyle>
          <a:p xmlns:a="http://schemas.openxmlformats.org/drawingml/2006/main">
            <a:pPr algn="l">
              <a:defRPr sz="1125" b="0">
                <a:solidFill>
                  <a:srgbClr val="A9C1D2"/>
                </a:solidFill>
              </a:defRPr>
            </a:pPr>
            <a:r>
              <a:rPr sz="1125" b="0">
                <a:solidFill>
                  <a:srgbClr val="A9C1D2"/>
                </a:solidFill>
              </a:rPr>
              <a:t>CGNAT maps UE</a:t>
            </a:r>
          </a:p>
          <a:p xmlns:a="http://schemas.openxmlformats.org/drawingml/2006/main">
            <a:pPr algn="l">
              <a:defRPr sz="1125" b="0">
                <a:solidFill>
                  <a:srgbClr val="A9C1D2"/>
                </a:solidFill>
              </a:defRPr>
            </a:pPr>
            <a:r>
              <a:rPr sz="1125" b="0">
                <a:solidFill>
                  <a:srgbClr val="A9C1D2"/>
                </a:solidFill>
              </a:rPr>
              <a:t>to public pool</a:t>
            </a:r>
          </a:p>
        </p:txBody>
      </p:sp>
      <p:sp>
        <p:nvSpPr>
          <p:cNvPr id="21" name="">
            <a:extLst xmlns:a="http://schemas.openxmlformats.org/drawingml/2006/main">
              <a:ext uri="{FF2B5EF4-FFF2-40B4-BE49-F238E27FC236}">
                <a16:creationId xmlns:a16="http://schemas.microsoft.com/office/drawing/2014/main" id="{387D7D52-0B7A-4753-A270-A455BFC2EAB4}"/>
              </a:ext>
            </a:extLst>
          </p:cNvPr>
          <p:cNvSpPr>
            <a:spLocks xmlns:a="http://schemas.openxmlformats.org/drawingml/2006/main" noGrp="1"/>
          </p:cNvSpPr>
          <p:nvPr/>
        </p:nvSpPr>
        <p:spPr>
          <a:xfrm xmlns:a="http://schemas.openxmlformats.org/drawingml/2006/main">
            <a:off x="7115175" y="3352800"/>
            <a:ext cx="323850" cy="38100"/>
          </a:xfrm>
          <a:prstGeom xmlns:a="http://schemas.openxmlformats.org/drawingml/2006/main" prst="rect">
            <a:avLst/>
          </a:prstGeom>
          <a:solidFill xmlns:a="http://schemas.openxmlformats.org/drawingml/2006/main">
            <a:srgbClr val="FF9D42"/>
          </a:solidFill>
          <a:ln xmlns:a="http://schemas.openxmlformats.org/drawingml/2006/main" w="0">
            <a:solidFill>
              <a:srgbClr val="FF9D42"/>
            </a:solidFill>
            <a:prstDash val="solid"/>
          </a:ln>
        </p:spPr>
      </p:sp>
      <p:sp>
        <p:nvSpPr>
          <p:cNvPr id="22" name="">
            <a:extLst xmlns:a="http://schemas.openxmlformats.org/drawingml/2006/main">
              <a:ext uri="{FF2B5EF4-FFF2-40B4-BE49-F238E27FC236}">
                <a16:creationId xmlns:a16="http://schemas.microsoft.com/office/drawing/2014/main" id="{230929D0-5CAB-4ACF-9D5C-31D72CE071FA}"/>
              </a:ext>
            </a:extLst>
          </p:cNvPr>
          <p:cNvSpPr>
            <a:spLocks xmlns:a="http://schemas.openxmlformats.org/drawingml/2006/main" noGrp="1"/>
          </p:cNvSpPr>
          <p:nvPr/>
        </p:nvSpPr>
        <p:spPr>
          <a:xfrm xmlns:a="http://schemas.openxmlformats.org/drawingml/2006/main">
            <a:off x="7439025" y="2381250"/>
            <a:ext cx="1981200" cy="2000250"/>
          </a:xfrm>
          <a:prstGeom xmlns:a="http://schemas.openxmlformats.org/drawingml/2006/main" prst="roundRect">
            <a:avLst>
              <a:gd name="adj" fmla="val 7692"/>
            </a:avLst>
          </a:prstGeom>
          <a:solidFill xmlns:a="http://schemas.openxmlformats.org/drawingml/2006/main">
            <a:srgbClr val="0E2B42"/>
          </a:solidFill>
          <a:ln xmlns:a="http://schemas.openxmlformats.org/drawingml/2006/main" w="9525">
            <a:solidFill>
              <a:srgbClr val="31536A"/>
            </a:solidFill>
            <a:prstDash val="solid"/>
          </a:ln>
        </p:spPr>
      </p:sp>
      <p:sp>
        <p:nvSpPr>
          <p:cNvPr id="23" name="">
            <a:extLst xmlns:a="http://schemas.openxmlformats.org/drawingml/2006/main">
              <a:ext uri="{FF2B5EF4-FFF2-40B4-BE49-F238E27FC236}">
                <a16:creationId xmlns:a16="http://schemas.microsoft.com/office/drawing/2014/main" id="{F31D9BE8-864D-4681-BB2D-B7A77ED2C807}"/>
              </a:ext>
            </a:extLst>
          </p:cNvPr>
          <p:cNvSpPr>
            <a:spLocks xmlns:a="http://schemas.openxmlformats.org/drawingml/2006/main" noGrp="1"/>
          </p:cNvSpPr>
          <p:nvPr/>
        </p:nvSpPr>
        <p:spPr>
          <a:xfrm xmlns:a="http://schemas.openxmlformats.org/drawingml/2006/main">
            <a:off x="7610475" y="2571750"/>
            <a:ext cx="400050" cy="323850"/>
          </a:xfrm>
          <a:prstGeom xmlns:a="http://schemas.openxmlformats.org/drawingml/2006/main" prst="roundRect">
            <a:avLst>
              <a:gd name="adj" fmla="val 50000"/>
            </a:avLst>
          </a:prstGeom>
          <a:solidFill xmlns:a="http://schemas.openxmlformats.org/drawingml/2006/main">
            <a:srgbClr val="23D5D2"/>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0F81F8CD-C8EB-47EF-9582-0231CA43CE12}"/>
              </a:ext>
            </a:extLst>
          </p:cNvPr>
          <p:cNvSpPr>
            <a:spLocks xmlns:a="http://schemas.openxmlformats.org/drawingml/2006/main" noGrp="1"/>
          </p:cNvSpPr>
          <p:nvPr/>
        </p:nvSpPr>
        <p:spPr>
          <a:xfrm xmlns:a="http://schemas.openxmlformats.org/drawingml/2006/main">
            <a:off x="7724775" y="2638425"/>
            <a:ext cx="171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975" b="1">
                <a:solidFill>
                  <a:srgbClr val="071A2B"/>
                </a:solidFill>
              </a:defRPr>
            </a:defPPr>
          </a:lstStyle>
          <a:p xmlns:a="http://schemas.openxmlformats.org/drawingml/2006/main">
            <a:pPr algn="ctr">
              <a:defRPr sz="975" b="1">
                <a:solidFill>
                  <a:srgbClr val="071A2B"/>
                </a:solidFill>
              </a:defRPr>
            </a:pPr>
            <a:r>
              <a:rPr sz="975" b="1">
                <a:solidFill>
                  <a:srgbClr val="071A2B"/>
                </a:solidFill>
              </a:rPr>
              <a:t>4</a:t>
            </a:r>
          </a:p>
        </p:txBody>
      </p:sp>
      <p:sp>
        <p:nvSpPr>
          <p:cNvPr id="25" name="">
            <a:extLst xmlns:a="http://schemas.openxmlformats.org/drawingml/2006/main">
              <a:ext uri="{FF2B5EF4-FFF2-40B4-BE49-F238E27FC236}">
                <a16:creationId xmlns:a16="http://schemas.microsoft.com/office/drawing/2014/main" id="{7A9C0BF3-6F28-4F72-BF14-F01F2D539FEC}"/>
              </a:ext>
            </a:extLst>
          </p:cNvPr>
          <p:cNvSpPr>
            <a:spLocks xmlns:a="http://schemas.openxmlformats.org/drawingml/2006/main" noGrp="1"/>
          </p:cNvSpPr>
          <p:nvPr/>
        </p:nvSpPr>
        <p:spPr>
          <a:xfrm xmlns:a="http://schemas.openxmlformats.org/drawingml/2006/main">
            <a:off x="7610475" y="3105150"/>
            <a:ext cx="1619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650" b="1">
                <a:solidFill>
                  <a:srgbClr val="F7FBFF"/>
                </a:solidFill>
              </a:defRPr>
            </a:defPPr>
          </a:lstStyle>
          <a:p xmlns:a="http://schemas.openxmlformats.org/drawingml/2006/main">
            <a:pPr algn="l">
              <a:defRPr sz="1650" b="1">
                <a:solidFill>
                  <a:srgbClr val="F7FBFF"/>
                </a:solidFill>
              </a:defRPr>
            </a:pPr>
            <a:r>
              <a:rPr sz="1650" b="1">
                <a:solidFill>
                  <a:srgbClr val="F7FBFF"/>
                </a:solidFill>
              </a:rPr>
              <a:t>Route</a:t>
            </a:r>
          </a:p>
        </p:txBody>
      </p:sp>
      <p:sp>
        <p:nvSpPr>
          <p:cNvPr id="26" name="">
            <a:extLst xmlns:a="http://schemas.openxmlformats.org/drawingml/2006/main">
              <a:ext uri="{FF2B5EF4-FFF2-40B4-BE49-F238E27FC236}">
                <a16:creationId xmlns:a16="http://schemas.microsoft.com/office/drawing/2014/main" id="{978E2C1A-D93C-4E44-81C7-6D6141244480}"/>
              </a:ext>
            </a:extLst>
          </p:cNvPr>
          <p:cNvSpPr>
            <a:spLocks xmlns:a="http://schemas.openxmlformats.org/drawingml/2006/main" noGrp="1"/>
          </p:cNvSpPr>
          <p:nvPr/>
        </p:nvSpPr>
        <p:spPr>
          <a:xfrm xmlns:a="http://schemas.openxmlformats.org/drawingml/2006/main">
            <a:off x="7610475" y="3543300"/>
            <a:ext cx="16192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125" b="0">
                <a:solidFill>
                  <a:srgbClr val="A9C1D2"/>
                </a:solidFill>
              </a:defRPr>
            </a:defPPr>
          </a:lstStyle>
          <a:p xmlns:a="http://schemas.openxmlformats.org/drawingml/2006/main">
            <a:pPr algn="l">
              <a:defRPr sz="1125" b="0">
                <a:solidFill>
                  <a:srgbClr val="A9C1D2"/>
                </a:solidFill>
              </a:defRPr>
            </a:pPr>
            <a:r>
              <a:rPr sz="1125" b="0">
                <a:solidFill>
                  <a:srgbClr val="A9C1D2"/>
                </a:solidFill>
              </a:rPr>
              <a:t>BGP selects an</a:t>
            </a:r>
          </a:p>
          <a:p xmlns:a="http://schemas.openxmlformats.org/drawingml/2006/main">
            <a:pPr algn="l">
              <a:defRPr sz="1125" b="0">
                <a:solidFill>
                  <a:srgbClr val="A9C1D2"/>
                </a:solidFill>
              </a:defRPr>
            </a:pPr>
            <a:r>
              <a:rPr sz="1125" b="0">
                <a:solidFill>
                  <a:srgbClr val="A9C1D2"/>
                </a:solidFill>
              </a:rPr>
              <a:t>FRR next hop</a:t>
            </a:r>
          </a:p>
        </p:txBody>
      </p:sp>
      <p:sp>
        <p:nvSpPr>
          <p:cNvPr id="27" name="">
            <a:extLst xmlns:a="http://schemas.openxmlformats.org/drawingml/2006/main">
              <a:ext uri="{FF2B5EF4-FFF2-40B4-BE49-F238E27FC236}">
                <a16:creationId xmlns:a16="http://schemas.microsoft.com/office/drawing/2014/main" id="{4251568F-6F99-49EC-884F-29F471CB0C98}"/>
              </a:ext>
            </a:extLst>
          </p:cNvPr>
          <p:cNvSpPr>
            <a:spLocks xmlns:a="http://schemas.openxmlformats.org/drawingml/2006/main" noGrp="1"/>
          </p:cNvSpPr>
          <p:nvPr/>
        </p:nvSpPr>
        <p:spPr>
          <a:xfrm xmlns:a="http://schemas.openxmlformats.org/drawingml/2006/main">
            <a:off x="9420225" y="3352800"/>
            <a:ext cx="323850" cy="38100"/>
          </a:xfrm>
          <a:prstGeom xmlns:a="http://schemas.openxmlformats.org/drawingml/2006/main" prst="rect">
            <a:avLst/>
          </a:prstGeom>
          <a:solidFill xmlns:a="http://schemas.openxmlformats.org/drawingml/2006/main">
            <a:srgbClr val="23D5D2"/>
          </a:solidFill>
          <a:ln xmlns:a="http://schemas.openxmlformats.org/drawingml/2006/main" w="0">
            <a:solidFill>
              <a:srgbClr val="23D5D2"/>
            </a:solidFill>
            <a:prstDash val="solid"/>
          </a:ln>
        </p:spPr>
      </p:sp>
      <p:sp>
        <p:nvSpPr>
          <p:cNvPr id="28" name="">
            <a:extLst xmlns:a="http://schemas.openxmlformats.org/drawingml/2006/main">
              <a:ext uri="{FF2B5EF4-FFF2-40B4-BE49-F238E27FC236}">
                <a16:creationId xmlns:a16="http://schemas.microsoft.com/office/drawing/2014/main" id="{3CA5CCC3-7DFC-486A-82C3-3C8BEBB60988}"/>
              </a:ext>
            </a:extLst>
          </p:cNvPr>
          <p:cNvSpPr>
            <a:spLocks xmlns:a="http://schemas.openxmlformats.org/drawingml/2006/main" noGrp="1"/>
          </p:cNvSpPr>
          <p:nvPr/>
        </p:nvSpPr>
        <p:spPr>
          <a:xfrm xmlns:a="http://schemas.openxmlformats.org/drawingml/2006/main">
            <a:off x="9744075" y="2381250"/>
            <a:ext cx="1981200" cy="2000250"/>
          </a:xfrm>
          <a:prstGeom xmlns:a="http://schemas.openxmlformats.org/drawingml/2006/main" prst="roundRect">
            <a:avLst>
              <a:gd name="adj" fmla="val 7692"/>
            </a:avLst>
          </a:prstGeom>
          <a:solidFill xmlns:a="http://schemas.openxmlformats.org/drawingml/2006/main">
            <a:srgbClr val="0E2B42"/>
          </a:solidFill>
          <a:ln xmlns:a="http://schemas.openxmlformats.org/drawingml/2006/main" w="9525">
            <a:solidFill>
              <a:srgbClr val="31536A"/>
            </a:solidFill>
            <a:prstDash val="solid"/>
          </a:ln>
        </p:spPr>
      </p:sp>
      <p:sp>
        <p:nvSpPr>
          <p:cNvPr id="29" name="">
            <a:extLst xmlns:a="http://schemas.openxmlformats.org/drawingml/2006/main">
              <a:ext uri="{FF2B5EF4-FFF2-40B4-BE49-F238E27FC236}">
                <a16:creationId xmlns:a16="http://schemas.microsoft.com/office/drawing/2014/main" id="{B493D558-AADE-4C1C-BA8A-34CA85F32F98}"/>
              </a:ext>
            </a:extLst>
          </p:cNvPr>
          <p:cNvSpPr>
            <a:spLocks xmlns:a="http://schemas.openxmlformats.org/drawingml/2006/main" noGrp="1"/>
          </p:cNvSpPr>
          <p:nvPr/>
        </p:nvSpPr>
        <p:spPr>
          <a:xfrm xmlns:a="http://schemas.openxmlformats.org/drawingml/2006/main">
            <a:off x="9915525" y="2571750"/>
            <a:ext cx="400050" cy="323850"/>
          </a:xfrm>
          <a:prstGeom xmlns:a="http://schemas.openxmlformats.org/drawingml/2006/main" prst="roundRect">
            <a:avLst>
              <a:gd name="adj" fmla="val 50000"/>
            </a:avLst>
          </a:prstGeom>
          <a:solidFill xmlns:a="http://schemas.openxmlformats.org/drawingml/2006/main">
            <a:srgbClr val="23D5D2"/>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86284D0F-EBEB-44FA-9C03-C862CF2F293F}"/>
              </a:ext>
            </a:extLst>
          </p:cNvPr>
          <p:cNvSpPr>
            <a:spLocks xmlns:a="http://schemas.openxmlformats.org/drawingml/2006/main" noGrp="1"/>
          </p:cNvSpPr>
          <p:nvPr/>
        </p:nvSpPr>
        <p:spPr>
          <a:xfrm xmlns:a="http://schemas.openxmlformats.org/drawingml/2006/main">
            <a:off x="10029825" y="2638425"/>
            <a:ext cx="171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975" b="1">
                <a:solidFill>
                  <a:srgbClr val="071A2B"/>
                </a:solidFill>
              </a:defRPr>
            </a:defPPr>
          </a:lstStyle>
          <a:p xmlns:a="http://schemas.openxmlformats.org/drawingml/2006/main">
            <a:pPr algn="ctr">
              <a:defRPr sz="975" b="1">
                <a:solidFill>
                  <a:srgbClr val="071A2B"/>
                </a:solidFill>
              </a:defRPr>
            </a:pPr>
            <a:r>
              <a:rPr sz="975" b="1">
                <a:solidFill>
                  <a:srgbClr val="071A2B"/>
                </a:solidFill>
              </a:rPr>
              <a:t>5</a:t>
            </a:r>
          </a:p>
        </p:txBody>
      </p:sp>
      <p:sp>
        <p:nvSpPr>
          <p:cNvPr id="31" name="">
            <a:extLst xmlns:a="http://schemas.openxmlformats.org/drawingml/2006/main">
              <a:ext uri="{FF2B5EF4-FFF2-40B4-BE49-F238E27FC236}">
                <a16:creationId xmlns:a16="http://schemas.microsoft.com/office/drawing/2014/main" id="{11B3C3CE-B904-4704-9205-40C0A8591FDE}"/>
              </a:ext>
            </a:extLst>
          </p:cNvPr>
          <p:cNvSpPr>
            <a:spLocks xmlns:a="http://schemas.openxmlformats.org/drawingml/2006/main" noGrp="1"/>
          </p:cNvSpPr>
          <p:nvPr/>
        </p:nvSpPr>
        <p:spPr>
          <a:xfrm xmlns:a="http://schemas.openxmlformats.org/drawingml/2006/main">
            <a:off x="9915525" y="3105150"/>
            <a:ext cx="1619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650" b="1">
                <a:solidFill>
                  <a:srgbClr val="F7FBFF"/>
                </a:solidFill>
              </a:defRPr>
            </a:defPPr>
          </a:lstStyle>
          <a:p xmlns:a="http://schemas.openxmlformats.org/drawingml/2006/main">
            <a:pPr algn="l">
              <a:defRPr sz="1650" b="1">
                <a:solidFill>
                  <a:srgbClr val="F7FBFF"/>
                </a:solidFill>
              </a:defRPr>
            </a:pPr>
            <a:r>
              <a:rPr sz="1650" b="1">
                <a:solidFill>
                  <a:srgbClr val="F7FBFF"/>
                </a:solidFill>
              </a:rPr>
              <a:t>Return</a:t>
            </a:r>
          </a:p>
        </p:txBody>
      </p:sp>
      <p:sp>
        <p:nvSpPr>
          <p:cNvPr id="32" name="">
            <a:extLst xmlns:a="http://schemas.openxmlformats.org/drawingml/2006/main">
              <a:ext uri="{FF2B5EF4-FFF2-40B4-BE49-F238E27FC236}">
                <a16:creationId xmlns:a16="http://schemas.microsoft.com/office/drawing/2014/main" id="{FB0CC195-3358-4449-A04A-4B4730AC0A87}"/>
              </a:ext>
            </a:extLst>
          </p:cNvPr>
          <p:cNvSpPr>
            <a:spLocks xmlns:a="http://schemas.openxmlformats.org/drawingml/2006/main" noGrp="1"/>
          </p:cNvSpPr>
          <p:nvPr/>
        </p:nvSpPr>
        <p:spPr>
          <a:xfrm xmlns:a="http://schemas.openxmlformats.org/drawingml/2006/main">
            <a:off x="9915525" y="3543300"/>
            <a:ext cx="16192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125" b="0">
                <a:solidFill>
                  <a:srgbClr val="A9C1D2"/>
                </a:solidFill>
              </a:defRPr>
            </a:defPPr>
          </a:lstStyle>
          <a:p xmlns:a="http://schemas.openxmlformats.org/drawingml/2006/main">
            <a:pPr algn="l">
              <a:defRPr sz="1125" b="0">
                <a:solidFill>
                  <a:srgbClr val="A9C1D2"/>
                </a:solidFill>
              </a:defRPr>
            </a:pPr>
            <a:r>
              <a:rPr sz="1125" b="0">
                <a:solidFill>
                  <a:srgbClr val="A9C1D2"/>
                </a:solidFill>
              </a:rPr>
              <a:t>MikroTik learns</a:t>
            </a:r>
          </a:p>
          <a:p xmlns:a="http://schemas.openxmlformats.org/drawingml/2006/main">
            <a:pPr algn="l">
              <a:defRPr sz="1125" b="0">
                <a:solidFill>
                  <a:srgbClr val="A9C1D2"/>
                </a:solidFill>
              </a:defRPr>
            </a:pPr>
            <a:r>
              <a:rPr sz="1125" b="0">
                <a:solidFill>
                  <a:srgbClr val="A9C1D2"/>
                </a:solidFill>
              </a:rPr>
              <a:t>the CGNAT prefix</a:t>
            </a:r>
          </a:p>
        </p:txBody>
      </p:sp>
      <p:sp>
        <p:nvSpPr>
          <p:cNvPr id="33" name="">
            <a:extLst xmlns:a="http://schemas.openxmlformats.org/drawingml/2006/main">
              <a:ext uri="{FF2B5EF4-FFF2-40B4-BE49-F238E27FC236}">
                <a16:creationId xmlns:a16="http://schemas.microsoft.com/office/drawing/2014/main" id="{3E975205-7416-4CD6-AFA0-E4C91626FC7B}"/>
              </a:ext>
            </a:extLst>
          </p:cNvPr>
          <p:cNvSpPr>
            <a:spLocks xmlns:a="http://schemas.openxmlformats.org/drawingml/2006/main" noGrp="1"/>
          </p:cNvSpPr>
          <p:nvPr/>
        </p:nvSpPr>
        <p:spPr>
          <a:xfrm xmlns:a="http://schemas.openxmlformats.org/drawingml/2006/main">
            <a:off x="1619250" y="4810125"/>
            <a:ext cx="8953500" cy="800100"/>
          </a:xfrm>
          <a:prstGeom xmlns:a="http://schemas.openxmlformats.org/drawingml/2006/main" prst="roundRect">
            <a:avLst>
              <a:gd name="adj" fmla="val 14286"/>
            </a:avLst>
          </a:prstGeom>
          <a:solidFill xmlns:a="http://schemas.openxmlformats.org/drawingml/2006/main">
            <a:srgbClr val="102C41"/>
          </a:solidFill>
          <a:ln xmlns:a="http://schemas.openxmlformats.org/drawingml/2006/main" w="0">
            <a:noFill/>
            <a:prstDash val="solid"/>
          </a:ln>
        </p:spPr>
      </p:sp>
      <p:sp>
        <p:nvSpPr>
          <p:cNvPr id="34" name="">
            <a:extLst xmlns:a="http://schemas.openxmlformats.org/drawingml/2006/main">
              <a:ext uri="{FF2B5EF4-FFF2-40B4-BE49-F238E27FC236}">
                <a16:creationId xmlns:a16="http://schemas.microsoft.com/office/drawing/2014/main" id="{7A2B4802-1639-4729-9211-FB6F2FFFBCB2}"/>
              </a:ext>
            </a:extLst>
          </p:cNvPr>
          <p:cNvSpPr>
            <a:spLocks xmlns:a="http://schemas.openxmlformats.org/drawingml/2006/main" noGrp="1"/>
          </p:cNvSpPr>
          <p:nvPr/>
        </p:nvSpPr>
        <p:spPr>
          <a:xfrm xmlns:a="http://schemas.openxmlformats.org/drawingml/2006/main">
            <a:off x="1857375" y="5010150"/>
            <a:ext cx="11906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275" b="1">
                <a:solidFill>
                  <a:srgbClr val="FF9D42"/>
                </a:solidFill>
              </a:defRPr>
            </a:defPPr>
          </a:lstStyle>
          <a:p xmlns:a="http://schemas.openxmlformats.org/drawingml/2006/main">
            <a:pPr algn="l">
              <a:defRPr sz="1275" b="1">
                <a:solidFill>
                  <a:srgbClr val="FF9D42"/>
                </a:solidFill>
              </a:defRPr>
            </a:pPr>
            <a:r>
              <a:rPr sz="1275" b="1">
                <a:solidFill>
                  <a:srgbClr val="FF9D42"/>
                </a:solidFill>
              </a:rPr>
              <a:t>Proof point</a:t>
            </a:r>
          </a:p>
        </p:txBody>
      </p:sp>
      <p:sp>
        <p:nvSpPr>
          <p:cNvPr id="35" name="">
            <a:extLst xmlns:a="http://schemas.openxmlformats.org/drawingml/2006/main">
              <a:ext uri="{FF2B5EF4-FFF2-40B4-BE49-F238E27FC236}">
                <a16:creationId xmlns:a16="http://schemas.microsoft.com/office/drawing/2014/main" id="{5FD53929-3ABA-48F6-873F-07763726AFE7}"/>
              </a:ext>
            </a:extLst>
          </p:cNvPr>
          <p:cNvSpPr>
            <a:spLocks xmlns:a="http://schemas.openxmlformats.org/drawingml/2006/main" noGrp="1"/>
          </p:cNvSpPr>
          <p:nvPr/>
        </p:nvSpPr>
        <p:spPr>
          <a:xfrm xmlns:a="http://schemas.openxmlformats.org/drawingml/2006/main">
            <a:off x="3143250" y="4953000"/>
            <a:ext cx="7143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500" b="1">
                <a:solidFill>
                  <a:srgbClr val="F7FBFF"/>
                </a:solidFill>
              </a:defRPr>
            </a:defPPr>
          </a:lstStyle>
          <a:p xmlns:a="http://schemas.openxmlformats.org/drawingml/2006/main">
            <a:pPr algn="l">
              <a:defRPr sz="1500" b="1">
                <a:solidFill>
                  <a:srgbClr val="F7FBFF"/>
                </a:solidFill>
              </a:defRPr>
            </a:pPr>
            <a:r>
              <a:rPr sz="1500" b="1">
                <a:solidFill>
                  <a:srgbClr val="F7FBFF"/>
                </a:solidFill>
              </a:rPr>
              <a:t>A successful ping validates session state, CGNAT, BGP, the upstream default, and the return route.</a:t>
            </a:r>
          </a:p>
        </p:txBody>
      </p:sp>
      <p:sp>
        <p:nvSpPr>
          <p:cNvPr id="36" name="">
            <a:extLst xmlns:a="http://schemas.openxmlformats.org/drawingml/2006/main">
              <a:ext uri="{FF2B5EF4-FFF2-40B4-BE49-F238E27FC236}">
                <a16:creationId xmlns:a16="http://schemas.microsoft.com/office/drawing/2014/main" id="{CB728E84-EE4D-4DB6-8053-51B6FB4B291E}"/>
              </a:ext>
            </a:extLst>
          </p:cNvPr>
          <p:cNvSpPr>
            <a:spLocks xmlns:a="http://schemas.openxmlformats.org/drawingml/2006/main" noGrp="1"/>
          </p:cNvSpPr>
          <p:nvPr/>
        </p:nvSpPr>
        <p:spPr>
          <a:xfrm xmlns:a="http://schemas.openxmlformats.org/drawingml/2006/main">
            <a:off x="685800" y="6410325"/>
            <a:ext cx="10820400" cy="9525"/>
          </a:xfrm>
          <a:prstGeom xmlns:a="http://schemas.openxmlformats.org/drawingml/2006/main" prst="rect">
            <a:avLst/>
          </a:prstGeom>
          <a:solidFill xmlns:a="http://schemas.openxmlformats.org/drawingml/2006/main">
            <a:srgbClr val="29485D"/>
          </a:solidFill>
          <a:ln xmlns:a="http://schemas.openxmlformats.org/drawingml/2006/main" w="0">
            <a:solidFill>
              <a:srgbClr val="29485D"/>
            </a:solidFill>
            <a:prstDash val="solid"/>
          </a:ln>
        </p:spPr>
      </p:sp>
      <p:sp>
        <p:nvSpPr>
          <p:cNvPr id="37" name="">
            <a:extLst xmlns:a="http://schemas.openxmlformats.org/drawingml/2006/main">
              <a:ext uri="{FF2B5EF4-FFF2-40B4-BE49-F238E27FC236}">
                <a16:creationId xmlns:a16="http://schemas.microsoft.com/office/drawing/2014/main" id="{ED63C8F9-0633-48B8-992F-0667B19AEBCA}"/>
              </a:ext>
            </a:extLst>
          </p:cNvPr>
          <p:cNvSpPr>
            <a:spLocks xmlns:a="http://schemas.openxmlformats.org/drawingml/2006/main" noGrp="1"/>
          </p:cNvSpPr>
          <p:nvPr/>
        </p:nvSpPr>
        <p:spPr>
          <a:xfrm xmlns:a="http://schemas.openxmlformats.org/drawingml/2006/main">
            <a:off x="685800" y="6477000"/>
            <a:ext cx="9525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675" b="0">
                <a:solidFill>
                  <a:srgbClr val="A9C1D2"/>
                </a:solidFill>
              </a:defRPr>
            </a:defPPr>
          </a:lstStyle>
          <a:p xmlns:a="http://schemas.openxmlformats.org/drawingml/2006/main">
            <a:pPr algn="l">
              <a:defRPr sz="675" b="0">
                <a:solidFill>
                  <a:srgbClr val="A9C1D2"/>
                </a:solidFill>
              </a:defRPr>
            </a:pPr>
            <a:r>
              <a:rPr sz="675" b="0">
                <a:solidFill>
                  <a:srgbClr val="A9C1D2"/>
                </a:solidFill>
              </a:rPr>
              <a:t>Validation uses live BGP summaries, routes, pod interfaces, and subscriber traffic.</a:t>
            </a:r>
          </a:p>
        </p:txBody>
      </p:sp>
      <p:sp>
        <p:nvSpPr>
          <p:cNvPr id="38" name="">
            <a:extLst xmlns:a="http://schemas.openxmlformats.org/drawingml/2006/main">
              <a:ext uri="{FF2B5EF4-FFF2-40B4-BE49-F238E27FC236}">
                <a16:creationId xmlns:a16="http://schemas.microsoft.com/office/drawing/2014/main" id="{9049C8EE-5262-4D66-8E9F-65680F1B0470}"/>
              </a:ext>
            </a:extLst>
          </p:cNvPr>
          <p:cNvSpPr>
            <a:spLocks xmlns:a="http://schemas.openxmlformats.org/drawingml/2006/main" noGrp="1"/>
          </p:cNvSpPr>
          <p:nvPr/>
        </p:nvSpPr>
        <p:spPr>
          <a:xfrm xmlns:a="http://schemas.openxmlformats.org/drawingml/2006/main">
            <a:off x="10953750" y="6448425"/>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r">
              <a:defRPr sz="825" b="1">
                <a:solidFill>
                  <a:srgbClr val="23D5D2"/>
                </a:solidFill>
              </a:defRPr>
            </a:defPPr>
          </a:lstStyle>
          <a:p xmlns:a="http://schemas.openxmlformats.org/drawingml/2006/main">
            <a:pPr algn="r">
              <a:defRPr sz="825" b="1">
                <a:solidFill>
                  <a:srgbClr val="23D5D2"/>
                </a:solidFill>
              </a:defRPr>
            </a:pPr>
            <a:r>
              <a:rPr sz="825" b="1">
                <a:solidFill>
                  <a:srgbClr val="23D5D2"/>
                </a:solidFill>
              </a:rPr>
              <a:t>04</a:t>
            </a:r>
          </a:p>
        </p:txBody>
      </p:sp>
    </p:spTree>
    <p:extLst>
      <p:ext uri="{BB962C8B-B14F-4D97-AF65-F5344CB8AC3E}">
        <p14:creationId xmlns:p14="http://schemas.microsoft.com/office/powerpoint/2010/main" val="887674554"/>
      </p:ext>
    </p:extLst>
  </p:cSld>
</p:sld>
</file>

<file path=ppt/slides/slide5.xml><?xml version="1.0" encoding="utf-8"?>
<p:sld xmlns:p="http://schemas.openxmlformats.org/presentationml/2006/main">
  <p:cSld>
    <p:bg>
      <p:bgPr>
        <a:solidFill xmlns:a="http://schemas.openxmlformats.org/drawingml/2006/main">
          <a:srgbClr val="071A2B"/>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734827D0-89AC-4047-A96C-3CE4615A5D54}"/>
              </a:ext>
            </a:extLst>
          </p:cNvPr>
          <p:cNvSpPr>
            <a:spLocks xmlns:a="http://schemas.openxmlformats.org/drawingml/2006/main" noGrp="1"/>
          </p:cNvSpPr>
          <p:nvPr/>
        </p:nvSpPr>
        <p:spPr>
          <a:xfrm xmlns:a="http://schemas.openxmlformats.org/drawingml/2006/main">
            <a:off x="685800" y="45720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975" b="1">
                <a:solidFill>
                  <a:srgbClr val="23D5D2"/>
                </a:solidFill>
              </a:defRPr>
            </a:defPPr>
          </a:lstStyle>
          <a:p xmlns:a="http://schemas.openxmlformats.org/drawingml/2006/main">
            <a:pPr algn="l">
              <a:defRPr sz="975" b="1">
                <a:solidFill>
                  <a:srgbClr val="23D5D2"/>
                </a:solidFill>
              </a:defRPr>
            </a:pPr>
            <a:r>
              <a:rPr sz="975" b="1">
                <a:solidFill>
                  <a:srgbClr val="23D5D2"/>
                </a:solidFill>
              </a:rPr>
              <a:t>4 • WHY THIS IS PRACTICAL NOW</a:t>
            </a:r>
          </a:p>
        </p:txBody>
      </p:sp>
      <p:sp>
        <p:nvSpPr>
          <p:cNvPr id="2" name="">
            <a:extLst xmlns:a="http://schemas.openxmlformats.org/drawingml/2006/main">
              <a:ext uri="{FF2B5EF4-FFF2-40B4-BE49-F238E27FC236}">
                <a16:creationId xmlns:a16="http://schemas.microsoft.com/office/drawing/2014/main" id="{F289DE4A-B9CD-4FD1-80C2-BA1F4992FA28}"/>
              </a:ext>
            </a:extLst>
          </p:cNvPr>
          <p:cNvSpPr>
            <a:spLocks xmlns:a="http://schemas.openxmlformats.org/drawingml/2006/main" noGrp="1"/>
          </p:cNvSpPr>
          <p:nvPr/>
        </p:nvSpPr>
        <p:spPr>
          <a:xfrm xmlns:a="http://schemas.openxmlformats.org/drawingml/2006/main">
            <a:off x="685800" y="819150"/>
            <a:ext cx="108204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2550" b="1">
                <a:solidFill>
                  <a:srgbClr val="F7FBFF"/>
                </a:solidFill>
              </a:defRPr>
            </a:defPPr>
          </a:lstStyle>
          <a:p xmlns:a="http://schemas.openxmlformats.org/drawingml/2006/main">
            <a:pPr algn="l">
              <a:defRPr sz="2550" b="1">
                <a:solidFill>
                  <a:srgbClr val="F7FBFF"/>
                </a:solidFill>
              </a:defRPr>
            </a:pPr>
            <a:r>
              <a:rPr sz="2550" b="1">
                <a:solidFill>
                  <a:srgbClr val="F7FBFF"/>
                </a:solidFill>
              </a:rPr>
              <a:t>The NIC is becoming part of the edge compute platform</a:t>
            </a:r>
          </a:p>
        </p:txBody>
      </p:sp>
      <p:sp>
        <p:nvSpPr>
          <p:cNvPr id="3" name="">
            <a:extLst xmlns:a="http://schemas.openxmlformats.org/drawingml/2006/main">
              <a:ext uri="{FF2B5EF4-FFF2-40B4-BE49-F238E27FC236}">
                <a16:creationId xmlns:a16="http://schemas.microsoft.com/office/drawing/2014/main" id="{C41283AE-B704-46E4-B331-5251D51DF768}"/>
              </a:ext>
            </a:extLst>
          </p:cNvPr>
          <p:cNvSpPr>
            <a:spLocks xmlns:a="http://schemas.openxmlformats.org/drawingml/2006/main" noGrp="1"/>
          </p:cNvSpPr>
          <p:nvPr/>
        </p:nvSpPr>
        <p:spPr>
          <a:xfrm xmlns:a="http://schemas.openxmlformats.org/drawingml/2006/main">
            <a:off x="685800" y="1457325"/>
            <a:ext cx="10287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350" b="0">
                <a:solidFill>
                  <a:srgbClr val="A9C1D2"/>
                </a:solidFill>
              </a:defRPr>
            </a:defPPr>
          </a:lstStyle>
          <a:p xmlns:a="http://schemas.openxmlformats.org/drawingml/2006/main">
            <a:pPr algn="l">
              <a:defRPr sz="1350" b="0">
                <a:solidFill>
                  <a:srgbClr val="A9C1D2"/>
                </a:solidFill>
              </a:defRPr>
            </a:pPr>
            <a:r>
              <a:rPr sz="1350" b="0">
                <a:solidFill>
                  <a:srgbClr val="A9C1D2"/>
                </a:solidFill>
              </a:rPr>
              <a:t>DPDK, SR-IOV, SmartNICs, and DPUs shift packet work away from general-purpose CPU cores.</a:t>
            </a:r>
          </a:p>
        </p:txBody>
      </p:sp>
      <p:sp>
        <p:nvSpPr>
          <p:cNvPr id="4" name="">
            <a:extLst xmlns:a="http://schemas.openxmlformats.org/drawingml/2006/main">
              <a:ext uri="{FF2B5EF4-FFF2-40B4-BE49-F238E27FC236}">
                <a16:creationId xmlns:a16="http://schemas.microsoft.com/office/drawing/2014/main" id="{028EE183-A806-44F5-95C2-7A1F5AAE02CA}"/>
              </a:ext>
            </a:extLst>
          </p:cNvPr>
          <p:cNvSpPr>
            <a:spLocks xmlns:a="http://schemas.openxmlformats.org/drawingml/2006/main" noGrp="1"/>
          </p:cNvSpPr>
          <p:nvPr/>
        </p:nvSpPr>
        <p:spPr>
          <a:xfrm xmlns:a="http://schemas.openxmlformats.org/drawingml/2006/main">
            <a:off x="685800" y="2190750"/>
            <a:ext cx="4333875" cy="3000375"/>
          </a:xfrm>
          <a:prstGeom xmlns:a="http://schemas.openxmlformats.org/drawingml/2006/main" prst="roundRect">
            <a:avLst>
              <a:gd name="adj" fmla="val 5079"/>
            </a:avLst>
          </a:prstGeom>
          <a:solidFill xmlns:a="http://schemas.openxmlformats.org/drawingml/2006/main">
            <a:srgbClr val="0E2B42"/>
          </a:solidFill>
          <a:ln xmlns:a="http://schemas.openxmlformats.org/drawingml/2006/main" w="9525">
            <a:solidFill>
              <a:srgbClr val="31536A"/>
            </a:solidFill>
            <a:prstDash val="solid"/>
          </a:ln>
        </p:spPr>
      </p:sp>
      <p:sp>
        <p:nvSpPr>
          <p:cNvPr id="5" name="">
            <a:extLst xmlns:a="http://schemas.openxmlformats.org/drawingml/2006/main">
              <a:ext uri="{FF2B5EF4-FFF2-40B4-BE49-F238E27FC236}">
                <a16:creationId xmlns:a16="http://schemas.microsoft.com/office/drawing/2014/main" id="{7A1A2248-006F-4D96-9C9A-5545EE6A46EF}"/>
              </a:ext>
            </a:extLst>
          </p:cNvPr>
          <p:cNvSpPr>
            <a:spLocks xmlns:a="http://schemas.openxmlformats.org/drawingml/2006/main" noGrp="1"/>
          </p:cNvSpPr>
          <p:nvPr/>
        </p:nvSpPr>
        <p:spPr>
          <a:xfrm xmlns:a="http://schemas.openxmlformats.org/drawingml/2006/main">
            <a:off x="933450" y="2438400"/>
            <a:ext cx="3619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800" b="1">
                <a:solidFill>
                  <a:srgbClr val="F7FBFF"/>
                </a:solidFill>
              </a:defRPr>
            </a:defPPr>
          </a:lstStyle>
          <a:p xmlns:a="http://schemas.openxmlformats.org/drawingml/2006/main">
            <a:pPr algn="l">
              <a:defRPr sz="1800" b="1">
                <a:solidFill>
                  <a:srgbClr val="F7FBFF"/>
                </a:solidFill>
              </a:defRPr>
            </a:pPr>
            <a:r>
              <a:rPr sz="1800" b="1">
                <a:solidFill>
                  <a:srgbClr val="F7FBFF"/>
                </a:solidFill>
              </a:rPr>
              <a:t>Traditional edge</a:t>
            </a:r>
          </a:p>
        </p:txBody>
      </p:sp>
      <p:sp>
        <p:nvSpPr>
          <p:cNvPr id="6" name="">
            <a:extLst xmlns:a="http://schemas.openxmlformats.org/drawingml/2006/main">
              <a:ext uri="{FF2B5EF4-FFF2-40B4-BE49-F238E27FC236}">
                <a16:creationId xmlns:a16="http://schemas.microsoft.com/office/drawing/2014/main" id="{B44AF42A-32FE-4D0D-959C-9C2BCF0DCF6D}"/>
              </a:ext>
            </a:extLst>
          </p:cNvPr>
          <p:cNvSpPr>
            <a:spLocks xmlns:a="http://schemas.openxmlformats.org/drawingml/2006/main" noGrp="1"/>
          </p:cNvSpPr>
          <p:nvPr/>
        </p:nvSpPr>
        <p:spPr>
          <a:xfrm xmlns:a="http://schemas.openxmlformats.org/drawingml/2006/main">
            <a:off x="1047750" y="3000375"/>
            <a:ext cx="3333750" cy="419100"/>
          </a:xfrm>
          <a:prstGeom xmlns:a="http://schemas.openxmlformats.org/drawingml/2006/main" prst="roundRect">
            <a:avLst>
              <a:gd name="adj" fmla="val 18182"/>
            </a:avLst>
          </a:prstGeom>
          <a:solidFill xmlns:a="http://schemas.openxmlformats.org/drawingml/2006/main">
            <a:srgbClr val="173B53"/>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B30A77BB-A2D3-4743-A9EC-B8427A62DE0F}"/>
              </a:ext>
            </a:extLst>
          </p:cNvPr>
          <p:cNvSpPr>
            <a:spLocks xmlns:a="http://schemas.openxmlformats.org/drawingml/2006/main" noGrp="1"/>
          </p:cNvSpPr>
          <p:nvPr/>
        </p:nvSpPr>
        <p:spPr>
          <a:xfrm xmlns:a="http://schemas.openxmlformats.org/drawingml/2006/main">
            <a:off x="1285875" y="310515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1275" b="1">
                <a:solidFill>
                  <a:srgbClr val="A9C1D2"/>
                </a:solidFill>
              </a:defRPr>
            </a:defPPr>
          </a:lstStyle>
          <a:p xmlns:a="http://schemas.openxmlformats.org/drawingml/2006/main">
            <a:pPr algn="ctr">
              <a:defRPr sz="1275" b="1">
                <a:solidFill>
                  <a:srgbClr val="A9C1D2"/>
                </a:solidFill>
              </a:defRPr>
            </a:pPr>
            <a:r>
              <a:rPr sz="1275" b="1">
                <a:solidFill>
                  <a:srgbClr val="A9C1D2"/>
                </a:solidFill>
              </a:rPr>
              <a:t>BNG appliance</a:t>
            </a:r>
          </a:p>
        </p:txBody>
      </p:sp>
      <p:sp>
        <p:nvSpPr>
          <p:cNvPr id="8" name="">
            <a:extLst xmlns:a="http://schemas.openxmlformats.org/drawingml/2006/main">
              <a:ext uri="{FF2B5EF4-FFF2-40B4-BE49-F238E27FC236}">
                <a16:creationId xmlns:a16="http://schemas.microsoft.com/office/drawing/2014/main" id="{34A899FF-C6CA-4D85-9CEA-CCE970D4D70E}"/>
              </a:ext>
            </a:extLst>
          </p:cNvPr>
          <p:cNvSpPr>
            <a:spLocks xmlns:a="http://schemas.openxmlformats.org/drawingml/2006/main" noGrp="1"/>
          </p:cNvSpPr>
          <p:nvPr/>
        </p:nvSpPr>
        <p:spPr>
          <a:xfrm xmlns:a="http://schemas.openxmlformats.org/drawingml/2006/main">
            <a:off x="1047750" y="3590925"/>
            <a:ext cx="3333750" cy="419100"/>
          </a:xfrm>
          <a:prstGeom xmlns:a="http://schemas.openxmlformats.org/drawingml/2006/main" prst="roundRect">
            <a:avLst>
              <a:gd name="adj" fmla="val 18182"/>
            </a:avLst>
          </a:prstGeom>
          <a:solidFill xmlns:a="http://schemas.openxmlformats.org/drawingml/2006/main">
            <a:srgbClr val="173B53"/>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39BFF172-0845-4A6B-BA0A-624CF2EB6747}"/>
              </a:ext>
            </a:extLst>
          </p:cNvPr>
          <p:cNvSpPr>
            <a:spLocks xmlns:a="http://schemas.openxmlformats.org/drawingml/2006/main" noGrp="1"/>
          </p:cNvSpPr>
          <p:nvPr/>
        </p:nvSpPr>
        <p:spPr>
          <a:xfrm xmlns:a="http://schemas.openxmlformats.org/drawingml/2006/main">
            <a:off x="1285875" y="36957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1275" b="1">
                <a:solidFill>
                  <a:srgbClr val="A9C1D2"/>
                </a:solidFill>
              </a:defRPr>
            </a:defPPr>
          </a:lstStyle>
          <a:p xmlns:a="http://schemas.openxmlformats.org/drawingml/2006/main">
            <a:pPr algn="ctr">
              <a:defRPr sz="1275" b="1">
                <a:solidFill>
                  <a:srgbClr val="A9C1D2"/>
                </a:solidFill>
              </a:defRPr>
            </a:pPr>
            <a:r>
              <a:rPr sz="1275" b="1">
                <a:solidFill>
                  <a:srgbClr val="A9C1D2"/>
                </a:solidFill>
              </a:rPr>
              <a:t>Router appliance</a:t>
            </a:r>
          </a:p>
        </p:txBody>
      </p:sp>
      <p:sp>
        <p:nvSpPr>
          <p:cNvPr id="10" name="">
            <a:extLst xmlns:a="http://schemas.openxmlformats.org/drawingml/2006/main">
              <a:ext uri="{FF2B5EF4-FFF2-40B4-BE49-F238E27FC236}">
                <a16:creationId xmlns:a16="http://schemas.microsoft.com/office/drawing/2014/main" id="{592397E8-4BA9-4D29-A7FF-C75997DC2006}"/>
              </a:ext>
            </a:extLst>
          </p:cNvPr>
          <p:cNvSpPr>
            <a:spLocks xmlns:a="http://schemas.openxmlformats.org/drawingml/2006/main" noGrp="1"/>
          </p:cNvSpPr>
          <p:nvPr/>
        </p:nvSpPr>
        <p:spPr>
          <a:xfrm xmlns:a="http://schemas.openxmlformats.org/drawingml/2006/main">
            <a:off x="1047750" y="4181475"/>
            <a:ext cx="3333750" cy="419100"/>
          </a:xfrm>
          <a:prstGeom xmlns:a="http://schemas.openxmlformats.org/drawingml/2006/main" prst="roundRect">
            <a:avLst>
              <a:gd name="adj" fmla="val 18182"/>
            </a:avLst>
          </a:prstGeom>
          <a:solidFill xmlns:a="http://schemas.openxmlformats.org/drawingml/2006/main">
            <a:srgbClr val="173B53"/>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E56BE47B-CC8D-49A6-9438-1E9E9E72AF58}"/>
              </a:ext>
            </a:extLst>
          </p:cNvPr>
          <p:cNvSpPr>
            <a:spLocks xmlns:a="http://schemas.openxmlformats.org/drawingml/2006/main" noGrp="1"/>
          </p:cNvSpPr>
          <p:nvPr/>
        </p:nvSpPr>
        <p:spPr>
          <a:xfrm xmlns:a="http://schemas.openxmlformats.org/drawingml/2006/main">
            <a:off x="1285875" y="428625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1275" b="1">
                <a:solidFill>
                  <a:srgbClr val="A9C1D2"/>
                </a:solidFill>
              </a:defRPr>
            </a:defPPr>
          </a:lstStyle>
          <a:p xmlns:a="http://schemas.openxmlformats.org/drawingml/2006/main">
            <a:pPr algn="ctr">
              <a:defRPr sz="1275" b="1">
                <a:solidFill>
                  <a:srgbClr val="A9C1D2"/>
                </a:solidFill>
              </a:defRPr>
            </a:pPr>
            <a:r>
              <a:rPr sz="1275" b="1">
                <a:solidFill>
                  <a:srgbClr val="A9C1D2"/>
                </a:solidFill>
              </a:rPr>
              <a:t>Security appliance</a:t>
            </a:r>
          </a:p>
        </p:txBody>
      </p:sp>
      <p:sp>
        <p:nvSpPr>
          <p:cNvPr id="12" name="">
            <a:extLst xmlns:a="http://schemas.openxmlformats.org/drawingml/2006/main">
              <a:ext uri="{FF2B5EF4-FFF2-40B4-BE49-F238E27FC236}">
                <a16:creationId xmlns:a16="http://schemas.microsoft.com/office/drawing/2014/main" id="{2630C993-487E-458D-86F6-2BDA13C41EC0}"/>
              </a:ext>
            </a:extLst>
          </p:cNvPr>
          <p:cNvSpPr>
            <a:spLocks xmlns:a="http://schemas.openxmlformats.org/drawingml/2006/main" noGrp="1"/>
          </p:cNvSpPr>
          <p:nvPr/>
        </p:nvSpPr>
        <p:spPr>
          <a:xfrm xmlns:a="http://schemas.openxmlformats.org/drawingml/2006/main">
            <a:off x="5667375" y="2190750"/>
            <a:ext cx="5838825" cy="3000375"/>
          </a:xfrm>
          <a:prstGeom xmlns:a="http://schemas.openxmlformats.org/drawingml/2006/main" prst="roundRect">
            <a:avLst>
              <a:gd name="adj" fmla="val 5079"/>
            </a:avLst>
          </a:prstGeom>
          <a:solidFill xmlns:a="http://schemas.openxmlformats.org/drawingml/2006/main">
            <a:srgbClr val="103445"/>
          </a:solidFill>
          <a:ln xmlns:a="http://schemas.openxmlformats.org/drawingml/2006/main" w="9525">
            <a:solidFill>
              <a:srgbClr val="23D5D2"/>
            </a:solidFill>
            <a:prstDash val="solid"/>
          </a:ln>
        </p:spPr>
      </p:sp>
      <p:sp>
        <p:nvSpPr>
          <p:cNvPr id="13" name="">
            <a:extLst xmlns:a="http://schemas.openxmlformats.org/drawingml/2006/main">
              <a:ext uri="{FF2B5EF4-FFF2-40B4-BE49-F238E27FC236}">
                <a16:creationId xmlns:a16="http://schemas.microsoft.com/office/drawing/2014/main" id="{047E950F-C3A6-4C0C-81A7-CD8E53E78332}"/>
              </a:ext>
            </a:extLst>
          </p:cNvPr>
          <p:cNvSpPr>
            <a:spLocks xmlns:a="http://schemas.openxmlformats.org/drawingml/2006/main" noGrp="1"/>
          </p:cNvSpPr>
          <p:nvPr/>
        </p:nvSpPr>
        <p:spPr>
          <a:xfrm xmlns:a="http://schemas.openxmlformats.org/drawingml/2006/main">
            <a:off x="5953125" y="2438400"/>
            <a:ext cx="4953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800" b="1">
                <a:solidFill>
                  <a:srgbClr val="23D5D2"/>
                </a:solidFill>
              </a:defRPr>
            </a:defPPr>
          </a:lstStyle>
          <a:p xmlns:a="http://schemas.openxmlformats.org/drawingml/2006/main">
            <a:pPr algn="l">
              <a:defRPr sz="1800" b="1">
                <a:solidFill>
                  <a:srgbClr val="23D5D2"/>
                </a:solidFill>
              </a:defRPr>
            </a:pPr>
            <a:r>
              <a:rPr sz="1800" b="1">
                <a:solidFill>
                  <a:srgbClr val="23D5D2"/>
                </a:solidFill>
              </a:rPr>
              <a:t>Consolidated Kubernetes edge</a:t>
            </a:r>
          </a:p>
        </p:txBody>
      </p:sp>
      <p:sp>
        <p:nvSpPr>
          <p:cNvPr id="14" name="">
            <a:extLst xmlns:a="http://schemas.openxmlformats.org/drawingml/2006/main">
              <a:ext uri="{FF2B5EF4-FFF2-40B4-BE49-F238E27FC236}">
                <a16:creationId xmlns:a16="http://schemas.microsoft.com/office/drawing/2014/main" id="{C68B00B6-83FD-45BF-A361-13560D369C4F}"/>
              </a:ext>
            </a:extLst>
          </p:cNvPr>
          <p:cNvSpPr>
            <a:spLocks xmlns:a="http://schemas.openxmlformats.org/drawingml/2006/main" noGrp="1"/>
          </p:cNvSpPr>
          <p:nvPr/>
        </p:nvSpPr>
        <p:spPr>
          <a:xfrm xmlns:a="http://schemas.openxmlformats.org/drawingml/2006/main">
            <a:off x="5953125" y="3048000"/>
            <a:ext cx="1524000" cy="952500"/>
          </a:xfrm>
          <a:prstGeom xmlns:a="http://schemas.openxmlformats.org/drawingml/2006/main" prst="roundRect">
            <a:avLst>
              <a:gd name="adj" fmla="val 12000"/>
            </a:avLst>
          </a:prstGeom>
          <a:solidFill xmlns:a="http://schemas.openxmlformats.org/drawingml/2006/main">
            <a:srgbClr val="0E2B42"/>
          </a:solidFill>
          <a:ln xmlns:a="http://schemas.openxmlformats.org/drawingml/2006/main" w="9525">
            <a:solidFill>
              <a:srgbClr val="31536A"/>
            </a:solidFill>
            <a:prstDash val="solid"/>
          </a:ln>
        </p:spPr>
      </p:sp>
      <p:sp>
        <p:nvSpPr>
          <p:cNvPr id="15" name="">
            <a:extLst xmlns:a="http://schemas.openxmlformats.org/drawingml/2006/main">
              <a:ext uri="{FF2B5EF4-FFF2-40B4-BE49-F238E27FC236}">
                <a16:creationId xmlns:a16="http://schemas.microsoft.com/office/drawing/2014/main" id="{57B36EA8-FA22-4600-8E74-0C8EECB15AD6}"/>
              </a:ext>
            </a:extLst>
          </p:cNvPr>
          <p:cNvSpPr>
            <a:spLocks xmlns:a="http://schemas.openxmlformats.org/drawingml/2006/main" noGrp="1"/>
          </p:cNvSpPr>
          <p:nvPr/>
        </p:nvSpPr>
        <p:spPr>
          <a:xfrm xmlns:a="http://schemas.openxmlformats.org/drawingml/2006/main">
            <a:off x="5953125" y="3048000"/>
            <a:ext cx="57150" cy="952500"/>
          </a:xfrm>
          <a:prstGeom xmlns:a="http://schemas.openxmlformats.org/drawingml/2006/main" prst="rect">
            <a:avLst/>
          </a:prstGeom>
          <a:solidFill xmlns:a="http://schemas.openxmlformats.org/drawingml/2006/main">
            <a:srgbClr val="FF9D42"/>
          </a:solidFill>
          <a:ln xmlns:a="http://schemas.openxmlformats.org/drawingml/2006/main" w="0">
            <a:solidFill>
              <a:srgbClr val="FF9D42"/>
            </a:solidFill>
            <a:prstDash val="solid"/>
          </a:ln>
        </p:spPr>
      </p:sp>
      <p:sp>
        <p:nvSpPr>
          <p:cNvPr id="16" name="">
            <a:extLst xmlns:a="http://schemas.openxmlformats.org/drawingml/2006/main">
              <a:ext uri="{FF2B5EF4-FFF2-40B4-BE49-F238E27FC236}">
                <a16:creationId xmlns:a16="http://schemas.microsoft.com/office/drawing/2014/main" id="{83CDBB37-BD43-4E93-ADEF-2C5450843158}"/>
              </a:ext>
            </a:extLst>
          </p:cNvPr>
          <p:cNvSpPr>
            <a:spLocks xmlns:a="http://schemas.openxmlformats.org/drawingml/2006/main" noGrp="1"/>
          </p:cNvSpPr>
          <p:nvPr/>
        </p:nvSpPr>
        <p:spPr>
          <a:xfrm xmlns:a="http://schemas.openxmlformats.org/drawingml/2006/main">
            <a:off x="6143625" y="3181350"/>
            <a:ext cx="12192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575" b="1">
                <a:solidFill>
                  <a:srgbClr val="F7FBFF"/>
                </a:solidFill>
              </a:defRPr>
            </a:defPPr>
          </a:lstStyle>
          <a:p xmlns:a="http://schemas.openxmlformats.org/drawingml/2006/main">
            <a:pPr algn="l">
              <a:defRPr sz="1575" b="1">
                <a:solidFill>
                  <a:srgbClr val="F7FBFF"/>
                </a:solidFill>
              </a:defRPr>
            </a:pPr>
            <a:r>
              <a:rPr sz="1575" b="1">
                <a:solidFill>
                  <a:srgbClr val="F7FBFF"/>
                </a:solidFill>
              </a:rPr>
              <a:t>vBNG</a:t>
            </a:r>
          </a:p>
        </p:txBody>
      </p:sp>
      <p:sp>
        <p:nvSpPr>
          <p:cNvPr id="17" name="">
            <a:extLst xmlns:a="http://schemas.openxmlformats.org/drawingml/2006/main">
              <a:ext uri="{FF2B5EF4-FFF2-40B4-BE49-F238E27FC236}">
                <a16:creationId xmlns:a16="http://schemas.microsoft.com/office/drawing/2014/main" id="{9145D737-0A5E-4899-9656-6F19F0912692}"/>
              </a:ext>
            </a:extLst>
          </p:cNvPr>
          <p:cNvSpPr>
            <a:spLocks xmlns:a="http://schemas.openxmlformats.org/drawingml/2006/main" noGrp="1"/>
          </p:cNvSpPr>
          <p:nvPr/>
        </p:nvSpPr>
        <p:spPr>
          <a:xfrm xmlns:a="http://schemas.openxmlformats.org/drawingml/2006/main">
            <a:off x="6143625" y="3733800"/>
            <a:ext cx="12192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975" b="0">
                <a:solidFill>
                  <a:srgbClr val="A9C1D2"/>
                </a:solidFill>
              </a:defRPr>
            </a:defPPr>
          </a:lstStyle>
          <a:p xmlns:a="http://schemas.openxmlformats.org/drawingml/2006/main">
            <a:pPr algn="l">
              <a:defRPr sz="975" b="0">
                <a:solidFill>
                  <a:srgbClr val="A9C1D2"/>
                </a:solidFill>
              </a:defRPr>
            </a:pPr>
            <a:r>
              <a:rPr sz="975" b="0">
                <a:solidFill>
                  <a:srgbClr val="A9C1D2"/>
                </a:solidFill>
              </a:rPr>
              <a:t>DPDK / VPP</a:t>
            </a:r>
          </a:p>
        </p:txBody>
      </p:sp>
      <p:sp>
        <p:nvSpPr>
          <p:cNvPr id="18" name="">
            <a:extLst xmlns:a="http://schemas.openxmlformats.org/drawingml/2006/main">
              <a:ext uri="{FF2B5EF4-FFF2-40B4-BE49-F238E27FC236}">
                <a16:creationId xmlns:a16="http://schemas.microsoft.com/office/drawing/2014/main" id="{43236D99-4488-46E5-95A8-6A19C7C19480}"/>
              </a:ext>
            </a:extLst>
          </p:cNvPr>
          <p:cNvSpPr>
            <a:spLocks xmlns:a="http://schemas.openxmlformats.org/drawingml/2006/main" noGrp="1"/>
          </p:cNvSpPr>
          <p:nvPr/>
        </p:nvSpPr>
        <p:spPr>
          <a:xfrm xmlns:a="http://schemas.openxmlformats.org/drawingml/2006/main">
            <a:off x="7810500" y="3048000"/>
            <a:ext cx="1524000" cy="952500"/>
          </a:xfrm>
          <a:prstGeom xmlns:a="http://schemas.openxmlformats.org/drawingml/2006/main" prst="roundRect">
            <a:avLst>
              <a:gd name="adj" fmla="val 12000"/>
            </a:avLst>
          </a:prstGeom>
          <a:solidFill xmlns:a="http://schemas.openxmlformats.org/drawingml/2006/main">
            <a:srgbClr val="0E2B42"/>
          </a:solidFill>
          <a:ln xmlns:a="http://schemas.openxmlformats.org/drawingml/2006/main" w="9525">
            <a:solidFill>
              <a:srgbClr val="31536A"/>
            </a:solidFill>
            <a:prstDash val="solid"/>
          </a:ln>
        </p:spPr>
      </p:sp>
      <p:sp>
        <p:nvSpPr>
          <p:cNvPr id="19" name="">
            <a:extLst xmlns:a="http://schemas.openxmlformats.org/drawingml/2006/main">
              <a:ext uri="{FF2B5EF4-FFF2-40B4-BE49-F238E27FC236}">
                <a16:creationId xmlns:a16="http://schemas.microsoft.com/office/drawing/2014/main" id="{F4A17E69-93C5-401C-BF8A-4192E486A79E}"/>
              </a:ext>
            </a:extLst>
          </p:cNvPr>
          <p:cNvSpPr>
            <a:spLocks xmlns:a="http://schemas.openxmlformats.org/drawingml/2006/main" noGrp="1"/>
          </p:cNvSpPr>
          <p:nvPr/>
        </p:nvSpPr>
        <p:spPr>
          <a:xfrm xmlns:a="http://schemas.openxmlformats.org/drawingml/2006/main">
            <a:off x="7810500" y="3048000"/>
            <a:ext cx="57150" cy="952500"/>
          </a:xfrm>
          <a:prstGeom xmlns:a="http://schemas.openxmlformats.org/drawingml/2006/main" prst="rect">
            <a:avLst/>
          </a:prstGeom>
          <a:solidFill xmlns:a="http://schemas.openxmlformats.org/drawingml/2006/main">
            <a:srgbClr val="43D17D"/>
          </a:solidFill>
          <a:ln xmlns:a="http://schemas.openxmlformats.org/drawingml/2006/main" w="0">
            <a:solidFill>
              <a:srgbClr val="43D17D"/>
            </a:solidFill>
            <a:prstDash val="solid"/>
          </a:ln>
        </p:spPr>
      </p:sp>
      <p:sp>
        <p:nvSpPr>
          <p:cNvPr id="20" name="">
            <a:extLst xmlns:a="http://schemas.openxmlformats.org/drawingml/2006/main">
              <a:ext uri="{FF2B5EF4-FFF2-40B4-BE49-F238E27FC236}">
                <a16:creationId xmlns:a16="http://schemas.microsoft.com/office/drawing/2014/main" id="{DEC0E91C-2E28-468A-8107-E4C35CAC69CE}"/>
              </a:ext>
            </a:extLst>
          </p:cNvPr>
          <p:cNvSpPr>
            <a:spLocks xmlns:a="http://schemas.openxmlformats.org/drawingml/2006/main" noGrp="1"/>
          </p:cNvSpPr>
          <p:nvPr/>
        </p:nvSpPr>
        <p:spPr>
          <a:xfrm xmlns:a="http://schemas.openxmlformats.org/drawingml/2006/main">
            <a:off x="8001000" y="3181350"/>
            <a:ext cx="12192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575" b="1">
                <a:solidFill>
                  <a:srgbClr val="F7FBFF"/>
                </a:solidFill>
              </a:defRPr>
            </a:defPPr>
          </a:lstStyle>
          <a:p xmlns:a="http://schemas.openxmlformats.org/drawingml/2006/main">
            <a:pPr algn="l">
              <a:defRPr sz="1575" b="1">
                <a:solidFill>
                  <a:srgbClr val="F7FBFF"/>
                </a:solidFill>
              </a:defRPr>
            </a:pPr>
            <a:r>
              <a:rPr sz="1575" b="1">
                <a:solidFill>
                  <a:srgbClr val="F7FBFF"/>
                </a:solidFill>
              </a:rPr>
              <a:t>FRR</a:t>
            </a:r>
          </a:p>
        </p:txBody>
      </p:sp>
      <p:sp>
        <p:nvSpPr>
          <p:cNvPr id="21" name="">
            <a:extLst xmlns:a="http://schemas.openxmlformats.org/drawingml/2006/main">
              <a:ext uri="{FF2B5EF4-FFF2-40B4-BE49-F238E27FC236}">
                <a16:creationId xmlns:a16="http://schemas.microsoft.com/office/drawing/2014/main" id="{5C053E92-1800-4861-8D02-E6C16719E283}"/>
              </a:ext>
            </a:extLst>
          </p:cNvPr>
          <p:cNvSpPr>
            <a:spLocks xmlns:a="http://schemas.openxmlformats.org/drawingml/2006/main" noGrp="1"/>
          </p:cNvSpPr>
          <p:nvPr/>
        </p:nvSpPr>
        <p:spPr>
          <a:xfrm xmlns:a="http://schemas.openxmlformats.org/drawingml/2006/main">
            <a:off x="8001000" y="3733800"/>
            <a:ext cx="12192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975" b="0">
                <a:solidFill>
                  <a:srgbClr val="A9C1D2"/>
                </a:solidFill>
              </a:defRPr>
            </a:defPPr>
          </a:lstStyle>
          <a:p xmlns:a="http://schemas.openxmlformats.org/drawingml/2006/main">
            <a:pPr algn="l">
              <a:defRPr sz="975" b="0">
                <a:solidFill>
                  <a:srgbClr val="A9C1D2"/>
                </a:solidFill>
              </a:defRPr>
            </a:pPr>
            <a:r>
              <a:rPr sz="975" b="0">
                <a:solidFill>
                  <a:srgbClr val="A9C1D2"/>
                </a:solidFill>
              </a:rPr>
              <a:t>BGP routing</a:t>
            </a:r>
          </a:p>
        </p:txBody>
      </p:sp>
      <p:sp>
        <p:nvSpPr>
          <p:cNvPr id="22" name="">
            <a:extLst xmlns:a="http://schemas.openxmlformats.org/drawingml/2006/main">
              <a:ext uri="{FF2B5EF4-FFF2-40B4-BE49-F238E27FC236}">
                <a16:creationId xmlns:a16="http://schemas.microsoft.com/office/drawing/2014/main" id="{3DF3C114-1749-44F9-82A7-A4B0B326F3F1}"/>
              </a:ext>
            </a:extLst>
          </p:cNvPr>
          <p:cNvSpPr>
            <a:spLocks xmlns:a="http://schemas.openxmlformats.org/drawingml/2006/main" noGrp="1"/>
          </p:cNvSpPr>
          <p:nvPr/>
        </p:nvSpPr>
        <p:spPr>
          <a:xfrm xmlns:a="http://schemas.openxmlformats.org/drawingml/2006/main">
            <a:off x="9667875" y="3048000"/>
            <a:ext cx="1571625" cy="952500"/>
          </a:xfrm>
          <a:prstGeom xmlns:a="http://schemas.openxmlformats.org/drawingml/2006/main" prst="roundRect">
            <a:avLst>
              <a:gd name="adj" fmla="val 12000"/>
            </a:avLst>
          </a:prstGeom>
          <a:solidFill xmlns:a="http://schemas.openxmlformats.org/drawingml/2006/main">
            <a:srgbClr val="0E2B42"/>
          </a:solidFill>
          <a:ln xmlns:a="http://schemas.openxmlformats.org/drawingml/2006/main" w="9525">
            <a:solidFill>
              <a:srgbClr val="31536A"/>
            </a:solidFill>
            <a:prstDash val="solid"/>
          </a:ln>
        </p:spPr>
      </p:sp>
      <p:sp>
        <p:nvSpPr>
          <p:cNvPr id="23" name="">
            <a:extLst xmlns:a="http://schemas.openxmlformats.org/drawingml/2006/main">
              <a:ext uri="{FF2B5EF4-FFF2-40B4-BE49-F238E27FC236}">
                <a16:creationId xmlns:a16="http://schemas.microsoft.com/office/drawing/2014/main" id="{60E487D7-0D79-4278-AE36-4F331205A419}"/>
              </a:ext>
            </a:extLst>
          </p:cNvPr>
          <p:cNvSpPr>
            <a:spLocks xmlns:a="http://schemas.openxmlformats.org/drawingml/2006/main" noGrp="1"/>
          </p:cNvSpPr>
          <p:nvPr/>
        </p:nvSpPr>
        <p:spPr>
          <a:xfrm xmlns:a="http://schemas.openxmlformats.org/drawingml/2006/main">
            <a:off x="9667875" y="3048000"/>
            <a:ext cx="57150" cy="952500"/>
          </a:xfrm>
          <a:prstGeom xmlns:a="http://schemas.openxmlformats.org/drawingml/2006/main" prst="rect">
            <a:avLst/>
          </a:prstGeom>
          <a:solidFill xmlns:a="http://schemas.openxmlformats.org/drawingml/2006/main">
            <a:srgbClr val="23D5D2"/>
          </a:solidFill>
          <a:ln xmlns:a="http://schemas.openxmlformats.org/drawingml/2006/main" w="0">
            <a:solidFill>
              <a:srgbClr val="23D5D2"/>
            </a:solidFill>
            <a:prstDash val="solid"/>
          </a:ln>
        </p:spPr>
      </p:sp>
      <p:sp>
        <p:nvSpPr>
          <p:cNvPr id="24" name="">
            <a:extLst xmlns:a="http://schemas.openxmlformats.org/drawingml/2006/main">
              <a:ext uri="{FF2B5EF4-FFF2-40B4-BE49-F238E27FC236}">
                <a16:creationId xmlns:a16="http://schemas.microsoft.com/office/drawing/2014/main" id="{390810E0-9B49-4160-9D10-98D589E3DE18}"/>
              </a:ext>
            </a:extLst>
          </p:cNvPr>
          <p:cNvSpPr>
            <a:spLocks xmlns:a="http://schemas.openxmlformats.org/drawingml/2006/main" noGrp="1"/>
          </p:cNvSpPr>
          <p:nvPr/>
        </p:nvSpPr>
        <p:spPr>
          <a:xfrm xmlns:a="http://schemas.openxmlformats.org/drawingml/2006/main">
            <a:off x="9858375" y="3181350"/>
            <a:ext cx="1266825"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575" b="1">
                <a:solidFill>
                  <a:srgbClr val="F7FBFF"/>
                </a:solidFill>
              </a:defRPr>
            </a:defPPr>
          </a:lstStyle>
          <a:p xmlns:a="http://schemas.openxmlformats.org/drawingml/2006/main">
            <a:pPr algn="l">
              <a:defRPr sz="1575" b="1">
                <a:solidFill>
                  <a:srgbClr val="F7FBFF"/>
                </a:solidFill>
              </a:defRPr>
            </a:pPr>
            <a:r>
              <a:rPr sz="1575" b="1">
                <a:solidFill>
                  <a:srgbClr val="F7FBFF"/>
                </a:solidFill>
              </a:rPr>
              <a:t>Services</a:t>
            </a:r>
          </a:p>
        </p:txBody>
      </p:sp>
      <p:sp>
        <p:nvSpPr>
          <p:cNvPr id="25" name="">
            <a:extLst xmlns:a="http://schemas.openxmlformats.org/drawingml/2006/main">
              <a:ext uri="{FF2B5EF4-FFF2-40B4-BE49-F238E27FC236}">
                <a16:creationId xmlns:a16="http://schemas.microsoft.com/office/drawing/2014/main" id="{60B73818-E18B-42A4-B0B6-F1116BA3FBBF}"/>
              </a:ext>
            </a:extLst>
          </p:cNvPr>
          <p:cNvSpPr>
            <a:spLocks xmlns:a="http://schemas.openxmlformats.org/drawingml/2006/main" noGrp="1"/>
          </p:cNvSpPr>
          <p:nvPr/>
        </p:nvSpPr>
        <p:spPr>
          <a:xfrm xmlns:a="http://schemas.openxmlformats.org/drawingml/2006/main">
            <a:off x="9858375" y="3733800"/>
            <a:ext cx="12668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975" b="0">
                <a:solidFill>
                  <a:srgbClr val="A9C1D2"/>
                </a:solidFill>
              </a:defRPr>
            </a:defPPr>
          </a:lstStyle>
          <a:p xmlns:a="http://schemas.openxmlformats.org/drawingml/2006/main">
            <a:pPr algn="l">
              <a:defRPr sz="975" b="0">
                <a:solidFill>
                  <a:srgbClr val="A9C1D2"/>
                </a:solidFill>
              </a:defRPr>
            </a:pPr>
            <a:r>
              <a:rPr sz="975" b="0">
                <a:solidFill>
                  <a:srgbClr val="A9C1D2"/>
                </a:solidFill>
              </a:rPr>
              <a:t>AAA / observability</a:t>
            </a:r>
          </a:p>
        </p:txBody>
      </p:sp>
      <p:sp>
        <p:nvSpPr>
          <p:cNvPr id="26" name="">
            <a:extLst xmlns:a="http://schemas.openxmlformats.org/drawingml/2006/main">
              <a:ext uri="{FF2B5EF4-FFF2-40B4-BE49-F238E27FC236}">
                <a16:creationId xmlns:a16="http://schemas.microsoft.com/office/drawing/2014/main" id="{2D3C4537-6869-45A9-A121-C53CE264CE41}"/>
              </a:ext>
            </a:extLst>
          </p:cNvPr>
          <p:cNvSpPr>
            <a:spLocks xmlns:a="http://schemas.openxmlformats.org/drawingml/2006/main" noGrp="1"/>
          </p:cNvSpPr>
          <p:nvPr/>
        </p:nvSpPr>
        <p:spPr>
          <a:xfrm xmlns:a="http://schemas.openxmlformats.org/drawingml/2006/main">
            <a:off x="5953125" y="4476750"/>
            <a:ext cx="52863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1275" b="1">
                <a:solidFill>
                  <a:srgbClr val="F7FBFF"/>
                </a:solidFill>
              </a:defRPr>
            </a:defPPr>
          </a:lstStyle>
          <a:p xmlns:a="http://schemas.openxmlformats.org/drawingml/2006/main">
            <a:pPr algn="ctr">
              <a:defRPr sz="1275" b="1">
                <a:solidFill>
                  <a:srgbClr val="F7FBFF"/>
                </a:solidFill>
              </a:defRPr>
            </a:pPr>
            <a:r>
              <a:rPr sz="1275" b="1">
                <a:solidFill>
                  <a:srgbClr val="F7FBFF"/>
                </a:solidFill>
              </a:rPr>
              <a:t>Shared lifecycle • explicit resource isolation • fewer edge boxes</a:t>
            </a:r>
          </a:p>
        </p:txBody>
      </p:sp>
      <p:sp>
        <p:nvSpPr>
          <p:cNvPr id="27" name="">
            <a:extLst xmlns:a="http://schemas.openxmlformats.org/drawingml/2006/main">
              <a:ext uri="{FF2B5EF4-FFF2-40B4-BE49-F238E27FC236}">
                <a16:creationId xmlns:a16="http://schemas.microsoft.com/office/drawing/2014/main" id="{70D1837D-14C4-41D2-8E2F-B9D6A637EE39}"/>
              </a:ext>
            </a:extLst>
          </p:cNvPr>
          <p:cNvSpPr>
            <a:spLocks xmlns:a="http://schemas.openxmlformats.org/drawingml/2006/main" noGrp="1"/>
          </p:cNvSpPr>
          <p:nvPr/>
        </p:nvSpPr>
        <p:spPr>
          <a:xfrm xmlns:a="http://schemas.openxmlformats.org/drawingml/2006/main">
            <a:off x="4629150" y="3476625"/>
            <a:ext cx="1181100" cy="323850"/>
          </a:xfrm>
          <a:prstGeom xmlns:a="http://schemas.openxmlformats.org/drawingml/2006/main" prst="roundRect">
            <a:avLst>
              <a:gd name="adj" fmla="val 50000"/>
            </a:avLst>
          </a:prstGeom>
          <a:solidFill xmlns:a="http://schemas.openxmlformats.org/drawingml/2006/main">
            <a:srgbClr val="FF9D42"/>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1E1870E4-AD13-4D46-85E5-6971CF2C23B6}"/>
              </a:ext>
            </a:extLst>
          </p:cNvPr>
          <p:cNvSpPr>
            <a:spLocks xmlns:a="http://schemas.openxmlformats.org/drawingml/2006/main" noGrp="1"/>
          </p:cNvSpPr>
          <p:nvPr/>
        </p:nvSpPr>
        <p:spPr>
          <a:xfrm xmlns:a="http://schemas.openxmlformats.org/drawingml/2006/main">
            <a:off x="4743450" y="3543300"/>
            <a:ext cx="95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975" b="1">
                <a:solidFill>
                  <a:srgbClr val="071A2B"/>
                </a:solidFill>
              </a:defRPr>
            </a:defPPr>
          </a:lstStyle>
          <a:p xmlns:a="http://schemas.openxmlformats.org/drawingml/2006/main">
            <a:pPr algn="ctr">
              <a:defRPr sz="975" b="1">
                <a:solidFill>
                  <a:srgbClr val="071A2B"/>
                </a:solidFill>
              </a:defRPr>
            </a:pPr>
            <a:r>
              <a:rPr sz="975" b="1">
                <a:solidFill>
                  <a:srgbClr val="071A2B"/>
                </a:solidFill>
              </a:rPr>
              <a:t>NIC OFFLOAD</a:t>
            </a:r>
          </a:p>
        </p:txBody>
      </p:sp>
      <p:sp>
        <p:nvSpPr>
          <p:cNvPr id="29" name="">
            <a:extLst xmlns:a="http://schemas.openxmlformats.org/drawingml/2006/main">
              <a:ext uri="{FF2B5EF4-FFF2-40B4-BE49-F238E27FC236}">
                <a16:creationId xmlns:a16="http://schemas.microsoft.com/office/drawing/2014/main" id="{273F05C1-9C63-4B73-BB62-F04420732944}"/>
              </a:ext>
            </a:extLst>
          </p:cNvPr>
          <p:cNvSpPr>
            <a:spLocks xmlns:a="http://schemas.openxmlformats.org/drawingml/2006/main" noGrp="1"/>
          </p:cNvSpPr>
          <p:nvPr/>
        </p:nvSpPr>
        <p:spPr>
          <a:xfrm xmlns:a="http://schemas.openxmlformats.org/drawingml/2006/main">
            <a:off x="952500" y="5581650"/>
            <a:ext cx="1019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1350" b="1">
                <a:solidFill>
                  <a:srgbClr val="A9C1D2"/>
                </a:solidFill>
              </a:defRPr>
            </a:defPPr>
          </a:lstStyle>
          <a:p xmlns:a="http://schemas.openxmlformats.org/drawingml/2006/main">
            <a:pPr algn="ctr">
              <a:defRPr sz="1350" b="1">
                <a:solidFill>
                  <a:srgbClr val="A9C1D2"/>
                </a:solidFill>
              </a:defRPr>
            </a:pPr>
            <a:r>
              <a:rPr sz="1350" b="1">
                <a:solidFill>
                  <a:srgbClr val="A9C1D2"/>
                </a:solidFill>
              </a:rPr>
              <a:t>Design caveat: consolidation reduces boxes, not failure domains. Keep resource isolation and simple HA where service continuity matters.</a:t>
            </a:r>
          </a:p>
        </p:txBody>
      </p:sp>
      <p:sp>
        <p:nvSpPr>
          <p:cNvPr id="30" name="">
            <a:extLst xmlns:a="http://schemas.openxmlformats.org/drawingml/2006/main">
              <a:ext uri="{FF2B5EF4-FFF2-40B4-BE49-F238E27FC236}">
                <a16:creationId xmlns:a16="http://schemas.microsoft.com/office/drawing/2014/main" id="{3E3F9A3F-9C0E-45D0-BD73-E1F942B41F33}"/>
              </a:ext>
            </a:extLst>
          </p:cNvPr>
          <p:cNvSpPr>
            <a:spLocks xmlns:a="http://schemas.openxmlformats.org/drawingml/2006/main" noGrp="1"/>
          </p:cNvSpPr>
          <p:nvPr/>
        </p:nvSpPr>
        <p:spPr>
          <a:xfrm xmlns:a="http://schemas.openxmlformats.org/drawingml/2006/main">
            <a:off x="685800" y="6410325"/>
            <a:ext cx="10820400" cy="9525"/>
          </a:xfrm>
          <a:prstGeom xmlns:a="http://schemas.openxmlformats.org/drawingml/2006/main" prst="rect">
            <a:avLst/>
          </a:prstGeom>
          <a:solidFill xmlns:a="http://schemas.openxmlformats.org/drawingml/2006/main">
            <a:srgbClr val="29485D"/>
          </a:solidFill>
          <a:ln xmlns:a="http://schemas.openxmlformats.org/drawingml/2006/main" w="0">
            <a:solidFill>
              <a:srgbClr val="29485D"/>
            </a:solidFill>
            <a:prstDash val="solid"/>
          </a:ln>
        </p:spPr>
      </p:sp>
      <p:sp>
        <p:nvSpPr>
          <p:cNvPr id="31" name="">
            <a:extLst xmlns:a="http://schemas.openxmlformats.org/drawingml/2006/main">
              <a:ext uri="{FF2B5EF4-FFF2-40B4-BE49-F238E27FC236}">
                <a16:creationId xmlns:a16="http://schemas.microsoft.com/office/drawing/2014/main" id="{66D3A1F9-3263-4D24-B1B4-B4BADB215FAD}"/>
              </a:ext>
            </a:extLst>
          </p:cNvPr>
          <p:cNvSpPr>
            <a:spLocks xmlns:a="http://schemas.openxmlformats.org/drawingml/2006/main" noGrp="1"/>
          </p:cNvSpPr>
          <p:nvPr/>
        </p:nvSpPr>
        <p:spPr>
          <a:xfrm xmlns:a="http://schemas.openxmlformats.org/drawingml/2006/main">
            <a:off x="685800" y="6477000"/>
            <a:ext cx="9525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675" b="0">
                <a:solidFill>
                  <a:srgbClr val="A9C1D2"/>
                </a:solidFill>
              </a:defRPr>
            </a:defPPr>
          </a:lstStyle>
          <a:p xmlns:a="http://schemas.openxmlformats.org/drawingml/2006/main">
            <a:pPr algn="l">
              <a:defRPr sz="675" b="0">
                <a:solidFill>
                  <a:srgbClr val="A9C1D2"/>
                </a:solidFill>
              </a:defRPr>
            </a:pPr>
            <a:r>
              <a:rPr sz="675" b="0">
                <a:solidFill>
                  <a:srgbClr val="A9C1D2"/>
                </a:solidFill>
              </a:rPr>
              <a:t>Sources: NVIDIA BlueField/DOCA documentation; Intel Network Builders cloud-native BNG white paper.</a:t>
            </a:r>
          </a:p>
        </p:txBody>
      </p:sp>
      <p:sp>
        <p:nvSpPr>
          <p:cNvPr id="32" name="">
            <a:extLst xmlns:a="http://schemas.openxmlformats.org/drawingml/2006/main">
              <a:ext uri="{FF2B5EF4-FFF2-40B4-BE49-F238E27FC236}">
                <a16:creationId xmlns:a16="http://schemas.microsoft.com/office/drawing/2014/main" id="{E8E9B7D9-DDF3-424D-985F-3B94AF63E2EA}"/>
              </a:ext>
            </a:extLst>
          </p:cNvPr>
          <p:cNvSpPr>
            <a:spLocks xmlns:a="http://schemas.openxmlformats.org/drawingml/2006/main" noGrp="1"/>
          </p:cNvSpPr>
          <p:nvPr/>
        </p:nvSpPr>
        <p:spPr>
          <a:xfrm xmlns:a="http://schemas.openxmlformats.org/drawingml/2006/main">
            <a:off x="10953750" y="6448425"/>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r">
              <a:defRPr sz="825" b="1">
                <a:solidFill>
                  <a:srgbClr val="23D5D2"/>
                </a:solidFill>
              </a:defRPr>
            </a:defPPr>
          </a:lstStyle>
          <a:p xmlns:a="http://schemas.openxmlformats.org/drawingml/2006/main">
            <a:pPr algn="r">
              <a:defRPr sz="825" b="1">
                <a:solidFill>
                  <a:srgbClr val="23D5D2"/>
                </a:solidFill>
              </a:defRPr>
            </a:pPr>
            <a:r>
              <a:rPr sz="825" b="1">
                <a:solidFill>
                  <a:srgbClr val="23D5D2"/>
                </a:solidFill>
              </a:rPr>
              <a:t>05</a:t>
            </a:r>
          </a:p>
        </p:txBody>
      </p:sp>
    </p:spTree>
    <p:extLst>
      <p:ext uri="{BB962C8B-B14F-4D97-AF65-F5344CB8AC3E}">
        <p14:creationId xmlns:p14="http://schemas.microsoft.com/office/powerpoint/2010/main" val="1291659008"/>
      </p:ext>
    </p:extLst>
  </p:cSld>
</p:sld>
</file>

<file path=ppt/slides/slide6.xml><?xml version="1.0" encoding="utf-8"?>
<p:sld xmlns:p="http://schemas.openxmlformats.org/presentationml/2006/main">
  <p:cSld>
    <p:bg>
      <p:bgPr>
        <a:solidFill xmlns:a="http://schemas.openxmlformats.org/drawingml/2006/main">
          <a:srgbClr val="071A2B"/>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C1D7490D-B21F-4827-88F4-708B2F620442}"/>
              </a:ext>
            </a:extLst>
          </p:cNvPr>
          <p:cNvSpPr>
            <a:spLocks xmlns:a="http://schemas.openxmlformats.org/drawingml/2006/main" noGrp="1"/>
          </p:cNvSpPr>
          <p:nvPr/>
        </p:nvSpPr>
        <p:spPr>
          <a:xfrm xmlns:a="http://schemas.openxmlformats.org/drawingml/2006/main">
            <a:off x="685800" y="45720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975" b="1">
                <a:solidFill>
                  <a:srgbClr val="23D5D2"/>
                </a:solidFill>
              </a:defRPr>
            </a:defPPr>
          </a:lstStyle>
          <a:p xmlns:a="http://schemas.openxmlformats.org/drawingml/2006/main">
            <a:pPr algn="l">
              <a:defRPr sz="975" b="1">
                <a:solidFill>
                  <a:srgbClr val="23D5D2"/>
                </a:solidFill>
              </a:defRPr>
            </a:pPr>
            <a:r>
              <a:rPr sz="975" b="1">
                <a:solidFill>
                  <a:srgbClr val="23D5D2"/>
                </a:solidFill>
              </a:rPr>
              <a:t>5 • DEPLOYMENT RESULTS</a:t>
            </a:r>
          </a:p>
        </p:txBody>
      </p:sp>
      <p:sp>
        <p:nvSpPr>
          <p:cNvPr id="2" name="">
            <a:extLst xmlns:a="http://schemas.openxmlformats.org/drawingml/2006/main">
              <a:ext uri="{FF2B5EF4-FFF2-40B4-BE49-F238E27FC236}">
                <a16:creationId xmlns:a16="http://schemas.microsoft.com/office/drawing/2014/main" id="{C3EA849A-DDFF-40B7-8B7C-D65C2FDC8771}"/>
              </a:ext>
            </a:extLst>
          </p:cNvPr>
          <p:cNvSpPr>
            <a:spLocks xmlns:a="http://schemas.openxmlformats.org/drawingml/2006/main" noGrp="1"/>
          </p:cNvSpPr>
          <p:nvPr/>
        </p:nvSpPr>
        <p:spPr>
          <a:xfrm xmlns:a="http://schemas.openxmlformats.org/drawingml/2006/main">
            <a:off x="685800" y="819150"/>
            <a:ext cx="108204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2550" b="1">
                <a:solidFill>
                  <a:srgbClr val="F7FBFF"/>
                </a:solidFill>
              </a:defRPr>
            </a:defPPr>
          </a:lstStyle>
          <a:p xmlns:a="http://schemas.openxmlformats.org/drawingml/2006/main">
            <a:pPr algn="l">
              <a:defRPr sz="2550" b="1">
                <a:solidFill>
                  <a:srgbClr val="F7FBFF"/>
                </a:solidFill>
              </a:defRPr>
            </a:pPr>
            <a:r>
              <a:rPr sz="2550" b="1">
                <a:solidFill>
                  <a:srgbClr val="F7FBFF"/>
                </a:solidFill>
              </a:rPr>
              <a:t>A repeatable broadband edge, delivered as Helm charts</a:t>
            </a:r>
          </a:p>
        </p:txBody>
      </p:sp>
      <p:sp>
        <p:nvSpPr>
          <p:cNvPr id="3" name="">
            <a:extLst xmlns:a="http://schemas.openxmlformats.org/drawingml/2006/main">
              <a:ext uri="{FF2B5EF4-FFF2-40B4-BE49-F238E27FC236}">
                <a16:creationId xmlns:a16="http://schemas.microsoft.com/office/drawing/2014/main" id="{202981B6-EF39-4C78-AFF9-6A5919250B7E}"/>
              </a:ext>
            </a:extLst>
          </p:cNvPr>
          <p:cNvSpPr>
            <a:spLocks xmlns:a="http://schemas.openxmlformats.org/drawingml/2006/main" noGrp="1"/>
          </p:cNvSpPr>
          <p:nvPr/>
        </p:nvSpPr>
        <p:spPr>
          <a:xfrm xmlns:a="http://schemas.openxmlformats.org/drawingml/2006/main">
            <a:off x="685800" y="1457325"/>
            <a:ext cx="10287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350" b="0">
                <a:solidFill>
                  <a:srgbClr val="A9C1D2"/>
                </a:solidFill>
              </a:defRPr>
            </a:defPPr>
          </a:lstStyle>
          <a:p xmlns:a="http://schemas.openxmlformats.org/drawingml/2006/main">
            <a:pPr algn="l">
              <a:defRPr sz="1350" b="0">
                <a:solidFill>
                  <a:srgbClr val="A9C1D2"/>
                </a:solidFill>
              </a:defRPr>
            </a:pPr>
            <a:r>
              <a:rPr sz="1350" b="0">
                <a:solidFill>
                  <a:srgbClr val="A9C1D2"/>
                </a:solidFill>
              </a:rPr>
              <a:t>The first win is operational repeatability. Scale and HA follow from evidence.</a:t>
            </a:r>
          </a:p>
        </p:txBody>
      </p:sp>
      <p:sp>
        <p:nvSpPr>
          <p:cNvPr id="4" name="">
            <a:extLst xmlns:a="http://schemas.openxmlformats.org/drawingml/2006/main">
              <a:ext uri="{FF2B5EF4-FFF2-40B4-BE49-F238E27FC236}">
                <a16:creationId xmlns:a16="http://schemas.microsoft.com/office/drawing/2014/main" id="{154A61EC-94CC-4175-B838-6CB5EB518CE1}"/>
              </a:ext>
            </a:extLst>
          </p:cNvPr>
          <p:cNvSpPr>
            <a:spLocks xmlns:a="http://schemas.openxmlformats.org/drawingml/2006/main" noGrp="1"/>
          </p:cNvSpPr>
          <p:nvPr/>
        </p:nvSpPr>
        <p:spPr>
          <a:xfrm xmlns:a="http://schemas.openxmlformats.org/drawingml/2006/main">
            <a:off x="685800" y="2076450"/>
            <a:ext cx="7239000" cy="514350"/>
          </a:xfrm>
          <a:prstGeom xmlns:a="http://schemas.openxmlformats.org/drawingml/2006/main" prst="roundRect">
            <a:avLst>
              <a:gd name="adj" fmla="val 22222"/>
            </a:avLst>
          </a:prstGeom>
          <a:solidFill xmlns:a="http://schemas.openxmlformats.org/drawingml/2006/main">
            <a:srgbClr val="103B3C"/>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3C41F502-70EE-4FBB-B37E-4BDEB8513919}"/>
              </a:ext>
            </a:extLst>
          </p:cNvPr>
          <p:cNvSpPr>
            <a:spLocks xmlns:a="http://schemas.openxmlformats.org/drawingml/2006/main" noGrp="1"/>
          </p:cNvSpPr>
          <p:nvPr/>
        </p:nvSpPr>
        <p:spPr>
          <a:xfrm xmlns:a="http://schemas.openxmlformats.org/drawingml/2006/main">
            <a:off x="876300" y="2181225"/>
            <a:ext cx="3333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1500" b="1">
                <a:solidFill>
                  <a:srgbClr val="43D17D"/>
                </a:solidFill>
              </a:defRPr>
            </a:defPPr>
          </a:lstStyle>
          <a:p xmlns:a="http://schemas.openxmlformats.org/drawingml/2006/main">
            <a:pPr algn="ctr">
              <a:defRPr sz="1500" b="1">
                <a:solidFill>
                  <a:srgbClr val="43D17D"/>
                </a:solidFill>
              </a:defRPr>
            </a:pPr>
            <a:r>
              <a:rPr sz="1500" b="1">
                <a:solidFill>
                  <a:srgbClr val="43D17D"/>
                </a:solidFill>
              </a:rPr>
              <a:t>✓</a:t>
            </a:r>
          </a:p>
        </p:txBody>
      </p:sp>
      <p:sp>
        <p:nvSpPr>
          <p:cNvPr id="6" name="">
            <a:extLst xmlns:a="http://schemas.openxmlformats.org/drawingml/2006/main">
              <a:ext uri="{FF2B5EF4-FFF2-40B4-BE49-F238E27FC236}">
                <a16:creationId xmlns:a16="http://schemas.microsoft.com/office/drawing/2014/main" id="{E07A534B-CB34-490B-BD84-074719873DFE}"/>
              </a:ext>
            </a:extLst>
          </p:cNvPr>
          <p:cNvSpPr>
            <a:spLocks xmlns:a="http://schemas.openxmlformats.org/drawingml/2006/main" noGrp="1"/>
          </p:cNvSpPr>
          <p:nvPr/>
        </p:nvSpPr>
        <p:spPr>
          <a:xfrm xmlns:a="http://schemas.openxmlformats.org/drawingml/2006/main">
            <a:off x="1381125" y="2162175"/>
            <a:ext cx="2476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350" b="1">
                <a:solidFill>
                  <a:srgbClr val="F7FBFF"/>
                </a:solidFill>
              </a:defRPr>
            </a:defPPr>
          </a:lstStyle>
          <a:p xmlns:a="http://schemas.openxmlformats.org/drawingml/2006/main">
            <a:pPr algn="l">
              <a:defRPr sz="1350" b="1">
                <a:solidFill>
                  <a:srgbClr val="F7FBFF"/>
                </a:solidFill>
              </a:defRPr>
            </a:pPr>
            <a:r>
              <a:rPr sz="1350" b="1">
                <a:solidFill>
                  <a:srgbClr val="F7FBFF"/>
                </a:solidFill>
              </a:rPr>
              <a:t>Charts render and lint</a:t>
            </a:r>
          </a:p>
        </p:txBody>
      </p:sp>
      <p:sp>
        <p:nvSpPr>
          <p:cNvPr id="7" name="">
            <a:extLst xmlns:a="http://schemas.openxmlformats.org/drawingml/2006/main">
              <a:ext uri="{FF2B5EF4-FFF2-40B4-BE49-F238E27FC236}">
                <a16:creationId xmlns:a16="http://schemas.microsoft.com/office/drawing/2014/main" id="{6C85AFA7-2FBE-44A5-94F0-D173E765341A}"/>
              </a:ext>
            </a:extLst>
          </p:cNvPr>
          <p:cNvSpPr>
            <a:spLocks xmlns:a="http://schemas.openxmlformats.org/drawingml/2006/main" noGrp="1"/>
          </p:cNvSpPr>
          <p:nvPr/>
        </p:nvSpPr>
        <p:spPr>
          <a:xfrm xmlns:a="http://schemas.openxmlformats.org/drawingml/2006/main">
            <a:off x="4000500" y="2171700"/>
            <a:ext cx="3619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125" b="0">
                <a:solidFill>
                  <a:srgbClr val="A9C1D2"/>
                </a:solidFill>
              </a:defRPr>
            </a:defPPr>
          </a:lstStyle>
          <a:p xmlns:a="http://schemas.openxmlformats.org/drawingml/2006/main">
            <a:pPr algn="l">
              <a:defRPr sz="1125" b="0">
                <a:solidFill>
                  <a:srgbClr val="A9C1D2"/>
                </a:solidFill>
              </a:defRPr>
            </a:pPr>
            <a:r>
              <a:rPr sz="1125" b="0">
                <a:solidFill>
                  <a:srgbClr val="A9C1D2"/>
                </a:solidFill>
              </a:rPr>
              <a:t>BNG, FRR, and optional CPE lab</a:t>
            </a:r>
          </a:p>
        </p:txBody>
      </p:sp>
      <p:sp>
        <p:nvSpPr>
          <p:cNvPr id="8" name="">
            <a:extLst xmlns:a="http://schemas.openxmlformats.org/drawingml/2006/main">
              <a:ext uri="{FF2B5EF4-FFF2-40B4-BE49-F238E27FC236}">
                <a16:creationId xmlns:a16="http://schemas.microsoft.com/office/drawing/2014/main" id="{91686F65-B453-484E-AB19-06B53E00201C}"/>
              </a:ext>
            </a:extLst>
          </p:cNvPr>
          <p:cNvSpPr>
            <a:spLocks xmlns:a="http://schemas.openxmlformats.org/drawingml/2006/main" noGrp="1"/>
          </p:cNvSpPr>
          <p:nvPr/>
        </p:nvSpPr>
        <p:spPr>
          <a:xfrm xmlns:a="http://schemas.openxmlformats.org/drawingml/2006/main">
            <a:off x="685800" y="2743200"/>
            <a:ext cx="7239000" cy="514350"/>
          </a:xfrm>
          <a:prstGeom xmlns:a="http://schemas.openxmlformats.org/drawingml/2006/main" prst="roundRect">
            <a:avLst>
              <a:gd name="adj" fmla="val 22222"/>
            </a:avLst>
          </a:prstGeom>
          <a:solidFill xmlns:a="http://schemas.openxmlformats.org/drawingml/2006/main">
            <a:srgbClr val="103B3C"/>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45D70058-5ECA-4CA6-92EE-961BF5254E99}"/>
              </a:ext>
            </a:extLst>
          </p:cNvPr>
          <p:cNvSpPr>
            <a:spLocks xmlns:a="http://schemas.openxmlformats.org/drawingml/2006/main" noGrp="1"/>
          </p:cNvSpPr>
          <p:nvPr/>
        </p:nvSpPr>
        <p:spPr>
          <a:xfrm xmlns:a="http://schemas.openxmlformats.org/drawingml/2006/main">
            <a:off x="876300" y="2847975"/>
            <a:ext cx="3333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1500" b="1">
                <a:solidFill>
                  <a:srgbClr val="43D17D"/>
                </a:solidFill>
              </a:defRPr>
            </a:defPPr>
          </a:lstStyle>
          <a:p xmlns:a="http://schemas.openxmlformats.org/drawingml/2006/main">
            <a:pPr algn="ctr">
              <a:defRPr sz="1500" b="1">
                <a:solidFill>
                  <a:srgbClr val="43D17D"/>
                </a:solidFill>
              </a:defRPr>
            </a:pPr>
            <a:r>
              <a:rPr sz="1500" b="1">
                <a:solidFill>
                  <a:srgbClr val="43D17D"/>
                </a:solidFill>
              </a:rPr>
              <a:t>✓</a:t>
            </a:r>
          </a:p>
        </p:txBody>
      </p:sp>
      <p:sp>
        <p:nvSpPr>
          <p:cNvPr id="10" name="">
            <a:extLst xmlns:a="http://schemas.openxmlformats.org/drawingml/2006/main">
              <a:ext uri="{FF2B5EF4-FFF2-40B4-BE49-F238E27FC236}">
                <a16:creationId xmlns:a16="http://schemas.microsoft.com/office/drawing/2014/main" id="{1C857B13-D0B8-4F46-A4E0-7FE23C109F40}"/>
              </a:ext>
            </a:extLst>
          </p:cNvPr>
          <p:cNvSpPr>
            <a:spLocks xmlns:a="http://schemas.openxmlformats.org/drawingml/2006/main" noGrp="1"/>
          </p:cNvSpPr>
          <p:nvPr/>
        </p:nvSpPr>
        <p:spPr>
          <a:xfrm xmlns:a="http://schemas.openxmlformats.org/drawingml/2006/main">
            <a:off x="1381125" y="2828925"/>
            <a:ext cx="2476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350" b="1">
                <a:solidFill>
                  <a:srgbClr val="F7FBFF"/>
                </a:solidFill>
              </a:defRPr>
            </a:defPPr>
          </a:lstStyle>
          <a:p xmlns:a="http://schemas.openxmlformats.org/drawingml/2006/main">
            <a:pPr algn="l">
              <a:defRPr sz="1350" b="1">
                <a:solidFill>
                  <a:srgbClr val="F7FBFF"/>
                </a:solidFill>
              </a:defRPr>
            </a:pPr>
            <a:r>
              <a:rPr sz="1350" b="1">
                <a:solidFill>
                  <a:srgbClr val="F7FBFF"/>
                </a:solidFill>
              </a:rPr>
              <a:t>.12 / .13 interfaces live</a:t>
            </a:r>
          </a:p>
        </p:txBody>
      </p:sp>
      <p:sp>
        <p:nvSpPr>
          <p:cNvPr id="11" name="">
            <a:extLst xmlns:a="http://schemas.openxmlformats.org/drawingml/2006/main">
              <a:ext uri="{FF2B5EF4-FFF2-40B4-BE49-F238E27FC236}">
                <a16:creationId xmlns:a16="http://schemas.microsoft.com/office/drawing/2014/main" id="{897EB4A6-7484-493D-BABD-DAF7337A6532}"/>
              </a:ext>
            </a:extLst>
          </p:cNvPr>
          <p:cNvSpPr>
            <a:spLocks xmlns:a="http://schemas.openxmlformats.org/drawingml/2006/main" noGrp="1"/>
          </p:cNvSpPr>
          <p:nvPr/>
        </p:nvSpPr>
        <p:spPr>
          <a:xfrm xmlns:a="http://schemas.openxmlformats.org/drawingml/2006/main">
            <a:off x="4000500" y="2838450"/>
            <a:ext cx="3619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125" b="0">
                <a:solidFill>
                  <a:srgbClr val="A9C1D2"/>
                </a:solidFill>
              </a:defRPr>
            </a:defPPr>
          </a:lstStyle>
          <a:p xmlns:a="http://schemas.openxmlformats.org/drawingml/2006/main">
            <a:pPr algn="l">
              <a:defRPr sz="1125" b="0">
                <a:solidFill>
                  <a:srgbClr val="A9C1D2"/>
                </a:solidFill>
              </a:defRPr>
            </a:pPr>
            <a:r>
              <a:rPr sz="1125" b="0">
                <a:solidFill>
                  <a:srgbClr val="A9C1D2"/>
                </a:solidFill>
              </a:rPr>
              <a:t>Both FRRs reached 192.168.88.1</a:t>
            </a:r>
          </a:p>
        </p:txBody>
      </p:sp>
      <p:sp>
        <p:nvSpPr>
          <p:cNvPr id="12" name="">
            <a:extLst xmlns:a="http://schemas.openxmlformats.org/drawingml/2006/main">
              <a:ext uri="{FF2B5EF4-FFF2-40B4-BE49-F238E27FC236}">
                <a16:creationId xmlns:a16="http://schemas.microsoft.com/office/drawing/2014/main" id="{9CAC4D88-6668-4AA2-83E2-2A7B3F062D1F}"/>
              </a:ext>
            </a:extLst>
          </p:cNvPr>
          <p:cNvSpPr>
            <a:spLocks xmlns:a="http://schemas.openxmlformats.org/drawingml/2006/main" noGrp="1"/>
          </p:cNvSpPr>
          <p:nvPr/>
        </p:nvSpPr>
        <p:spPr>
          <a:xfrm xmlns:a="http://schemas.openxmlformats.org/drawingml/2006/main">
            <a:off x="685800" y="3409950"/>
            <a:ext cx="7239000" cy="514350"/>
          </a:xfrm>
          <a:prstGeom xmlns:a="http://schemas.openxmlformats.org/drawingml/2006/main" prst="roundRect">
            <a:avLst>
              <a:gd name="adj" fmla="val 22222"/>
            </a:avLst>
          </a:prstGeom>
          <a:solidFill xmlns:a="http://schemas.openxmlformats.org/drawingml/2006/main">
            <a:srgbClr val="103B3C"/>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2CAE3439-5B92-48DA-87DA-AE02518B4A4E}"/>
              </a:ext>
            </a:extLst>
          </p:cNvPr>
          <p:cNvSpPr>
            <a:spLocks xmlns:a="http://schemas.openxmlformats.org/drawingml/2006/main" noGrp="1"/>
          </p:cNvSpPr>
          <p:nvPr/>
        </p:nvSpPr>
        <p:spPr>
          <a:xfrm xmlns:a="http://schemas.openxmlformats.org/drawingml/2006/main">
            <a:off x="876300" y="3514725"/>
            <a:ext cx="3333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1500" b="1">
                <a:solidFill>
                  <a:srgbClr val="43D17D"/>
                </a:solidFill>
              </a:defRPr>
            </a:defPPr>
          </a:lstStyle>
          <a:p xmlns:a="http://schemas.openxmlformats.org/drawingml/2006/main">
            <a:pPr algn="ctr">
              <a:defRPr sz="1500" b="1">
                <a:solidFill>
                  <a:srgbClr val="43D17D"/>
                </a:solidFill>
              </a:defRPr>
            </a:pPr>
            <a:r>
              <a:rPr sz="1500" b="1">
                <a:solidFill>
                  <a:srgbClr val="43D17D"/>
                </a:solidFill>
              </a:rPr>
              <a:t>✓</a:t>
            </a:r>
          </a:p>
        </p:txBody>
      </p:sp>
      <p:sp>
        <p:nvSpPr>
          <p:cNvPr id="14" name="">
            <a:extLst xmlns:a="http://schemas.openxmlformats.org/drawingml/2006/main">
              <a:ext uri="{FF2B5EF4-FFF2-40B4-BE49-F238E27FC236}">
                <a16:creationId xmlns:a16="http://schemas.microsoft.com/office/drawing/2014/main" id="{CEECC3EC-5395-4492-90A8-3DBB3E27BEAC}"/>
              </a:ext>
            </a:extLst>
          </p:cNvPr>
          <p:cNvSpPr>
            <a:spLocks xmlns:a="http://schemas.openxmlformats.org/drawingml/2006/main" noGrp="1"/>
          </p:cNvSpPr>
          <p:nvPr/>
        </p:nvSpPr>
        <p:spPr>
          <a:xfrm xmlns:a="http://schemas.openxmlformats.org/drawingml/2006/main">
            <a:off x="1381125" y="3495675"/>
            <a:ext cx="2476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350" b="1">
                <a:solidFill>
                  <a:srgbClr val="F7FBFF"/>
                </a:solidFill>
              </a:defRPr>
            </a:defPPr>
          </a:lstStyle>
          <a:p xmlns:a="http://schemas.openxmlformats.org/drawingml/2006/main">
            <a:pPr algn="l">
              <a:defRPr sz="1350" b="1">
                <a:solidFill>
                  <a:srgbClr val="F7FBFF"/>
                </a:solidFill>
              </a:defRPr>
            </a:pPr>
            <a:r>
              <a:rPr sz="1350" b="1">
                <a:solidFill>
                  <a:srgbClr val="F7FBFF"/>
                </a:solidFill>
              </a:rPr>
              <a:t>Internal BGP established</a:t>
            </a:r>
          </a:p>
        </p:txBody>
      </p:sp>
      <p:sp>
        <p:nvSpPr>
          <p:cNvPr id="15" name="">
            <a:extLst xmlns:a="http://schemas.openxmlformats.org/drawingml/2006/main">
              <a:ext uri="{FF2B5EF4-FFF2-40B4-BE49-F238E27FC236}">
                <a16:creationId xmlns:a16="http://schemas.microsoft.com/office/drawing/2014/main" id="{D12FEECE-4CB3-4DDC-8EF7-F08D11BD7EEC}"/>
              </a:ext>
            </a:extLst>
          </p:cNvPr>
          <p:cNvSpPr>
            <a:spLocks xmlns:a="http://schemas.openxmlformats.org/drawingml/2006/main" noGrp="1"/>
          </p:cNvSpPr>
          <p:nvPr/>
        </p:nvSpPr>
        <p:spPr>
          <a:xfrm xmlns:a="http://schemas.openxmlformats.org/drawingml/2006/main">
            <a:off x="4000500" y="3505200"/>
            <a:ext cx="3619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125" b="0">
                <a:solidFill>
                  <a:srgbClr val="A9C1D2"/>
                </a:solidFill>
              </a:defRPr>
            </a:defPPr>
          </a:lstStyle>
          <a:p xmlns:a="http://schemas.openxmlformats.org/drawingml/2006/main">
            <a:pPr algn="l">
              <a:defRPr sz="1125" b="0">
                <a:solidFill>
                  <a:srgbClr val="A9C1D2"/>
                </a:solidFill>
              </a:defRPr>
            </a:pPr>
            <a:r>
              <a:rPr sz="1125" b="0">
                <a:solidFill>
                  <a:srgbClr val="A9C1D2"/>
                </a:solidFill>
              </a:rPr>
              <a:t>Both FRRs peered with both BNGs</a:t>
            </a:r>
          </a:p>
        </p:txBody>
      </p:sp>
      <p:sp>
        <p:nvSpPr>
          <p:cNvPr id="16" name="">
            <a:extLst xmlns:a="http://schemas.openxmlformats.org/drawingml/2006/main">
              <a:ext uri="{FF2B5EF4-FFF2-40B4-BE49-F238E27FC236}">
                <a16:creationId xmlns:a16="http://schemas.microsoft.com/office/drawing/2014/main" id="{6286EEC0-2D40-477F-B5BF-6DABBD48A37C}"/>
              </a:ext>
            </a:extLst>
          </p:cNvPr>
          <p:cNvSpPr>
            <a:spLocks xmlns:a="http://schemas.openxmlformats.org/drawingml/2006/main" noGrp="1"/>
          </p:cNvSpPr>
          <p:nvPr/>
        </p:nvSpPr>
        <p:spPr>
          <a:xfrm xmlns:a="http://schemas.openxmlformats.org/drawingml/2006/main">
            <a:off x="685800" y="4076700"/>
            <a:ext cx="7239000" cy="514350"/>
          </a:xfrm>
          <a:prstGeom xmlns:a="http://schemas.openxmlformats.org/drawingml/2006/main" prst="roundRect">
            <a:avLst>
              <a:gd name="adj" fmla="val 22222"/>
            </a:avLst>
          </a:prstGeom>
          <a:solidFill xmlns:a="http://schemas.openxmlformats.org/drawingml/2006/main">
            <a:srgbClr val="2A3042"/>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4F525EC2-BFD8-43B3-B897-DC466430DD74}"/>
              </a:ext>
            </a:extLst>
          </p:cNvPr>
          <p:cNvSpPr>
            <a:spLocks xmlns:a="http://schemas.openxmlformats.org/drawingml/2006/main" noGrp="1"/>
          </p:cNvSpPr>
          <p:nvPr/>
        </p:nvSpPr>
        <p:spPr>
          <a:xfrm xmlns:a="http://schemas.openxmlformats.org/drawingml/2006/main">
            <a:off x="876300" y="4181475"/>
            <a:ext cx="3333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1500" b="1">
                <a:solidFill>
                  <a:srgbClr val="FF9D42"/>
                </a:solidFill>
              </a:defRPr>
            </a:defPPr>
          </a:lstStyle>
          <a:p xmlns:a="http://schemas.openxmlformats.org/drawingml/2006/main">
            <a:pPr algn="ctr">
              <a:defRPr sz="1500" b="1">
                <a:solidFill>
                  <a:srgbClr val="FF9D42"/>
                </a:solidFill>
              </a:defRPr>
            </a:pPr>
            <a:r>
              <a:rPr sz="1500" b="1">
                <a:solidFill>
                  <a:srgbClr val="FF9D42"/>
                </a:solidFill>
              </a:rPr>
              <a:t>→</a:t>
            </a:r>
          </a:p>
        </p:txBody>
      </p:sp>
      <p:sp>
        <p:nvSpPr>
          <p:cNvPr id="18" name="">
            <a:extLst xmlns:a="http://schemas.openxmlformats.org/drawingml/2006/main">
              <a:ext uri="{FF2B5EF4-FFF2-40B4-BE49-F238E27FC236}">
                <a16:creationId xmlns:a16="http://schemas.microsoft.com/office/drawing/2014/main" id="{1E52D3A7-8EFE-46D4-8C2E-195427494279}"/>
              </a:ext>
            </a:extLst>
          </p:cNvPr>
          <p:cNvSpPr>
            <a:spLocks xmlns:a="http://schemas.openxmlformats.org/drawingml/2006/main" noGrp="1"/>
          </p:cNvSpPr>
          <p:nvPr/>
        </p:nvSpPr>
        <p:spPr>
          <a:xfrm xmlns:a="http://schemas.openxmlformats.org/drawingml/2006/main">
            <a:off x="1381125" y="4162425"/>
            <a:ext cx="2476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350" b="1">
                <a:solidFill>
                  <a:srgbClr val="F7FBFF"/>
                </a:solidFill>
              </a:defRPr>
            </a:defPPr>
          </a:lstStyle>
          <a:p xmlns:a="http://schemas.openxmlformats.org/drawingml/2006/main">
            <a:pPr algn="l">
              <a:defRPr sz="1350" b="1">
                <a:solidFill>
                  <a:srgbClr val="F7FBFF"/>
                </a:solidFill>
              </a:defRPr>
            </a:pPr>
            <a:r>
              <a:rPr sz="1350" b="1">
                <a:solidFill>
                  <a:srgbClr val="F7FBFF"/>
                </a:solidFill>
              </a:rPr>
              <a:t>Upstream peer update</a:t>
            </a:r>
          </a:p>
        </p:txBody>
      </p:sp>
      <p:sp>
        <p:nvSpPr>
          <p:cNvPr id="19" name="">
            <a:extLst xmlns:a="http://schemas.openxmlformats.org/drawingml/2006/main">
              <a:ext uri="{FF2B5EF4-FFF2-40B4-BE49-F238E27FC236}">
                <a16:creationId xmlns:a16="http://schemas.microsoft.com/office/drawing/2014/main" id="{776DD81E-403A-4107-9A1B-54A7DE416B9A}"/>
              </a:ext>
            </a:extLst>
          </p:cNvPr>
          <p:cNvSpPr>
            <a:spLocks xmlns:a="http://schemas.openxmlformats.org/drawingml/2006/main" noGrp="1"/>
          </p:cNvSpPr>
          <p:nvPr/>
        </p:nvSpPr>
        <p:spPr>
          <a:xfrm xmlns:a="http://schemas.openxmlformats.org/drawingml/2006/main">
            <a:off x="4000500" y="4171950"/>
            <a:ext cx="3619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125" b="0">
                <a:solidFill>
                  <a:srgbClr val="A9C1D2"/>
                </a:solidFill>
              </a:defRPr>
            </a:defPPr>
          </a:lstStyle>
          <a:p xmlns:a="http://schemas.openxmlformats.org/drawingml/2006/main">
            <a:pPr algn="l">
              <a:defRPr sz="1125" b="0">
                <a:solidFill>
                  <a:srgbClr val="A9C1D2"/>
                </a:solidFill>
              </a:defRPr>
            </a:pPr>
            <a:r>
              <a:rPr sz="1125" b="0">
                <a:solidFill>
                  <a:srgbClr val="A9C1D2"/>
                </a:solidFill>
              </a:rPr>
              <a:t>Change MikroTik neighbors to .12 / .13</a:t>
            </a:r>
          </a:p>
        </p:txBody>
      </p:sp>
      <p:sp>
        <p:nvSpPr>
          <p:cNvPr id="20" name="">
            <a:extLst xmlns:a="http://schemas.openxmlformats.org/drawingml/2006/main">
              <a:ext uri="{FF2B5EF4-FFF2-40B4-BE49-F238E27FC236}">
                <a16:creationId xmlns:a16="http://schemas.microsoft.com/office/drawing/2014/main" id="{86C721BC-22E1-460A-8DF5-4F592034686D}"/>
              </a:ext>
            </a:extLst>
          </p:cNvPr>
          <p:cNvSpPr>
            <a:spLocks xmlns:a="http://schemas.openxmlformats.org/drawingml/2006/main" noGrp="1"/>
          </p:cNvSpPr>
          <p:nvPr/>
        </p:nvSpPr>
        <p:spPr>
          <a:xfrm xmlns:a="http://schemas.openxmlformats.org/drawingml/2006/main">
            <a:off x="685800" y="4743450"/>
            <a:ext cx="7239000" cy="514350"/>
          </a:xfrm>
          <a:prstGeom xmlns:a="http://schemas.openxmlformats.org/drawingml/2006/main" prst="roundRect">
            <a:avLst>
              <a:gd name="adj" fmla="val 22222"/>
            </a:avLst>
          </a:prstGeom>
          <a:solidFill xmlns:a="http://schemas.openxmlformats.org/drawingml/2006/main">
            <a:srgbClr val="2A3042"/>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511AFDBE-64A6-4D45-A99C-BADD1AA8C443}"/>
              </a:ext>
            </a:extLst>
          </p:cNvPr>
          <p:cNvSpPr>
            <a:spLocks xmlns:a="http://schemas.openxmlformats.org/drawingml/2006/main" noGrp="1"/>
          </p:cNvSpPr>
          <p:nvPr/>
        </p:nvSpPr>
        <p:spPr>
          <a:xfrm xmlns:a="http://schemas.openxmlformats.org/drawingml/2006/main">
            <a:off x="876300" y="4848225"/>
            <a:ext cx="3333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1500" b="1">
                <a:solidFill>
                  <a:srgbClr val="FF9D42"/>
                </a:solidFill>
              </a:defRPr>
            </a:defPPr>
          </a:lstStyle>
          <a:p xmlns:a="http://schemas.openxmlformats.org/drawingml/2006/main">
            <a:pPr algn="ctr">
              <a:defRPr sz="1500" b="1">
                <a:solidFill>
                  <a:srgbClr val="FF9D42"/>
                </a:solidFill>
              </a:defRPr>
            </a:pPr>
            <a:r>
              <a:rPr sz="1500" b="1">
                <a:solidFill>
                  <a:srgbClr val="FF9D42"/>
                </a:solidFill>
              </a:rPr>
              <a:t>→</a:t>
            </a:r>
          </a:p>
        </p:txBody>
      </p:sp>
      <p:sp>
        <p:nvSpPr>
          <p:cNvPr id="22" name="">
            <a:extLst xmlns:a="http://schemas.openxmlformats.org/drawingml/2006/main">
              <a:ext uri="{FF2B5EF4-FFF2-40B4-BE49-F238E27FC236}">
                <a16:creationId xmlns:a16="http://schemas.microsoft.com/office/drawing/2014/main" id="{DD5C084A-DBEB-4E10-8589-3FDFE9543131}"/>
              </a:ext>
            </a:extLst>
          </p:cNvPr>
          <p:cNvSpPr>
            <a:spLocks xmlns:a="http://schemas.openxmlformats.org/drawingml/2006/main" noGrp="1"/>
          </p:cNvSpPr>
          <p:nvPr/>
        </p:nvSpPr>
        <p:spPr>
          <a:xfrm xmlns:a="http://schemas.openxmlformats.org/drawingml/2006/main">
            <a:off x="1381125" y="4829175"/>
            <a:ext cx="2476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350" b="1">
                <a:solidFill>
                  <a:srgbClr val="F7FBFF"/>
                </a:solidFill>
              </a:defRPr>
            </a:defPPr>
          </a:lstStyle>
          <a:p xmlns:a="http://schemas.openxmlformats.org/drawingml/2006/main">
            <a:pPr algn="l">
              <a:defRPr sz="1350" b="1">
                <a:solidFill>
                  <a:srgbClr val="F7FBFF"/>
                </a:solidFill>
              </a:defRPr>
            </a:pPr>
            <a:r>
              <a:rPr sz="1350" b="1">
                <a:solidFill>
                  <a:srgbClr val="F7FBFF"/>
                </a:solidFill>
              </a:rPr>
              <a:t>Keep HA simple</a:t>
            </a:r>
          </a:p>
        </p:txBody>
      </p:sp>
      <p:sp>
        <p:nvSpPr>
          <p:cNvPr id="23" name="">
            <a:extLst xmlns:a="http://schemas.openxmlformats.org/drawingml/2006/main">
              <a:ext uri="{FF2B5EF4-FFF2-40B4-BE49-F238E27FC236}">
                <a16:creationId xmlns:a16="http://schemas.microsoft.com/office/drawing/2014/main" id="{71381323-596B-4813-89F9-6871B77B1A0D}"/>
              </a:ext>
            </a:extLst>
          </p:cNvPr>
          <p:cNvSpPr>
            <a:spLocks xmlns:a="http://schemas.openxmlformats.org/drawingml/2006/main" noGrp="1"/>
          </p:cNvSpPr>
          <p:nvPr/>
        </p:nvSpPr>
        <p:spPr>
          <a:xfrm xmlns:a="http://schemas.openxmlformats.org/drawingml/2006/main">
            <a:off x="4000500" y="4838700"/>
            <a:ext cx="3619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125" b="0">
                <a:solidFill>
                  <a:srgbClr val="A9C1D2"/>
                </a:solidFill>
              </a:defRPr>
            </a:defPPr>
          </a:lstStyle>
          <a:p xmlns:a="http://schemas.openxmlformats.org/drawingml/2006/main">
            <a:pPr algn="l">
              <a:defRPr sz="1125" b="0">
                <a:solidFill>
                  <a:srgbClr val="A9C1D2"/>
                </a:solidFill>
              </a:defRPr>
            </a:pPr>
            <a:r>
              <a:rPr sz="1125" b="0">
                <a:solidFill>
                  <a:srgbClr val="A9C1D2"/>
                </a:solidFill>
              </a:rPr>
              <a:t>Two placements, anti-affinity, tested recovery</a:t>
            </a:r>
          </a:p>
        </p:txBody>
      </p:sp>
      <p:sp>
        <p:nvSpPr>
          <p:cNvPr id="24" name="">
            <a:extLst xmlns:a="http://schemas.openxmlformats.org/drawingml/2006/main">
              <a:ext uri="{FF2B5EF4-FFF2-40B4-BE49-F238E27FC236}">
                <a16:creationId xmlns:a16="http://schemas.microsoft.com/office/drawing/2014/main" id="{D26F1C0F-63A8-478D-A883-2CABB082C153}"/>
              </a:ext>
            </a:extLst>
          </p:cNvPr>
          <p:cNvSpPr>
            <a:spLocks xmlns:a="http://schemas.openxmlformats.org/drawingml/2006/main" noGrp="1"/>
          </p:cNvSpPr>
          <p:nvPr/>
        </p:nvSpPr>
        <p:spPr>
          <a:xfrm xmlns:a="http://schemas.openxmlformats.org/drawingml/2006/main">
            <a:off x="8334375" y="2076450"/>
            <a:ext cx="3171825" cy="3181350"/>
          </a:xfrm>
          <a:prstGeom xmlns:a="http://schemas.openxmlformats.org/drawingml/2006/main" prst="roundRect">
            <a:avLst>
              <a:gd name="adj" fmla="val 4805"/>
            </a:avLst>
          </a:prstGeom>
          <a:solidFill xmlns:a="http://schemas.openxmlformats.org/drawingml/2006/main">
            <a:srgbClr val="123A49"/>
          </a:solidFill>
          <a:ln xmlns:a="http://schemas.openxmlformats.org/drawingml/2006/main" w="9525">
            <a:solidFill>
              <a:srgbClr val="23D5D2"/>
            </a:solidFill>
            <a:prstDash val="solid"/>
          </a:ln>
        </p:spPr>
      </p:sp>
      <p:sp>
        <p:nvSpPr>
          <p:cNvPr id="25" name="">
            <a:extLst xmlns:a="http://schemas.openxmlformats.org/drawingml/2006/main">
              <a:ext uri="{FF2B5EF4-FFF2-40B4-BE49-F238E27FC236}">
                <a16:creationId xmlns:a16="http://schemas.microsoft.com/office/drawing/2014/main" id="{A253BF01-6376-4CBE-8CE9-C21255E6E9E3}"/>
              </a:ext>
            </a:extLst>
          </p:cNvPr>
          <p:cNvSpPr>
            <a:spLocks xmlns:a="http://schemas.openxmlformats.org/drawingml/2006/main" noGrp="1"/>
          </p:cNvSpPr>
          <p:nvPr/>
        </p:nvSpPr>
        <p:spPr>
          <a:xfrm xmlns:a="http://schemas.openxmlformats.org/drawingml/2006/main">
            <a:off x="8639175" y="2381250"/>
            <a:ext cx="25527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1800" b="1">
                <a:solidFill>
                  <a:srgbClr val="23D5D2"/>
                </a:solidFill>
              </a:defRPr>
            </a:defPPr>
          </a:lstStyle>
          <a:p xmlns:a="http://schemas.openxmlformats.org/drawingml/2006/main">
            <a:pPr algn="ctr">
              <a:defRPr sz="1800" b="1">
                <a:solidFill>
                  <a:srgbClr val="23D5D2"/>
                </a:solidFill>
              </a:defRPr>
            </a:pPr>
            <a:r>
              <a:rPr sz="1800" b="1">
                <a:solidFill>
                  <a:srgbClr val="23D5D2"/>
                </a:solidFill>
              </a:rPr>
              <a:t>Takeaway</a:t>
            </a:r>
          </a:p>
        </p:txBody>
      </p:sp>
      <p:sp>
        <p:nvSpPr>
          <p:cNvPr id="26" name="">
            <a:extLst xmlns:a="http://schemas.openxmlformats.org/drawingml/2006/main">
              <a:ext uri="{FF2B5EF4-FFF2-40B4-BE49-F238E27FC236}">
                <a16:creationId xmlns:a16="http://schemas.microsoft.com/office/drawing/2014/main" id="{EDAC9A32-21FA-4E8B-A212-3735477EB44E}"/>
              </a:ext>
            </a:extLst>
          </p:cNvPr>
          <p:cNvSpPr>
            <a:spLocks xmlns:a="http://schemas.openxmlformats.org/drawingml/2006/main" noGrp="1"/>
          </p:cNvSpPr>
          <p:nvPr/>
        </p:nvSpPr>
        <p:spPr>
          <a:xfrm xmlns:a="http://schemas.openxmlformats.org/drawingml/2006/main">
            <a:off x="8667750" y="2952750"/>
            <a:ext cx="2476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1875" b="1">
                <a:solidFill>
                  <a:srgbClr val="F7FBFF"/>
                </a:solidFill>
              </a:defRPr>
            </a:defPPr>
          </a:lstStyle>
          <a:p xmlns:a="http://schemas.openxmlformats.org/drawingml/2006/main">
            <a:pPr algn="ctr">
              <a:defRPr sz="1875" b="1">
                <a:solidFill>
                  <a:srgbClr val="F7FBFF"/>
                </a:solidFill>
              </a:defRPr>
            </a:pPr>
            <a:r>
              <a:rPr sz="1875" b="1">
                <a:solidFill>
                  <a:srgbClr val="F7FBFF"/>
                </a:solidFill>
              </a:rPr>
              <a:t>Treat the broadband edge as software with explicit packet I/O.</a:t>
            </a:r>
          </a:p>
        </p:txBody>
      </p:sp>
      <p:sp>
        <p:nvSpPr>
          <p:cNvPr id="27" name="">
            <a:extLst xmlns:a="http://schemas.openxmlformats.org/drawingml/2006/main">
              <a:ext uri="{FF2B5EF4-FFF2-40B4-BE49-F238E27FC236}">
                <a16:creationId xmlns:a16="http://schemas.microsoft.com/office/drawing/2014/main" id="{E8BC7140-7116-4D51-92F6-6E96F47EDC48}"/>
              </a:ext>
            </a:extLst>
          </p:cNvPr>
          <p:cNvSpPr>
            <a:spLocks xmlns:a="http://schemas.openxmlformats.org/drawingml/2006/main" noGrp="1"/>
          </p:cNvSpPr>
          <p:nvPr/>
        </p:nvSpPr>
        <p:spPr>
          <a:xfrm xmlns:a="http://schemas.openxmlformats.org/drawingml/2006/main">
            <a:off x="8858250" y="4048125"/>
            <a:ext cx="2095500" cy="28575"/>
          </a:xfrm>
          <a:prstGeom xmlns:a="http://schemas.openxmlformats.org/drawingml/2006/main" prst="rect">
            <a:avLst/>
          </a:prstGeom>
          <a:solidFill xmlns:a="http://schemas.openxmlformats.org/drawingml/2006/main">
            <a:srgbClr val="FF9D42"/>
          </a:solidFill>
          <a:ln xmlns:a="http://schemas.openxmlformats.org/drawingml/2006/main" w="0">
            <a:solidFill>
              <a:srgbClr val="FF9D42"/>
            </a:solidFill>
            <a:prstDash val="solid"/>
          </a:ln>
        </p:spPr>
      </p:sp>
      <p:sp>
        <p:nvSpPr>
          <p:cNvPr id="28" name="">
            <a:extLst xmlns:a="http://schemas.openxmlformats.org/drawingml/2006/main">
              <a:ext uri="{FF2B5EF4-FFF2-40B4-BE49-F238E27FC236}">
                <a16:creationId xmlns:a16="http://schemas.microsoft.com/office/drawing/2014/main" id="{8FF308B1-5ABF-44AD-BC64-51F5454092E4}"/>
              </a:ext>
            </a:extLst>
          </p:cNvPr>
          <p:cNvSpPr>
            <a:spLocks xmlns:a="http://schemas.openxmlformats.org/drawingml/2006/main" noGrp="1"/>
          </p:cNvSpPr>
          <p:nvPr/>
        </p:nvSpPr>
        <p:spPr>
          <a:xfrm xmlns:a="http://schemas.openxmlformats.org/drawingml/2006/main">
            <a:off x="8858250" y="4324350"/>
            <a:ext cx="20955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1500" b="1">
                <a:solidFill>
                  <a:srgbClr val="A9C1D2"/>
                </a:solidFill>
              </a:defRPr>
            </a:defPPr>
          </a:lstStyle>
          <a:p xmlns:a="http://schemas.openxmlformats.org/drawingml/2006/main">
            <a:pPr algn="ctr">
              <a:defRPr sz="1500" b="1">
                <a:solidFill>
                  <a:srgbClr val="A9C1D2"/>
                </a:solidFill>
              </a:defRPr>
            </a:pPr>
            <a:r>
              <a:rPr sz="1500" b="1">
                <a:solidFill>
                  <a:srgbClr val="A9C1D2"/>
                </a:solidFill>
              </a:rPr>
              <a:t>Version it.</a:t>
            </a:r>
          </a:p>
          <a:p xmlns:a="http://schemas.openxmlformats.org/drawingml/2006/main">
            <a:pPr algn="ctr">
              <a:defRPr sz="1500" b="1">
                <a:solidFill>
                  <a:srgbClr val="A9C1D2"/>
                </a:solidFill>
              </a:defRPr>
            </a:pPr>
            <a:r>
              <a:rPr sz="1500" b="1">
                <a:solidFill>
                  <a:srgbClr val="A9C1D2"/>
                </a:solidFill>
              </a:rPr>
              <a:t>Schedule it.</a:t>
            </a:r>
          </a:p>
          <a:p xmlns:a="http://schemas.openxmlformats.org/drawingml/2006/main">
            <a:pPr algn="ctr">
              <a:defRPr sz="1500" b="1">
                <a:solidFill>
                  <a:srgbClr val="A9C1D2"/>
                </a:solidFill>
              </a:defRPr>
            </a:pPr>
            <a:r>
              <a:rPr sz="1500" b="1">
                <a:solidFill>
                  <a:srgbClr val="A9C1D2"/>
                </a:solidFill>
              </a:rPr>
              <a:t>Test the whole path.</a:t>
            </a:r>
          </a:p>
        </p:txBody>
      </p:sp>
      <p:sp>
        <p:nvSpPr>
          <p:cNvPr id="29" name="">
            <a:extLst xmlns:a="http://schemas.openxmlformats.org/drawingml/2006/main">
              <a:ext uri="{FF2B5EF4-FFF2-40B4-BE49-F238E27FC236}">
                <a16:creationId xmlns:a16="http://schemas.microsoft.com/office/drawing/2014/main" id="{CFC5166C-5C2F-4B0C-81D8-CC0DAF1CDBBE}"/>
              </a:ext>
            </a:extLst>
          </p:cNvPr>
          <p:cNvSpPr>
            <a:spLocks xmlns:a="http://schemas.openxmlformats.org/drawingml/2006/main" noGrp="1"/>
          </p:cNvSpPr>
          <p:nvPr/>
        </p:nvSpPr>
        <p:spPr>
          <a:xfrm xmlns:a="http://schemas.openxmlformats.org/drawingml/2006/main">
            <a:off x="685800" y="6410325"/>
            <a:ext cx="10820400" cy="9525"/>
          </a:xfrm>
          <a:prstGeom xmlns:a="http://schemas.openxmlformats.org/drawingml/2006/main" prst="rect">
            <a:avLst/>
          </a:prstGeom>
          <a:solidFill xmlns:a="http://schemas.openxmlformats.org/drawingml/2006/main">
            <a:srgbClr val="29485D"/>
          </a:solidFill>
          <a:ln xmlns:a="http://schemas.openxmlformats.org/drawingml/2006/main" w="0">
            <a:solidFill>
              <a:srgbClr val="29485D"/>
            </a:solidFill>
            <a:prstDash val="solid"/>
          </a:ln>
        </p:spPr>
      </p:sp>
      <p:sp>
        <p:nvSpPr>
          <p:cNvPr id="30" name="">
            <a:extLst xmlns:a="http://schemas.openxmlformats.org/drawingml/2006/main">
              <a:ext uri="{FF2B5EF4-FFF2-40B4-BE49-F238E27FC236}">
                <a16:creationId xmlns:a16="http://schemas.microsoft.com/office/drawing/2014/main" id="{C061EA2C-DBF5-414B-8616-4258988A8F1C}"/>
              </a:ext>
            </a:extLst>
          </p:cNvPr>
          <p:cNvSpPr>
            <a:spLocks xmlns:a="http://schemas.openxmlformats.org/drawingml/2006/main" noGrp="1"/>
          </p:cNvSpPr>
          <p:nvPr/>
        </p:nvSpPr>
        <p:spPr>
          <a:xfrm xmlns:a="http://schemas.openxmlformats.org/drawingml/2006/main">
            <a:off x="685800" y="6477000"/>
            <a:ext cx="9525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675" b="0">
                <a:solidFill>
                  <a:srgbClr val="A9C1D2"/>
                </a:solidFill>
              </a:defRPr>
            </a:defPPr>
          </a:lstStyle>
          <a:p xmlns:a="http://schemas.openxmlformats.org/drawingml/2006/main">
            <a:pPr algn="l">
              <a:defRPr sz="675" b="0">
                <a:solidFill>
                  <a:srgbClr val="A9C1D2"/>
                </a:solidFill>
              </a:defRPr>
            </a:pPr>
            <a:r>
              <a:rPr sz="675" b="0">
                <a:solidFill>
                  <a:srgbClr val="A9C1D2"/>
                </a:solidFill>
              </a:rPr>
              <a:t>Repository: github.com/infinitydon/cloud-native-vbng-edge-lab</a:t>
            </a:r>
          </a:p>
        </p:txBody>
      </p:sp>
      <p:sp>
        <p:nvSpPr>
          <p:cNvPr id="31" name="">
            <a:extLst xmlns:a="http://schemas.openxmlformats.org/drawingml/2006/main">
              <a:ext uri="{FF2B5EF4-FFF2-40B4-BE49-F238E27FC236}">
                <a16:creationId xmlns:a16="http://schemas.microsoft.com/office/drawing/2014/main" id="{94F0A5FC-687C-40CB-91CF-DA51BFB7068B}"/>
              </a:ext>
            </a:extLst>
          </p:cNvPr>
          <p:cNvSpPr>
            <a:spLocks xmlns:a="http://schemas.openxmlformats.org/drawingml/2006/main" noGrp="1"/>
          </p:cNvSpPr>
          <p:nvPr/>
        </p:nvSpPr>
        <p:spPr>
          <a:xfrm xmlns:a="http://schemas.openxmlformats.org/drawingml/2006/main">
            <a:off x="10953750" y="6448425"/>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r">
              <a:defRPr sz="825" b="1">
                <a:solidFill>
                  <a:srgbClr val="23D5D2"/>
                </a:solidFill>
              </a:defRPr>
            </a:defPPr>
          </a:lstStyle>
          <a:p xmlns:a="http://schemas.openxmlformats.org/drawingml/2006/main">
            <a:pPr algn="r">
              <a:defRPr sz="825" b="1">
                <a:solidFill>
                  <a:srgbClr val="23D5D2"/>
                </a:solidFill>
              </a:defRPr>
            </a:pPr>
            <a:r>
              <a:rPr sz="825" b="1">
                <a:solidFill>
                  <a:srgbClr val="23D5D2"/>
                </a:solidFill>
              </a:rPr>
              <a:t>06</a:t>
            </a:r>
          </a:p>
        </p:txBody>
      </p:sp>
    </p:spTree>
    <p:extLst>
      <p:ext uri="{BB962C8B-B14F-4D97-AF65-F5344CB8AC3E}">
        <p14:creationId xmlns:p14="http://schemas.microsoft.com/office/powerpoint/2010/main" val="48032685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2026-10-10T21:48:30.7820000Z</dcterms:created>
  <dcterms:modified xsi:type="dcterms:W3CDTF">2026-10-10T21:48:30.7820000Z</dcterms:modified>
</coreProperties>
</file>