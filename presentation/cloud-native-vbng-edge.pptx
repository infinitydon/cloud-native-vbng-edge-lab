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7f6378d07d8450a" /><Relationship Type="http://schemas.openxmlformats.org/officeDocument/2006/relationships/extended-properties" Target="/docProps/app.xml" Id="R7644c6c6731f4fde" /><Relationship Type="http://schemas.openxmlformats.org/officeDocument/2006/relationships/officeDocument" Target="/ppt/presentation.xml" Id="Re1aa74a716d241ad" /></Relationships>
</file>

<file path=ppt/presentation.xml><?xml version="1.0" encoding="utf-8"?>
<p:presentation xmlns:p="http://schemas.openxmlformats.org/presentationml/2006/main">
  <p:sldMasterIdLst>
    <p:sldMasterId xmlns:r="http://schemas.openxmlformats.org/officeDocument/2006/relationships" id="2147483648" r:id="R118f40249afc4a63"/>
  </p:sldMasterIdLst>
  <p:notesMasterIdLst>
    <p:notesMasterId xmlns:r="http://schemas.openxmlformats.org/officeDocument/2006/relationships" r:id="Rb7042a7c47434907"/>
  </p:notesMasterIdLst>
  <p:sldIdLst>
    <p:sldId xmlns:r="http://schemas.openxmlformats.org/officeDocument/2006/relationships" id="256" r:id="R1bc9eff3a3d64af8"/>
    <p:sldId xmlns:r="http://schemas.openxmlformats.org/officeDocument/2006/relationships" id="257" r:id="R11c43ccb22264b20"/>
    <p:sldId xmlns:r="http://schemas.openxmlformats.org/officeDocument/2006/relationships" id="258" r:id="R9a5518f9ead74d69"/>
    <p:sldId xmlns:r="http://schemas.openxmlformats.org/officeDocument/2006/relationships" id="259" r:id="R7b5763d82a1d43c6"/>
    <p:sldId xmlns:r="http://schemas.openxmlformats.org/officeDocument/2006/relationships" id="260" r:id="R6c5c7f244dcf4e55"/>
    <p:sldId xmlns:r="http://schemas.openxmlformats.org/officeDocument/2006/relationships" id="261" r:id="Rb02e0b3dd2d243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2b894c0f63b4234" /><Relationship Type="http://schemas.openxmlformats.org/officeDocument/2006/relationships/slideMaster" Target="/ppt/slideMasters/slideMaster1.xml" Id="R118f40249afc4a63" /><Relationship Type="http://schemas.openxmlformats.org/officeDocument/2006/relationships/notesMaster" Target="/ppt/notesMasters/notesMaster1.xml" Id="Rb7042a7c47434907" /><Relationship Type="http://schemas.openxmlformats.org/officeDocument/2006/relationships/presProps" Target="/ppt/presProps.xml" Id="R64496ae31eb34fa7" /><Relationship Type="http://schemas.openxmlformats.org/officeDocument/2006/relationships/tableStyles" Target="/ppt/tableStyles.xml" Id="Rf58a806f8c9a4d78" /><Relationship Type="http://schemas.openxmlformats.org/officeDocument/2006/relationships/slide" Target="/ppt/slides/slide1.xml" Id="R1bc9eff3a3d64af8" /><Relationship Type="http://schemas.openxmlformats.org/officeDocument/2006/relationships/slide" Target="/ppt/slides/slide2.xml" Id="R11c43ccb22264b20" /><Relationship Type="http://schemas.openxmlformats.org/officeDocument/2006/relationships/slide" Target="/ppt/slides/slide3.xml" Id="R9a5518f9ead74d69" /><Relationship Type="http://schemas.openxmlformats.org/officeDocument/2006/relationships/slide" Target="/ppt/slides/slide4.xml" Id="R7b5763d82a1d43c6" /><Relationship Type="http://schemas.openxmlformats.org/officeDocument/2006/relationships/slide" Target="/ppt/slides/slide5.xml" Id="R6c5c7f244dcf4e55" /><Relationship Type="http://schemas.openxmlformats.org/officeDocument/2006/relationships/slide" Target="/ppt/slides/slide6.xml" Id="Rb02e0b3dd2d243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4a6bbdbda694a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78e6819df645ac" /><Relationship Type="http://schemas.openxmlformats.org/officeDocument/2006/relationships/notesMaster" Target="/ppt/notesMasters/notesMaster1.xml" Id="Rc48ae0034a5340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d33edb852c4410" /><Relationship Type="http://schemas.openxmlformats.org/officeDocument/2006/relationships/notesMaster" Target="/ppt/notesMasters/notesMaster1.xml" Id="Rdc04f530bacc45c0"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9b85d7d8af4655" /><Relationship Type="http://schemas.openxmlformats.org/officeDocument/2006/relationships/notesMaster" Target="/ppt/notesMasters/notesMaster1.xml" Id="R93112d1642e44b6b" /></Relationships>
</file>

<file path=ppt/notesSlides/_rels/notesSlide4.xml.rels>&#65279;<?xml version="1.0" encoding="utf-8"?><Relationships xmlns="http://schemas.openxmlformats.org/package/2006/relationships"><Relationship Type="http://schemas.openxmlformats.org/officeDocument/2006/relationships/slide" Target="/ppt/slides/slide4.xml" Id="R60ded6b8786a42e0" /><Relationship Type="http://schemas.openxmlformats.org/officeDocument/2006/relationships/notesMaster" Target="/ppt/notesMasters/notesMaster1.xml" Id="R08b4b616ab7b4d1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03ab17c3be4d85" /><Relationship Type="http://schemas.openxmlformats.org/officeDocument/2006/relationships/notesMaster" Target="/ppt/notesMasters/notesMaster1.xml" Id="R41a1a11aca7b4c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18ba1e4137c94ea6" /><Relationship Type="http://schemas.openxmlformats.org/officeDocument/2006/relationships/notesMaster" Target="/ppt/notesMasters/notesMaster1.xml" Id="R53716b4f616b4e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goal: show that a real broadband edge function can run as a Kubernetes workload without turning this into an HA deep dive. The story is about packaging, placement, interfaces, routing, and subscriber traffic. Set expectations that the lab is deliberately small, but the architecture uses the same building blocks found in larger deployments.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BNG in operator language. It terminates subscriber sessions, applies identity and policy, assigns addresses, provides services such as CGNAT, and exchanges routes with the provider core. Kubernetes does not remove those responsibilities. It changes how the function is packaged, placed, upgraded, and observed.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UE test workloads generate VLAN-tagged subscribers. The BNG StatefulSet owns dedicated VFIO devices and runs VPP with DPDK. FRR pods use Multus macvlan interfaces and exchange BGP with both BNG members. The upstream side uses 192.168.88.12 and .13, avoiding the previously assigned .250 and .251 addresses. Kubernetes handles lifecycle and management traffic; the forwarding path remains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demo setup. A subscriber first gets a session and address. The BNG classifies the VLAN and service, performs CGNAT, and forwards toward an FRR next hop. FRR receives subscriber and CGNAT reachability from the BNG and the default route from the upstream router. Return traffic only works when the upstream learns the translated prefix. This is why a ping is an end-to-end proof, not just an ICMP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strategic point. High-speed NICs, SR-IOV, DPDK, SmartNICs, and DPUs increasingly provide acceleration and isolation. At smaller edge sites, that can make separate hardware for each network function unnecessary. A shared Kubernetes cluster may host the vBNG, software routers, AAA, and observability. Be careful with the claim: consolidation is an option, not a universal prescription. Capacity, blast radius, and operational policy still decide the production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what is proven. The charts lint and render. Both FRR pods received the new .12 and .13 addresses, reached the MikroTik gateway, and established BGP with both BNG pods. The remaining external step is to update MikroTik peer addresses before the final internet return-path test. Keep HA simple for this presentation: two placements, anti-affinity, and a recovery test. The deeper HA behavior is a separate engineering topic.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dbf79732d6e44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e8e40e3dcc243c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4732e769e4b445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88c0519f099409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043953e9b9043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fe247893cef4c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12C4320-55F4-451A-9F93-15B6C040DA2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04550C4-D16A-4DAD-BBE6-DFBC4CF667F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9F5D719-9CEC-4864-9B01-04522898CEC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87170E-32E8-48B5-9CCB-159C432CBB4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5D56F0C-29B1-45F8-B1C6-118944F4249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7F990DB-54DF-4620-9B16-96AE406C0C4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5674FD-08EC-43D2-942E-A01336C741C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A31F389-341D-4774-8037-4E6467EA2A3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0995E1-A0F0-4273-902D-990EEC9EE7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F2EB13-46A4-4DF7-AAD0-2115663F877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83087494c245bb" /><Relationship Type="http://schemas.openxmlformats.org/officeDocument/2006/relationships/slideLayout" Target="/ppt/slideLayouts/slideLayout1.xml" Id="R456c212460b54b86" /><Relationship Type="http://schemas.openxmlformats.org/officeDocument/2006/relationships/slideLayout" Target="/ppt/slideLayouts/slideLayout2.xml" Id="R0eea063b70714d96" /><Relationship Type="http://schemas.openxmlformats.org/officeDocument/2006/relationships/slideLayout" Target="/ppt/slideLayouts/slideLayout3.xml" Id="R41b3f6c529f44fac" /><Relationship Type="http://schemas.openxmlformats.org/officeDocument/2006/relationships/slideLayout" Target="/ppt/slideLayouts/slideLayout4.xml" Id="R86371bf272b14c10" /><Relationship Type="http://schemas.openxmlformats.org/officeDocument/2006/relationships/slideLayout" Target="/ppt/slideLayouts/slideLayout5.xml" Id="R1436cbb8e9aa4e49" /><Relationship Type="http://schemas.openxmlformats.org/officeDocument/2006/relationships/slideLayout" Target="/ppt/slideLayouts/slideLayout6.xml" Id="R63a464b8bc35437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6c212460b54b86"/>
    <p:sldLayoutId xmlns:r="http://schemas.openxmlformats.org/officeDocument/2006/relationships" id="2147483650" r:id="R0eea063b70714d96"/>
    <p:sldLayoutId xmlns:r="http://schemas.openxmlformats.org/officeDocument/2006/relationships" id="2147483651" r:id="R41b3f6c529f44fac"/>
    <p:sldLayoutId xmlns:r="http://schemas.openxmlformats.org/officeDocument/2006/relationships" id="2147483652" r:id="R86371bf272b14c10"/>
    <p:sldLayoutId xmlns:r="http://schemas.openxmlformats.org/officeDocument/2006/relationships" id="2147483653" r:id="R1436cbb8e9aa4e49"/>
    <p:sldLayoutId xmlns:r="http://schemas.openxmlformats.org/officeDocument/2006/relationships" id="2147483654" r:id="R63a464b8bc35437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aaf09d0ca414997" /><Relationship Type="http://schemas.openxmlformats.org/officeDocument/2006/relationships/notesSlide" Target="/ppt/notesSlides/notesSlide1.xml" Id="R25a15f8e8d73456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1ceb78762ee456a" /><Relationship Type="http://schemas.openxmlformats.org/officeDocument/2006/relationships/notesSlide" Target="/ppt/notesSlides/notesSlide2.xml" Id="R23a21fdabbc64e5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2e0a2b91ba340ad" /><Relationship Type="http://schemas.openxmlformats.org/officeDocument/2006/relationships/notesSlide" Target="/ppt/notesSlides/notesSlide3.xml" Id="Rf504eb7d90d4456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4f7c14f2fcd4764" /><Relationship Type="http://schemas.openxmlformats.org/officeDocument/2006/relationships/notesSlide" Target="/ppt/notesSlides/notesSlide4.xml" Id="R7cc6248b81f5483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ed5e825f41541cc" /><Relationship Type="http://schemas.openxmlformats.org/officeDocument/2006/relationships/notesSlide" Target="/ppt/notesSlides/notesSlide5.xml" Id="Reb35bd0d9c6d4e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a7789b5621d42ed" /><Relationship Type="http://schemas.openxmlformats.org/officeDocument/2006/relationships/notesSlide" Target="/ppt/notesSlides/notesSlide6.xml" Id="Rafd716ff98db474d" /></Relationships>
</file>

<file path=ppt/slides/slide1.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8E446897-6FD4-411B-88A1-8A9E4EABBC6C}"/>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 name="">
            <a:extLst xmlns:a="http://schemas.openxmlformats.org/drawingml/2006/main">
              <a:ext uri="{FF2B5EF4-FFF2-40B4-BE49-F238E27FC236}">
                <a16:creationId xmlns:a16="http://schemas.microsoft.com/office/drawing/2014/main" id="{ADAF6E83-0EF0-40E1-B8D9-D1D265AE76D6}"/>
              </a:ext>
            </a:extLst>
          </p:cNvPr>
          <p:cNvSpPr>
            <a:spLocks xmlns:a="http://schemas.openxmlformats.org/drawingml/2006/main" noGrp="1"/>
          </p:cNvSpPr>
          <p:nvPr/>
        </p:nvSpPr>
        <p:spPr>
          <a:xfrm xmlns:a="http://schemas.openxmlformats.org/drawingml/2006/main">
            <a:off x="7048500" y="685800"/>
            <a:ext cx="4476750" cy="4953000"/>
          </a:xfrm>
          <a:prstGeom xmlns:a="http://schemas.openxmlformats.org/drawingml/2006/main" prst="roundRect">
            <a:avLst>
              <a:gd name="adj" fmla="val 5106"/>
            </a:avLst>
          </a:prstGeom>
          <a:solidFill xmlns:a="http://schemas.openxmlformats.org/drawingml/2006/main">
            <a:srgbClr val="0E2B42"/>
          </a:solidFill>
          <a:ln xmlns:a="http://schemas.openxmlformats.org/drawingml/2006/main" w="9525">
            <a:solidFill>
              <a:srgbClr val="31536A"/>
            </a:solidFill>
            <a:prstDash val="solid"/>
          </a:ln>
        </p:spPr>
      </p:sp>
      <p:sp>
        <p:nvSpPr>
          <p:cNvPr id="3" name="">
            <a:extLst xmlns:a="http://schemas.openxmlformats.org/drawingml/2006/main">
              <a:ext uri="{FF2B5EF4-FFF2-40B4-BE49-F238E27FC236}">
                <a16:creationId xmlns:a16="http://schemas.microsoft.com/office/drawing/2014/main" id="{0739EF4D-DB37-4F6E-B668-7D89FB343C20}"/>
              </a:ext>
            </a:extLst>
          </p:cNvPr>
          <p:cNvSpPr>
            <a:spLocks xmlns:a="http://schemas.openxmlformats.org/drawingml/2006/main" noGrp="1"/>
          </p:cNvSpPr>
          <p:nvPr/>
        </p:nvSpPr>
        <p:spPr>
          <a:xfrm xmlns:a="http://schemas.openxmlformats.org/drawingml/2006/main">
            <a:off x="7667625" y="1381125"/>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DECEA71-64B6-45E7-A52E-A40BD8E1DEF6}"/>
              </a:ext>
            </a:extLst>
          </p:cNvPr>
          <p:cNvSpPr>
            <a:spLocks xmlns:a="http://schemas.openxmlformats.org/drawingml/2006/main" noGrp="1"/>
          </p:cNvSpPr>
          <p:nvPr/>
        </p:nvSpPr>
        <p:spPr>
          <a:xfrm xmlns:a="http://schemas.openxmlformats.org/drawingml/2006/main">
            <a:off x="7953375" y="15621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Subscribers</a:t>
            </a:r>
          </a:p>
        </p:txBody>
      </p:sp>
      <p:sp>
        <p:nvSpPr>
          <p:cNvPr id="5" name="">
            <a:extLst xmlns:a="http://schemas.openxmlformats.org/drawingml/2006/main">
              <a:ext uri="{FF2B5EF4-FFF2-40B4-BE49-F238E27FC236}">
                <a16:creationId xmlns:a16="http://schemas.microsoft.com/office/drawing/2014/main" id="{347A6C8B-AEDC-4F11-8D08-B4DFBD6716B9}"/>
              </a:ext>
            </a:extLst>
          </p:cNvPr>
          <p:cNvSpPr>
            <a:spLocks xmlns:a="http://schemas.openxmlformats.org/drawingml/2006/main" noGrp="1"/>
          </p:cNvSpPr>
          <p:nvPr/>
        </p:nvSpPr>
        <p:spPr>
          <a:xfrm xmlns:a="http://schemas.openxmlformats.org/drawingml/2006/main">
            <a:off x="9191625" y="2028825"/>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6" name="">
            <a:extLst xmlns:a="http://schemas.openxmlformats.org/drawingml/2006/main">
              <a:ext uri="{FF2B5EF4-FFF2-40B4-BE49-F238E27FC236}">
                <a16:creationId xmlns:a16="http://schemas.microsoft.com/office/drawing/2014/main" id="{BEB202C4-153F-4606-8143-195D48634F33}"/>
              </a:ext>
            </a:extLst>
          </p:cNvPr>
          <p:cNvSpPr>
            <a:spLocks xmlns:a="http://schemas.openxmlformats.org/drawingml/2006/main" noGrp="1"/>
          </p:cNvSpPr>
          <p:nvPr/>
        </p:nvSpPr>
        <p:spPr>
          <a:xfrm xmlns:a="http://schemas.openxmlformats.org/drawingml/2006/main">
            <a:off x="7667625" y="2381250"/>
            <a:ext cx="3190875" cy="647700"/>
          </a:xfrm>
          <a:prstGeom xmlns:a="http://schemas.openxmlformats.org/drawingml/2006/main" prst="roundRect">
            <a:avLst>
              <a:gd name="adj" fmla="val 17647"/>
            </a:avLst>
          </a:prstGeom>
          <a:solidFill xmlns:a="http://schemas.openxmlformats.org/drawingml/2006/main">
            <a:srgbClr val="FF9D4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C60E135-A747-49BC-9258-B4D67E9CE7EC}"/>
              </a:ext>
            </a:extLst>
          </p:cNvPr>
          <p:cNvSpPr>
            <a:spLocks xmlns:a="http://schemas.openxmlformats.org/drawingml/2006/main" noGrp="1"/>
          </p:cNvSpPr>
          <p:nvPr/>
        </p:nvSpPr>
        <p:spPr>
          <a:xfrm xmlns:a="http://schemas.openxmlformats.org/drawingml/2006/main">
            <a:off x="7953375" y="25622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071A2B"/>
                </a:solidFill>
              </a:defRPr>
            </a:defPPr>
          </a:lstStyle>
          <a:p xmlns:a="http://schemas.openxmlformats.org/drawingml/2006/main">
            <a:pPr algn="ctr">
              <a:defRPr sz="1500" b="1">
                <a:solidFill>
                  <a:srgbClr val="071A2B"/>
                </a:solidFill>
              </a:defRPr>
            </a:pPr>
            <a:r>
              <a:rPr sz="1500" b="1">
                <a:solidFill>
                  <a:srgbClr val="071A2B"/>
                </a:solidFill>
              </a:rPr>
              <a:t>Kubernetes edge</a:t>
            </a:r>
          </a:p>
        </p:txBody>
      </p:sp>
      <p:sp>
        <p:nvSpPr>
          <p:cNvPr id="8" name="">
            <a:extLst xmlns:a="http://schemas.openxmlformats.org/drawingml/2006/main">
              <a:ext uri="{FF2B5EF4-FFF2-40B4-BE49-F238E27FC236}">
                <a16:creationId xmlns:a16="http://schemas.microsoft.com/office/drawing/2014/main" id="{468065DC-2BBA-48CA-A024-5BAE603D87CE}"/>
              </a:ext>
            </a:extLst>
          </p:cNvPr>
          <p:cNvSpPr>
            <a:spLocks xmlns:a="http://schemas.openxmlformats.org/drawingml/2006/main" noGrp="1"/>
          </p:cNvSpPr>
          <p:nvPr/>
        </p:nvSpPr>
        <p:spPr>
          <a:xfrm xmlns:a="http://schemas.openxmlformats.org/drawingml/2006/main">
            <a:off x="9191625" y="3028950"/>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9" name="">
            <a:extLst xmlns:a="http://schemas.openxmlformats.org/drawingml/2006/main">
              <a:ext uri="{FF2B5EF4-FFF2-40B4-BE49-F238E27FC236}">
                <a16:creationId xmlns:a16="http://schemas.microsoft.com/office/drawing/2014/main" id="{3BE3FAF1-1685-4A90-930D-EFD06F345BC9}"/>
              </a:ext>
            </a:extLst>
          </p:cNvPr>
          <p:cNvSpPr>
            <a:spLocks xmlns:a="http://schemas.openxmlformats.org/drawingml/2006/main" noGrp="1"/>
          </p:cNvSpPr>
          <p:nvPr/>
        </p:nvSpPr>
        <p:spPr>
          <a:xfrm xmlns:a="http://schemas.openxmlformats.org/drawingml/2006/main">
            <a:off x="7667625" y="3381375"/>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5E6D2B4-D679-4F64-9B01-44B099D0B5D3}"/>
              </a:ext>
            </a:extLst>
          </p:cNvPr>
          <p:cNvSpPr>
            <a:spLocks xmlns:a="http://schemas.openxmlformats.org/drawingml/2006/main" noGrp="1"/>
          </p:cNvSpPr>
          <p:nvPr/>
        </p:nvSpPr>
        <p:spPr>
          <a:xfrm xmlns:a="http://schemas.openxmlformats.org/drawingml/2006/main">
            <a:off x="7953375" y="35623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vBNG + routing</a:t>
            </a:r>
          </a:p>
        </p:txBody>
      </p:sp>
      <p:sp>
        <p:nvSpPr>
          <p:cNvPr id="11" name="">
            <a:extLst xmlns:a="http://schemas.openxmlformats.org/drawingml/2006/main">
              <a:ext uri="{FF2B5EF4-FFF2-40B4-BE49-F238E27FC236}">
                <a16:creationId xmlns:a16="http://schemas.microsoft.com/office/drawing/2014/main" id="{A2026BB4-95EF-4DFE-B51D-B6C56B7B2307}"/>
              </a:ext>
            </a:extLst>
          </p:cNvPr>
          <p:cNvSpPr>
            <a:spLocks xmlns:a="http://schemas.openxmlformats.org/drawingml/2006/main" noGrp="1"/>
          </p:cNvSpPr>
          <p:nvPr/>
        </p:nvSpPr>
        <p:spPr>
          <a:xfrm xmlns:a="http://schemas.openxmlformats.org/drawingml/2006/main">
            <a:off x="9191625" y="4029075"/>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2" name="">
            <a:extLst xmlns:a="http://schemas.openxmlformats.org/drawingml/2006/main">
              <a:ext uri="{FF2B5EF4-FFF2-40B4-BE49-F238E27FC236}">
                <a16:creationId xmlns:a16="http://schemas.microsoft.com/office/drawing/2014/main" id="{F2EB5D66-6C6A-40D0-A2FA-DC9D85E6515D}"/>
              </a:ext>
            </a:extLst>
          </p:cNvPr>
          <p:cNvSpPr>
            <a:spLocks xmlns:a="http://schemas.openxmlformats.org/drawingml/2006/main" noGrp="1"/>
          </p:cNvSpPr>
          <p:nvPr/>
        </p:nvSpPr>
        <p:spPr>
          <a:xfrm xmlns:a="http://schemas.openxmlformats.org/drawingml/2006/main">
            <a:off x="7667625" y="4381500"/>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281A855-86DB-4DB7-B844-7C4137F1B4FA}"/>
              </a:ext>
            </a:extLst>
          </p:cNvPr>
          <p:cNvSpPr>
            <a:spLocks xmlns:a="http://schemas.openxmlformats.org/drawingml/2006/main" noGrp="1"/>
          </p:cNvSpPr>
          <p:nvPr/>
        </p:nvSpPr>
        <p:spPr>
          <a:xfrm xmlns:a="http://schemas.openxmlformats.org/drawingml/2006/main">
            <a:off x="7953375" y="45624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Internet services</a:t>
            </a:r>
          </a:p>
        </p:txBody>
      </p:sp>
      <p:sp>
        <p:nvSpPr>
          <p:cNvPr id="14" name="">
            <a:extLst xmlns:a="http://schemas.openxmlformats.org/drawingml/2006/main">
              <a:ext uri="{FF2B5EF4-FFF2-40B4-BE49-F238E27FC236}">
                <a16:creationId xmlns:a16="http://schemas.microsoft.com/office/drawing/2014/main" id="{F3CEDDB9-49CF-4970-A503-B4406A3F2069}"/>
              </a:ext>
            </a:extLst>
          </p:cNvPr>
          <p:cNvSpPr>
            <a:spLocks xmlns:a="http://schemas.openxmlformats.org/drawingml/2006/main" noGrp="1"/>
          </p:cNvSpPr>
          <p:nvPr/>
        </p:nvSpPr>
        <p:spPr>
          <a:xfrm xmlns:a="http://schemas.openxmlformats.org/drawingml/2006/main">
            <a:off x="685800" y="1123950"/>
            <a:ext cx="5715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3600" b="1">
                <a:solidFill>
                  <a:srgbClr val="F7FBFF"/>
                </a:solidFill>
              </a:defRPr>
            </a:defPPr>
          </a:lstStyle>
          <a:p xmlns:a="http://schemas.openxmlformats.org/drawingml/2006/main">
            <a:pPr algn="l">
              <a:defRPr sz="3600" b="1">
                <a:solidFill>
                  <a:srgbClr val="F7FBFF"/>
                </a:solidFill>
              </a:defRPr>
            </a:pPr>
            <a:r>
              <a:rPr sz="3600" b="1">
                <a:solidFill>
                  <a:srgbClr val="F7FBFF"/>
                </a:solidFill>
              </a:rPr>
              <a:t>Cloud-Native</a:t>
            </a:r>
          </a:p>
          <a:p xmlns:a="http://schemas.openxmlformats.org/drawingml/2006/main">
            <a:pPr algn="l">
              <a:defRPr sz="3600" b="1">
                <a:solidFill>
                  <a:srgbClr val="F7FBFF"/>
                </a:solidFill>
              </a:defRPr>
            </a:pPr>
            <a:r>
              <a:rPr sz="3600" b="1">
                <a:solidFill>
                  <a:srgbClr val="F7FBFF"/>
                </a:solidFill>
              </a:rPr>
              <a:t>Broadband Edge</a:t>
            </a:r>
          </a:p>
        </p:txBody>
      </p:sp>
      <p:sp>
        <p:nvSpPr>
          <p:cNvPr id="15" name="">
            <a:extLst xmlns:a="http://schemas.openxmlformats.org/drawingml/2006/main">
              <a:ext uri="{FF2B5EF4-FFF2-40B4-BE49-F238E27FC236}">
                <a16:creationId xmlns:a16="http://schemas.microsoft.com/office/drawing/2014/main" id="{C331DBA0-537A-40A8-84D2-B48B003153B9}"/>
              </a:ext>
            </a:extLst>
          </p:cNvPr>
          <p:cNvSpPr>
            <a:spLocks xmlns:a="http://schemas.openxmlformats.org/drawingml/2006/main" noGrp="1"/>
          </p:cNvSpPr>
          <p:nvPr/>
        </p:nvSpPr>
        <p:spPr>
          <a:xfrm xmlns:a="http://schemas.openxmlformats.org/drawingml/2006/main">
            <a:off x="685800" y="2743200"/>
            <a:ext cx="5619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75" b="1">
                <a:solidFill>
                  <a:srgbClr val="23D5D2"/>
                </a:solidFill>
              </a:defRPr>
            </a:defPPr>
          </a:lstStyle>
          <a:p xmlns:a="http://schemas.openxmlformats.org/drawingml/2006/main">
            <a:pPr algn="l">
              <a:defRPr sz="1875" b="1">
                <a:solidFill>
                  <a:srgbClr val="23D5D2"/>
                </a:solidFill>
              </a:defRPr>
            </a:pPr>
            <a:r>
              <a:rPr sz="1875" b="1">
                <a:solidFill>
                  <a:srgbClr val="23D5D2"/>
                </a:solidFill>
              </a:rPr>
              <a:t>Deploying a high-performance vBNG on Kubernetes</a:t>
            </a:r>
          </a:p>
        </p:txBody>
      </p:sp>
      <p:sp>
        <p:nvSpPr>
          <p:cNvPr id="16" name="">
            <a:extLst xmlns:a="http://schemas.openxmlformats.org/drawingml/2006/main">
              <a:ext uri="{FF2B5EF4-FFF2-40B4-BE49-F238E27FC236}">
                <a16:creationId xmlns:a16="http://schemas.microsoft.com/office/drawing/2014/main" id="{5294C9D3-D099-4A32-9DF1-F24AA4610D0C}"/>
              </a:ext>
            </a:extLst>
          </p:cNvPr>
          <p:cNvSpPr>
            <a:spLocks xmlns:a="http://schemas.openxmlformats.org/drawingml/2006/main" noGrp="1"/>
          </p:cNvSpPr>
          <p:nvPr/>
        </p:nvSpPr>
        <p:spPr>
          <a:xfrm xmlns:a="http://schemas.openxmlformats.org/drawingml/2006/main">
            <a:off x="685800" y="3638550"/>
            <a:ext cx="5429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00" b="0">
                <a:solidFill>
                  <a:srgbClr val="A9C1D2"/>
                </a:solidFill>
              </a:defRPr>
            </a:defPPr>
          </a:lstStyle>
          <a:p xmlns:a="http://schemas.openxmlformats.org/drawingml/2006/main">
            <a:pPr algn="l">
              <a:defRPr sz="1500" b="0">
                <a:solidFill>
                  <a:srgbClr val="A9C1D2"/>
                </a:solidFill>
              </a:defRPr>
            </a:pPr>
            <a:r>
              <a:rPr sz="1500" b="0">
                <a:solidFill>
                  <a:srgbClr val="A9C1D2"/>
                </a:solidFill>
              </a:rPr>
              <a:t>A practical 10-minute lab story: DPDK data plane, BGP routing, CGNAT, and repeatable Helm operations.</a:t>
            </a:r>
          </a:p>
        </p:txBody>
      </p:sp>
      <p:sp>
        <p:nvSpPr>
          <p:cNvPr id="17" name="">
            <a:extLst xmlns:a="http://schemas.openxmlformats.org/drawingml/2006/main">
              <a:ext uri="{FF2B5EF4-FFF2-40B4-BE49-F238E27FC236}">
                <a16:creationId xmlns:a16="http://schemas.microsoft.com/office/drawing/2014/main" id="{88CDA69F-1763-4409-8C21-0C2D498C1679}"/>
              </a:ext>
            </a:extLst>
          </p:cNvPr>
          <p:cNvSpPr>
            <a:spLocks xmlns:a="http://schemas.openxmlformats.org/drawingml/2006/main" noGrp="1"/>
          </p:cNvSpPr>
          <p:nvPr/>
        </p:nvSpPr>
        <p:spPr>
          <a:xfrm xmlns:a="http://schemas.openxmlformats.org/drawingml/2006/main">
            <a:off x="685800" y="4953000"/>
            <a:ext cx="142875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E31D3F2-D9D2-4547-A481-70C58D337467}"/>
              </a:ext>
            </a:extLst>
          </p:cNvPr>
          <p:cNvSpPr>
            <a:spLocks xmlns:a="http://schemas.openxmlformats.org/drawingml/2006/main" noGrp="1"/>
          </p:cNvSpPr>
          <p:nvPr/>
        </p:nvSpPr>
        <p:spPr>
          <a:xfrm xmlns:a="http://schemas.openxmlformats.org/drawingml/2006/main">
            <a:off x="800100" y="501967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KUBERNETES</a:t>
            </a:r>
          </a:p>
        </p:txBody>
      </p:sp>
      <p:sp>
        <p:nvSpPr>
          <p:cNvPr id="19" name="">
            <a:extLst xmlns:a="http://schemas.openxmlformats.org/drawingml/2006/main">
              <a:ext uri="{FF2B5EF4-FFF2-40B4-BE49-F238E27FC236}">
                <a16:creationId xmlns:a16="http://schemas.microsoft.com/office/drawing/2014/main" id="{7DEDA17B-06C0-432A-B2AB-E0C70367EC87}"/>
              </a:ext>
            </a:extLst>
          </p:cNvPr>
          <p:cNvSpPr>
            <a:spLocks xmlns:a="http://schemas.openxmlformats.org/drawingml/2006/main" noGrp="1"/>
          </p:cNvSpPr>
          <p:nvPr/>
        </p:nvSpPr>
        <p:spPr>
          <a:xfrm xmlns:a="http://schemas.openxmlformats.org/drawingml/2006/main">
            <a:off x="2247900" y="4953000"/>
            <a:ext cx="142875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2BFD3D7-9CE3-40D9-8983-849E8A844858}"/>
              </a:ext>
            </a:extLst>
          </p:cNvPr>
          <p:cNvSpPr>
            <a:spLocks xmlns:a="http://schemas.openxmlformats.org/drawingml/2006/main" noGrp="1"/>
          </p:cNvSpPr>
          <p:nvPr/>
        </p:nvSpPr>
        <p:spPr>
          <a:xfrm xmlns:a="http://schemas.openxmlformats.org/drawingml/2006/main">
            <a:off x="2362200" y="501967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DPDK / VPP</a:t>
            </a:r>
          </a:p>
        </p:txBody>
      </p:sp>
      <p:sp>
        <p:nvSpPr>
          <p:cNvPr id="21" name="">
            <a:extLst xmlns:a="http://schemas.openxmlformats.org/drawingml/2006/main">
              <a:ext uri="{FF2B5EF4-FFF2-40B4-BE49-F238E27FC236}">
                <a16:creationId xmlns:a16="http://schemas.microsoft.com/office/drawing/2014/main" id="{CD72BBD8-8C8C-4129-BB92-738031BED81C}"/>
              </a:ext>
            </a:extLst>
          </p:cNvPr>
          <p:cNvSpPr>
            <a:spLocks xmlns:a="http://schemas.openxmlformats.org/drawingml/2006/main" noGrp="1"/>
          </p:cNvSpPr>
          <p:nvPr/>
        </p:nvSpPr>
        <p:spPr>
          <a:xfrm xmlns:a="http://schemas.openxmlformats.org/drawingml/2006/main">
            <a:off x="3810000" y="4953000"/>
            <a:ext cx="1000125"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38543B8-0851-4206-AFDA-584A189CE5A6}"/>
              </a:ext>
            </a:extLst>
          </p:cNvPr>
          <p:cNvSpPr>
            <a:spLocks xmlns:a="http://schemas.openxmlformats.org/drawingml/2006/main" noGrp="1"/>
          </p:cNvSpPr>
          <p:nvPr/>
        </p:nvSpPr>
        <p:spPr>
          <a:xfrm xmlns:a="http://schemas.openxmlformats.org/drawingml/2006/main">
            <a:off x="3924300" y="5019675"/>
            <a:ext cx="7715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HELM</a:t>
            </a:r>
          </a:p>
        </p:txBody>
      </p:sp>
      <p:sp>
        <p:nvSpPr>
          <p:cNvPr id="23" name="">
            <a:extLst xmlns:a="http://schemas.openxmlformats.org/drawingml/2006/main">
              <a:ext uri="{FF2B5EF4-FFF2-40B4-BE49-F238E27FC236}">
                <a16:creationId xmlns:a16="http://schemas.microsoft.com/office/drawing/2014/main" id="{15DD6787-6BE2-4F4B-821C-65A76318413C}"/>
              </a:ext>
            </a:extLst>
          </p:cNvPr>
          <p:cNvSpPr>
            <a:spLocks xmlns:a="http://schemas.openxmlformats.org/drawingml/2006/main" noGrp="1"/>
          </p:cNvSpPr>
          <p:nvPr/>
        </p:nvSpPr>
        <p:spPr>
          <a:xfrm xmlns:a="http://schemas.openxmlformats.org/drawingml/2006/main">
            <a:off x="685800" y="5905500"/>
            <a:ext cx="428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050" b="0">
                <a:solidFill>
                  <a:srgbClr val="A9C1D2"/>
                </a:solidFill>
              </a:defRPr>
            </a:defPPr>
          </a:lstStyle>
          <a:p xmlns:a="http://schemas.openxmlformats.org/drawingml/2006/main">
            <a:pPr algn="l">
              <a:defRPr sz="1050" b="0">
                <a:solidFill>
                  <a:srgbClr val="A9C1D2"/>
                </a:solidFill>
              </a:defRPr>
            </a:pPr>
            <a:r>
              <a:rPr sz="1050" b="0">
                <a:solidFill>
                  <a:srgbClr val="A9C1D2"/>
                </a:solidFill>
              </a:rPr>
              <a:t>Infinitydon lab • October 2026</a:t>
            </a:r>
          </a:p>
        </p:txBody>
      </p:sp>
      <p:sp>
        <p:nvSpPr>
          <p:cNvPr id="24" name="">
            <a:extLst xmlns:a="http://schemas.openxmlformats.org/drawingml/2006/main">
              <a:ext uri="{FF2B5EF4-FFF2-40B4-BE49-F238E27FC236}">
                <a16:creationId xmlns:a16="http://schemas.microsoft.com/office/drawing/2014/main" id="{C6690AB0-E904-4526-9353-13C991CC8490}"/>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5" name="">
            <a:extLst xmlns:a="http://schemas.openxmlformats.org/drawingml/2006/main">
              <a:ext uri="{FF2B5EF4-FFF2-40B4-BE49-F238E27FC236}">
                <a16:creationId xmlns:a16="http://schemas.microsoft.com/office/drawing/2014/main" id="{18F01F30-ADD2-49D6-8227-F37EEFB50644}"/>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r>
              <a:t/>
            </a:r>
          </a:p>
        </p:txBody>
      </p:sp>
      <p:sp>
        <p:nvSpPr>
          <p:cNvPr id="26" name="">
            <a:extLst xmlns:a="http://schemas.openxmlformats.org/drawingml/2006/main">
              <a:ext uri="{FF2B5EF4-FFF2-40B4-BE49-F238E27FC236}">
                <a16:creationId xmlns:a16="http://schemas.microsoft.com/office/drawing/2014/main" id="{11069C07-1061-4C58-91A2-58041E095ED6}"/>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01</a:t>
            </a:r>
          </a:p>
        </p:txBody>
      </p:sp>
    </p:spTree>
    <p:extLst>
      <p:ext uri="{BB962C8B-B14F-4D97-AF65-F5344CB8AC3E}">
        <p14:creationId xmlns:p14="http://schemas.microsoft.com/office/powerpoint/2010/main" val="1380044567"/>
      </p:ext>
    </p:extLst>
  </p:cSld>
</p:sld>
</file>

<file path=ppt/slides/slide2.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126DCD6-0155-4748-A27A-E299EF9BC15E}"/>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1 • THE ROLE</a:t>
            </a:r>
          </a:p>
        </p:txBody>
      </p:sp>
      <p:sp>
        <p:nvSpPr>
          <p:cNvPr id="2" name="">
            <a:extLst xmlns:a="http://schemas.openxmlformats.org/drawingml/2006/main">
              <a:ext uri="{FF2B5EF4-FFF2-40B4-BE49-F238E27FC236}">
                <a16:creationId xmlns:a16="http://schemas.microsoft.com/office/drawing/2014/main" id="{651921BA-86BA-4B24-B1C4-746752A31600}"/>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The BNG is the subscriber edge control point</a:t>
            </a:r>
          </a:p>
        </p:txBody>
      </p:sp>
      <p:sp>
        <p:nvSpPr>
          <p:cNvPr id="3" name="">
            <a:extLst xmlns:a="http://schemas.openxmlformats.org/drawingml/2006/main">
              <a:ext uri="{FF2B5EF4-FFF2-40B4-BE49-F238E27FC236}">
                <a16:creationId xmlns:a16="http://schemas.microsoft.com/office/drawing/2014/main" id="{820A5228-815B-4EEC-9DEB-BAC69BC45345}"/>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It joins subscriber access, policy, addressing, routing, and internet reachability.</a:t>
            </a:r>
          </a:p>
        </p:txBody>
      </p:sp>
      <p:sp>
        <p:nvSpPr>
          <p:cNvPr id="4" name="">
            <a:extLst xmlns:a="http://schemas.openxmlformats.org/drawingml/2006/main">
              <a:ext uri="{FF2B5EF4-FFF2-40B4-BE49-F238E27FC236}">
                <a16:creationId xmlns:a16="http://schemas.microsoft.com/office/drawing/2014/main" id="{BBFC3CF7-EFCA-41F2-9C28-825A16480F39}"/>
              </a:ext>
            </a:extLst>
          </p:cNvPr>
          <p:cNvSpPr>
            <a:spLocks xmlns:a="http://schemas.openxmlformats.org/drawingml/2006/main" noGrp="1"/>
          </p:cNvSpPr>
          <p:nvPr/>
        </p:nvSpPr>
        <p:spPr>
          <a:xfrm xmlns:a="http://schemas.openxmlformats.org/drawingml/2006/main">
            <a:off x="68580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DCD54543-B3E7-4648-B917-A862958F7D6B}"/>
              </a:ext>
            </a:extLst>
          </p:cNvPr>
          <p:cNvSpPr>
            <a:spLocks xmlns:a="http://schemas.openxmlformats.org/drawingml/2006/main" noGrp="1"/>
          </p:cNvSpPr>
          <p:nvPr/>
        </p:nvSpPr>
        <p:spPr>
          <a:xfrm xmlns:a="http://schemas.openxmlformats.org/drawingml/2006/main">
            <a:off x="85725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C5D51EE-80CF-4D58-82B2-E19A674FE57A}"/>
              </a:ext>
            </a:extLst>
          </p:cNvPr>
          <p:cNvSpPr>
            <a:spLocks xmlns:a="http://schemas.openxmlformats.org/drawingml/2006/main" noGrp="1"/>
          </p:cNvSpPr>
          <p:nvPr/>
        </p:nvSpPr>
        <p:spPr>
          <a:xfrm xmlns:a="http://schemas.openxmlformats.org/drawingml/2006/main">
            <a:off x="97155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1</a:t>
            </a:r>
          </a:p>
        </p:txBody>
      </p:sp>
      <p:sp>
        <p:nvSpPr>
          <p:cNvPr id="7" name="">
            <a:extLst xmlns:a="http://schemas.openxmlformats.org/drawingml/2006/main">
              <a:ext uri="{FF2B5EF4-FFF2-40B4-BE49-F238E27FC236}">
                <a16:creationId xmlns:a16="http://schemas.microsoft.com/office/drawing/2014/main" id="{936AE44E-DE12-4013-886A-F09784919A71}"/>
              </a:ext>
            </a:extLst>
          </p:cNvPr>
          <p:cNvSpPr>
            <a:spLocks xmlns:a="http://schemas.openxmlformats.org/drawingml/2006/main" noGrp="1"/>
          </p:cNvSpPr>
          <p:nvPr/>
        </p:nvSpPr>
        <p:spPr>
          <a:xfrm xmlns:a="http://schemas.openxmlformats.org/drawingml/2006/main">
            <a:off x="89535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Session control</a:t>
            </a:r>
          </a:p>
        </p:txBody>
      </p:sp>
      <p:sp>
        <p:nvSpPr>
          <p:cNvPr id="8" name="">
            <a:extLst xmlns:a="http://schemas.openxmlformats.org/drawingml/2006/main">
              <a:ext uri="{FF2B5EF4-FFF2-40B4-BE49-F238E27FC236}">
                <a16:creationId xmlns:a16="http://schemas.microsoft.com/office/drawing/2014/main" id="{3798CBA2-1319-43C7-8DBA-93D8FD565475}"/>
              </a:ext>
            </a:extLst>
          </p:cNvPr>
          <p:cNvSpPr>
            <a:spLocks xmlns:a="http://schemas.openxmlformats.org/drawingml/2006/main" noGrp="1"/>
          </p:cNvSpPr>
          <p:nvPr/>
        </p:nvSpPr>
        <p:spPr>
          <a:xfrm xmlns:a="http://schemas.openxmlformats.org/drawingml/2006/main">
            <a:off x="89535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IPoE / DHCP sessions</a:t>
            </a:r>
          </a:p>
          <a:p xmlns:a="http://schemas.openxmlformats.org/drawingml/2006/main">
            <a:pPr algn="l">
              <a:defRPr sz="1200" b="0">
                <a:solidFill>
                  <a:srgbClr val="A9C1D2"/>
                </a:solidFill>
              </a:defRPr>
            </a:pPr>
            <a:r>
              <a:rPr sz="1200" b="0">
                <a:solidFill>
                  <a:srgbClr val="A9C1D2"/>
                </a:solidFill>
              </a:rPr>
              <a:t>subscriber lifecycle</a:t>
            </a:r>
          </a:p>
        </p:txBody>
      </p:sp>
      <p:sp>
        <p:nvSpPr>
          <p:cNvPr id="9" name="">
            <a:extLst xmlns:a="http://schemas.openxmlformats.org/drawingml/2006/main">
              <a:ext uri="{FF2B5EF4-FFF2-40B4-BE49-F238E27FC236}">
                <a16:creationId xmlns:a16="http://schemas.microsoft.com/office/drawing/2014/main" id="{761AD713-A9CD-451E-8CD4-105A8E2071E8}"/>
              </a:ext>
            </a:extLst>
          </p:cNvPr>
          <p:cNvSpPr>
            <a:spLocks xmlns:a="http://schemas.openxmlformats.org/drawingml/2006/main" noGrp="1"/>
          </p:cNvSpPr>
          <p:nvPr/>
        </p:nvSpPr>
        <p:spPr>
          <a:xfrm xmlns:a="http://schemas.openxmlformats.org/drawingml/2006/main">
            <a:off x="337185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10" name="">
            <a:extLst xmlns:a="http://schemas.openxmlformats.org/drawingml/2006/main">
              <a:ext uri="{FF2B5EF4-FFF2-40B4-BE49-F238E27FC236}">
                <a16:creationId xmlns:a16="http://schemas.microsoft.com/office/drawing/2014/main" id="{AE582499-D179-4D4A-8EC0-16834E9403C3}"/>
              </a:ext>
            </a:extLst>
          </p:cNvPr>
          <p:cNvSpPr>
            <a:spLocks xmlns:a="http://schemas.openxmlformats.org/drawingml/2006/main" noGrp="1"/>
          </p:cNvSpPr>
          <p:nvPr/>
        </p:nvSpPr>
        <p:spPr>
          <a:xfrm xmlns:a="http://schemas.openxmlformats.org/drawingml/2006/main">
            <a:off x="354330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F472120-AAEA-4485-BAC7-F5534871DC57}"/>
              </a:ext>
            </a:extLst>
          </p:cNvPr>
          <p:cNvSpPr>
            <a:spLocks xmlns:a="http://schemas.openxmlformats.org/drawingml/2006/main" noGrp="1"/>
          </p:cNvSpPr>
          <p:nvPr/>
        </p:nvSpPr>
        <p:spPr>
          <a:xfrm xmlns:a="http://schemas.openxmlformats.org/drawingml/2006/main">
            <a:off x="365760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2</a:t>
            </a:r>
          </a:p>
        </p:txBody>
      </p:sp>
      <p:sp>
        <p:nvSpPr>
          <p:cNvPr id="12" name="">
            <a:extLst xmlns:a="http://schemas.openxmlformats.org/drawingml/2006/main">
              <a:ext uri="{FF2B5EF4-FFF2-40B4-BE49-F238E27FC236}">
                <a16:creationId xmlns:a16="http://schemas.microsoft.com/office/drawing/2014/main" id="{22873846-FF16-4CED-A6C5-5AFA9CF0B290}"/>
              </a:ext>
            </a:extLst>
          </p:cNvPr>
          <p:cNvSpPr>
            <a:spLocks xmlns:a="http://schemas.openxmlformats.org/drawingml/2006/main" noGrp="1"/>
          </p:cNvSpPr>
          <p:nvPr/>
        </p:nvSpPr>
        <p:spPr>
          <a:xfrm xmlns:a="http://schemas.openxmlformats.org/drawingml/2006/main">
            <a:off x="358140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Policy + AAA</a:t>
            </a:r>
          </a:p>
        </p:txBody>
      </p:sp>
      <p:sp>
        <p:nvSpPr>
          <p:cNvPr id="13" name="">
            <a:extLst xmlns:a="http://schemas.openxmlformats.org/drawingml/2006/main">
              <a:ext uri="{FF2B5EF4-FFF2-40B4-BE49-F238E27FC236}">
                <a16:creationId xmlns:a16="http://schemas.microsoft.com/office/drawing/2014/main" id="{759C4125-1CDC-452D-BFE9-F32AF7B82957}"/>
              </a:ext>
            </a:extLst>
          </p:cNvPr>
          <p:cNvSpPr>
            <a:spLocks xmlns:a="http://schemas.openxmlformats.org/drawingml/2006/main" noGrp="1"/>
          </p:cNvSpPr>
          <p:nvPr/>
        </p:nvSpPr>
        <p:spPr>
          <a:xfrm xmlns:a="http://schemas.openxmlformats.org/drawingml/2006/main">
            <a:off x="358140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RADIUS-backed identity</a:t>
            </a:r>
          </a:p>
          <a:p xmlns:a="http://schemas.openxmlformats.org/drawingml/2006/main">
            <a:pPr algn="l">
              <a:defRPr sz="1200" b="0">
                <a:solidFill>
                  <a:srgbClr val="A9C1D2"/>
                </a:solidFill>
              </a:defRPr>
            </a:pPr>
            <a:r>
              <a:rPr sz="1200" b="0">
                <a:solidFill>
                  <a:srgbClr val="A9C1D2"/>
                </a:solidFill>
              </a:rPr>
              <a:t>and service policy</a:t>
            </a:r>
          </a:p>
        </p:txBody>
      </p:sp>
      <p:sp>
        <p:nvSpPr>
          <p:cNvPr id="14" name="">
            <a:extLst xmlns:a="http://schemas.openxmlformats.org/drawingml/2006/main">
              <a:ext uri="{FF2B5EF4-FFF2-40B4-BE49-F238E27FC236}">
                <a16:creationId xmlns:a16="http://schemas.microsoft.com/office/drawing/2014/main" id="{A05BF809-8ACC-43F8-8254-6260EFD0F0BE}"/>
              </a:ext>
            </a:extLst>
          </p:cNvPr>
          <p:cNvSpPr>
            <a:spLocks xmlns:a="http://schemas.openxmlformats.org/drawingml/2006/main" noGrp="1"/>
          </p:cNvSpPr>
          <p:nvPr/>
        </p:nvSpPr>
        <p:spPr>
          <a:xfrm xmlns:a="http://schemas.openxmlformats.org/drawingml/2006/main">
            <a:off x="6057900" y="2333625"/>
            <a:ext cx="2419350" cy="2238375"/>
          </a:xfrm>
          <a:prstGeom xmlns:a="http://schemas.openxmlformats.org/drawingml/2006/main" prst="roundRect">
            <a:avLst>
              <a:gd name="adj" fmla="val 6809"/>
            </a:avLst>
          </a:prstGeom>
          <a:solidFill xmlns:a="http://schemas.openxmlformats.org/drawingml/2006/main">
            <a:srgbClr val="123A49"/>
          </a:solidFill>
          <a:ln xmlns:a="http://schemas.openxmlformats.org/drawingml/2006/main" w="9525">
            <a:solidFill>
              <a:srgbClr val="31536A"/>
            </a:solidFill>
            <a:prstDash val="solid"/>
          </a:ln>
        </p:spPr>
      </p:sp>
      <p:sp>
        <p:nvSpPr>
          <p:cNvPr id="15" name="">
            <a:extLst xmlns:a="http://schemas.openxmlformats.org/drawingml/2006/main">
              <a:ext uri="{FF2B5EF4-FFF2-40B4-BE49-F238E27FC236}">
                <a16:creationId xmlns:a16="http://schemas.microsoft.com/office/drawing/2014/main" id="{7510DF26-8F18-4C42-9737-FE35921EA97E}"/>
              </a:ext>
            </a:extLst>
          </p:cNvPr>
          <p:cNvSpPr>
            <a:spLocks xmlns:a="http://schemas.openxmlformats.org/drawingml/2006/main" noGrp="1"/>
          </p:cNvSpPr>
          <p:nvPr/>
        </p:nvSpPr>
        <p:spPr>
          <a:xfrm xmlns:a="http://schemas.openxmlformats.org/drawingml/2006/main">
            <a:off x="6229350" y="2505075"/>
            <a:ext cx="40005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65ECFF0-51F0-4C61-93A1-A7845F9DC995}"/>
              </a:ext>
            </a:extLst>
          </p:cNvPr>
          <p:cNvSpPr>
            <a:spLocks xmlns:a="http://schemas.openxmlformats.org/drawingml/2006/main" noGrp="1"/>
          </p:cNvSpPr>
          <p:nvPr/>
        </p:nvSpPr>
        <p:spPr>
          <a:xfrm xmlns:a="http://schemas.openxmlformats.org/drawingml/2006/main">
            <a:off x="634365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3</a:t>
            </a:r>
          </a:p>
        </p:txBody>
      </p:sp>
      <p:sp>
        <p:nvSpPr>
          <p:cNvPr id="17" name="">
            <a:extLst xmlns:a="http://schemas.openxmlformats.org/drawingml/2006/main">
              <a:ext uri="{FF2B5EF4-FFF2-40B4-BE49-F238E27FC236}">
                <a16:creationId xmlns:a16="http://schemas.microsoft.com/office/drawing/2014/main" id="{E966CAB4-83FC-42DD-B53F-7FFAE634A422}"/>
              </a:ext>
            </a:extLst>
          </p:cNvPr>
          <p:cNvSpPr>
            <a:spLocks xmlns:a="http://schemas.openxmlformats.org/drawingml/2006/main" noGrp="1"/>
          </p:cNvSpPr>
          <p:nvPr/>
        </p:nvSpPr>
        <p:spPr>
          <a:xfrm xmlns:a="http://schemas.openxmlformats.org/drawingml/2006/main">
            <a:off x="626745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Traffic services</a:t>
            </a:r>
          </a:p>
        </p:txBody>
      </p:sp>
      <p:sp>
        <p:nvSpPr>
          <p:cNvPr id="18" name="">
            <a:extLst xmlns:a="http://schemas.openxmlformats.org/drawingml/2006/main">
              <a:ext uri="{FF2B5EF4-FFF2-40B4-BE49-F238E27FC236}">
                <a16:creationId xmlns:a16="http://schemas.microsoft.com/office/drawing/2014/main" id="{BB7A353C-1CBF-4F1B-B5CD-F8D07CBA3A8A}"/>
              </a:ext>
            </a:extLst>
          </p:cNvPr>
          <p:cNvSpPr>
            <a:spLocks xmlns:a="http://schemas.openxmlformats.org/drawingml/2006/main" noGrp="1"/>
          </p:cNvSpPr>
          <p:nvPr/>
        </p:nvSpPr>
        <p:spPr>
          <a:xfrm xmlns:a="http://schemas.openxmlformats.org/drawingml/2006/main">
            <a:off x="626745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CGNAT, QoS, counters</a:t>
            </a:r>
          </a:p>
          <a:p xmlns:a="http://schemas.openxmlformats.org/drawingml/2006/main">
            <a:pPr algn="l">
              <a:defRPr sz="1200" b="0">
                <a:solidFill>
                  <a:srgbClr val="A9C1D2"/>
                </a:solidFill>
              </a:defRPr>
            </a:pPr>
            <a:r>
              <a:rPr sz="1200" b="0">
                <a:solidFill>
                  <a:srgbClr val="A9C1D2"/>
                </a:solidFill>
              </a:rPr>
              <a:t>and forwarding</a:t>
            </a:r>
          </a:p>
        </p:txBody>
      </p:sp>
      <p:sp>
        <p:nvSpPr>
          <p:cNvPr id="19" name="">
            <a:extLst xmlns:a="http://schemas.openxmlformats.org/drawingml/2006/main">
              <a:ext uri="{FF2B5EF4-FFF2-40B4-BE49-F238E27FC236}">
                <a16:creationId xmlns:a16="http://schemas.microsoft.com/office/drawing/2014/main" id="{9E22E6DE-53F4-463B-A49E-0B7B19EB6CC6}"/>
              </a:ext>
            </a:extLst>
          </p:cNvPr>
          <p:cNvSpPr>
            <a:spLocks xmlns:a="http://schemas.openxmlformats.org/drawingml/2006/main" noGrp="1"/>
          </p:cNvSpPr>
          <p:nvPr/>
        </p:nvSpPr>
        <p:spPr>
          <a:xfrm xmlns:a="http://schemas.openxmlformats.org/drawingml/2006/main">
            <a:off x="874395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20" name="">
            <a:extLst xmlns:a="http://schemas.openxmlformats.org/drawingml/2006/main">
              <a:ext uri="{FF2B5EF4-FFF2-40B4-BE49-F238E27FC236}">
                <a16:creationId xmlns:a16="http://schemas.microsoft.com/office/drawing/2014/main" id="{98368287-F3E7-4DD2-9F28-5FA2EF212144}"/>
              </a:ext>
            </a:extLst>
          </p:cNvPr>
          <p:cNvSpPr>
            <a:spLocks xmlns:a="http://schemas.openxmlformats.org/drawingml/2006/main" noGrp="1"/>
          </p:cNvSpPr>
          <p:nvPr/>
        </p:nvSpPr>
        <p:spPr>
          <a:xfrm xmlns:a="http://schemas.openxmlformats.org/drawingml/2006/main">
            <a:off x="891540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4573981-2E66-44A8-ACE4-26AA9067B1CE}"/>
              </a:ext>
            </a:extLst>
          </p:cNvPr>
          <p:cNvSpPr>
            <a:spLocks xmlns:a="http://schemas.openxmlformats.org/drawingml/2006/main" noGrp="1"/>
          </p:cNvSpPr>
          <p:nvPr/>
        </p:nvSpPr>
        <p:spPr>
          <a:xfrm xmlns:a="http://schemas.openxmlformats.org/drawingml/2006/main">
            <a:off x="902970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4</a:t>
            </a:r>
          </a:p>
        </p:txBody>
      </p:sp>
      <p:sp>
        <p:nvSpPr>
          <p:cNvPr id="22" name="">
            <a:extLst xmlns:a="http://schemas.openxmlformats.org/drawingml/2006/main">
              <a:ext uri="{FF2B5EF4-FFF2-40B4-BE49-F238E27FC236}">
                <a16:creationId xmlns:a16="http://schemas.microsoft.com/office/drawing/2014/main" id="{5FED8DAA-D59C-4C29-BFF9-3178D42C1324}"/>
              </a:ext>
            </a:extLst>
          </p:cNvPr>
          <p:cNvSpPr>
            <a:spLocks xmlns:a="http://schemas.openxmlformats.org/drawingml/2006/main" noGrp="1"/>
          </p:cNvSpPr>
          <p:nvPr/>
        </p:nvSpPr>
        <p:spPr>
          <a:xfrm xmlns:a="http://schemas.openxmlformats.org/drawingml/2006/main">
            <a:off x="895350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Core routing</a:t>
            </a:r>
          </a:p>
        </p:txBody>
      </p:sp>
      <p:sp>
        <p:nvSpPr>
          <p:cNvPr id="23" name="">
            <a:extLst xmlns:a="http://schemas.openxmlformats.org/drawingml/2006/main">
              <a:ext uri="{FF2B5EF4-FFF2-40B4-BE49-F238E27FC236}">
                <a16:creationId xmlns:a16="http://schemas.microsoft.com/office/drawing/2014/main" id="{3DFD5D52-49D8-441F-B4F6-3F16CBDD4045}"/>
              </a:ext>
            </a:extLst>
          </p:cNvPr>
          <p:cNvSpPr>
            <a:spLocks xmlns:a="http://schemas.openxmlformats.org/drawingml/2006/main" noGrp="1"/>
          </p:cNvSpPr>
          <p:nvPr/>
        </p:nvSpPr>
        <p:spPr>
          <a:xfrm xmlns:a="http://schemas.openxmlformats.org/drawingml/2006/main">
            <a:off x="895350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BGP reachability</a:t>
            </a:r>
          </a:p>
          <a:p xmlns:a="http://schemas.openxmlformats.org/drawingml/2006/main">
            <a:pPr algn="l">
              <a:defRPr sz="1200" b="0">
                <a:solidFill>
                  <a:srgbClr val="A9C1D2"/>
                </a:solidFill>
              </a:defRPr>
            </a:pPr>
            <a:r>
              <a:rPr sz="1200" b="0">
                <a:solidFill>
                  <a:srgbClr val="A9C1D2"/>
                </a:solidFill>
              </a:rPr>
              <a:t>toward the ISP edge</a:t>
            </a:r>
          </a:p>
        </p:txBody>
      </p:sp>
      <p:sp>
        <p:nvSpPr>
          <p:cNvPr id="24" name="">
            <a:extLst xmlns:a="http://schemas.openxmlformats.org/drawingml/2006/main">
              <a:ext uri="{FF2B5EF4-FFF2-40B4-BE49-F238E27FC236}">
                <a16:creationId xmlns:a16="http://schemas.microsoft.com/office/drawing/2014/main" id="{228090F4-D53B-41FB-9BB8-6DE43403C420}"/>
              </a:ext>
            </a:extLst>
          </p:cNvPr>
          <p:cNvSpPr>
            <a:spLocks xmlns:a="http://schemas.openxmlformats.org/drawingml/2006/main" noGrp="1"/>
          </p:cNvSpPr>
          <p:nvPr/>
        </p:nvSpPr>
        <p:spPr>
          <a:xfrm xmlns:a="http://schemas.openxmlformats.org/drawingml/2006/main">
            <a:off x="685800" y="4953000"/>
            <a:ext cx="10477500" cy="809625"/>
          </a:xfrm>
          <a:prstGeom xmlns:a="http://schemas.openxmlformats.org/drawingml/2006/main" prst="roundRect">
            <a:avLst>
              <a:gd name="adj" fmla="val 14118"/>
            </a:avLst>
          </a:prstGeom>
          <a:solidFill xmlns:a="http://schemas.openxmlformats.org/drawingml/2006/main">
            <a:srgbClr val="102C41"/>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9712DA3-81B5-4E1F-9405-77B86E401CEB}"/>
              </a:ext>
            </a:extLst>
          </p:cNvPr>
          <p:cNvSpPr>
            <a:spLocks xmlns:a="http://schemas.openxmlformats.org/drawingml/2006/main" noGrp="1"/>
          </p:cNvSpPr>
          <p:nvPr/>
        </p:nvSpPr>
        <p:spPr>
          <a:xfrm xmlns:a="http://schemas.openxmlformats.org/drawingml/2006/main">
            <a:off x="914400" y="5143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F9D42"/>
                </a:solidFill>
              </a:defRPr>
            </a:defPPr>
          </a:lstStyle>
          <a:p xmlns:a="http://schemas.openxmlformats.org/drawingml/2006/main">
            <a:pPr algn="l">
              <a:defRPr sz="1350" b="1">
                <a:solidFill>
                  <a:srgbClr val="FF9D42"/>
                </a:solidFill>
              </a:defRPr>
            </a:pPr>
            <a:r>
              <a:rPr sz="1350" b="1">
                <a:solidFill>
                  <a:srgbClr val="FF9D42"/>
                </a:solidFill>
              </a:rPr>
              <a:t>Key design question</a:t>
            </a:r>
          </a:p>
        </p:txBody>
      </p:sp>
      <p:sp>
        <p:nvSpPr>
          <p:cNvPr id="26" name="">
            <a:extLst xmlns:a="http://schemas.openxmlformats.org/drawingml/2006/main">
              <a:ext uri="{FF2B5EF4-FFF2-40B4-BE49-F238E27FC236}">
                <a16:creationId xmlns:a16="http://schemas.microsoft.com/office/drawing/2014/main" id="{CBB6930E-8145-4188-BCC9-DFDFF2E329BD}"/>
              </a:ext>
            </a:extLst>
          </p:cNvPr>
          <p:cNvSpPr>
            <a:spLocks xmlns:a="http://schemas.openxmlformats.org/drawingml/2006/main" noGrp="1"/>
          </p:cNvSpPr>
          <p:nvPr/>
        </p:nvSpPr>
        <p:spPr>
          <a:xfrm xmlns:a="http://schemas.openxmlformats.org/drawingml/2006/main">
            <a:off x="3143250" y="5095875"/>
            <a:ext cx="7667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Can these functions become schedulable, observable workloads without losing deterministic packet I/O?</a:t>
            </a:r>
          </a:p>
        </p:txBody>
      </p:sp>
      <p:sp>
        <p:nvSpPr>
          <p:cNvPr id="27" name="">
            <a:extLst xmlns:a="http://schemas.openxmlformats.org/drawingml/2006/main">
              <a:ext uri="{FF2B5EF4-FFF2-40B4-BE49-F238E27FC236}">
                <a16:creationId xmlns:a16="http://schemas.microsoft.com/office/drawing/2014/main" id="{C7975652-C7A5-4488-B26B-9A8AE6BA1B4E}"/>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8" name="">
            <a:extLst xmlns:a="http://schemas.openxmlformats.org/drawingml/2006/main">
              <a:ext uri="{FF2B5EF4-FFF2-40B4-BE49-F238E27FC236}">
                <a16:creationId xmlns:a16="http://schemas.microsoft.com/office/drawing/2014/main" id="{8E35F5E3-F7EE-4807-AAED-8E23EF895850}"/>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Source: veesix-networks/osvbng project overview and feature list.</a:t>
            </a:r>
          </a:p>
        </p:txBody>
      </p:sp>
      <p:sp>
        <p:nvSpPr>
          <p:cNvPr id="29" name="">
            <a:extLst xmlns:a="http://schemas.openxmlformats.org/drawingml/2006/main">
              <a:ext uri="{FF2B5EF4-FFF2-40B4-BE49-F238E27FC236}">
                <a16:creationId xmlns:a16="http://schemas.microsoft.com/office/drawing/2014/main" id="{2A76D887-863F-4289-AAA5-CE017ECDC7A5}"/>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02</a:t>
            </a:r>
          </a:p>
        </p:txBody>
      </p:sp>
    </p:spTree>
    <p:extLst>
      <p:ext uri="{BB962C8B-B14F-4D97-AF65-F5344CB8AC3E}">
        <p14:creationId xmlns:p14="http://schemas.microsoft.com/office/powerpoint/2010/main" val="290931762"/>
      </p:ext>
    </p:extLst>
  </p:cSld>
</p:sld>
</file>

<file path=ppt/slides/slide3.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E00412F-5B21-4B1D-A471-C9A8E8286F78}"/>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2 • THE DESIGN</a:t>
            </a:r>
          </a:p>
        </p:txBody>
      </p:sp>
      <p:sp>
        <p:nvSpPr>
          <p:cNvPr id="2" name="">
            <a:extLst xmlns:a="http://schemas.openxmlformats.org/drawingml/2006/main">
              <a:ext uri="{FF2B5EF4-FFF2-40B4-BE49-F238E27FC236}">
                <a16:creationId xmlns:a16="http://schemas.microsoft.com/office/drawing/2014/main" id="{73C5C261-4024-4C9A-AA13-7F7C4FB097CA}"/>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One cluster, explicit data-plane interfaces</a:t>
            </a:r>
          </a:p>
        </p:txBody>
      </p:sp>
      <p:sp>
        <p:nvSpPr>
          <p:cNvPr id="3" name="">
            <a:extLst xmlns:a="http://schemas.openxmlformats.org/drawingml/2006/main">
              <a:ext uri="{FF2B5EF4-FFF2-40B4-BE49-F238E27FC236}">
                <a16:creationId xmlns:a16="http://schemas.microsoft.com/office/drawing/2014/main" id="{4949C0B8-D530-4BC5-97F0-51B69A0CF0D6}"/>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Management stays Kubernetes-native. Subscriber and core traffic use Multus plus VFIO-bound virtio NICs.</a:t>
            </a:r>
          </a:p>
        </p:txBody>
      </p:sp>
      <p:sp>
        <p:nvSpPr>
          <p:cNvPr id="4" name="">
            <a:extLst xmlns:a="http://schemas.openxmlformats.org/drawingml/2006/main">
              <a:ext uri="{FF2B5EF4-FFF2-40B4-BE49-F238E27FC236}">
                <a16:creationId xmlns:a16="http://schemas.microsoft.com/office/drawing/2014/main" id="{A5B7CBF2-A04F-42F7-9562-6173E3DD7C03}"/>
              </a:ext>
            </a:extLst>
          </p:cNvPr>
          <p:cNvSpPr>
            <a:spLocks xmlns:a="http://schemas.openxmlformats.org/drawingml/2006/main" noGrp="1"/>
          </p:cNvSpPr>
          <p:nvPr/>
        </p:nvSpPr>
        <p:spPr>
          <a:xfrm xmlns:a="http://schemas.openxmlformats.org/drawingml/2006/main">
            <a:off x="552450" y="2667000"/>
            <a:ext cx="2095500" cy="1143000"/>
          </a:xfrm>
          <a:prstGeom xmlns:a="http://schemas.openxmlformats.org/drawingml/2006/main" prst="roundRect">
            <a:avLst>
              <a:gd name="adj" fmla="val 10000"/>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5F65358F-9817-43CC-ABFD-CACF35BE4DBC}"/>
              </a:ext>
            </a:extLst>
          </p:cNvPr>
          <p:cNvSpPr>
            <a:spLocks xmlns:a="http://schemas.openxmlformats.org/drawingml/2006/main" noGrp="1"/>
          </p:cNvSpPr>
          <p:nvPr/>
        </p:nvSpPr>
        <p:spPr>
          <a:xfrm xmlns:a="http://schemas.openxmlformats.org/drawingml/2006/main">
            <a:off x="552450" y="2667000"/>
            <a:ext cx="57150" cy="11430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6" name="">
            <a:extLst xmlns:a="http://schemas.openxmlformats.org/drawingml/2006/main">
              <a:ext uri="{FF2B5EF4-FFF2-40B4-BE49-F238E27FC236}">
                <a16:creationId xmlns:a16="http://schemas.microsoft.com/office/drawing/2014/main" id="{2E3ECC3C-FFE3-426D-8619-776BE70677B1}"/>
              </a:ext>
            </a:extLst>
          </p:cNvPr>
          <p:cNvSpPr>
            <a:spLocks xmlns:a="http://schemas.openxmlformats.org/drawingml/2006/main" noGrp="1"/>
          </p:cNvSpPr>
          <p:nvPr/>
        </p:nvSpPr>
        <p:spPr>
          <a:xfrm xmlns:a="http://schemas.openxmlformats.org/drawingml/2006/main">
            <a:off x="742950" y="2819400"/>
            <a:ext cx="1790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BNG Blaster / UE pods</a:t>
            </a:r>
          </a:p>
        </p:txBody>
      </p:sp>
      <p:sp>
        <p:nvSpPr>
          <p:cNvPr id="7" name="">
            <a:extLst xmlns:a="http://schemas.openxmlformats.org/drawingml/2006/main">
              <a:ext uri="{FF2B5EF4-FFF2-40B4-BE49-F238E27FC236}">
                <a16:creationId xmlns:a16="http://schemas.microsoft.com/office/drawing/2014/main" id="{052B86F2-91A4-413D-9935-BB4906529F56}"/>
              </a:ext>
            </a:extLst>
          </p:cNvPr>
          <p:cNvSpPr>
            <a:spLocks xmlns:a="http://schemas.openxmlformats.org/drawingml/2006/main" noGrp="1"/>
          </p:cNvSpPr>
          <p:nvPr/>
        </p:nvSpPr>
        <p:spPr>
          <a:xfrm xmlns:a="http://schemas.openxmlformats.org/drawingml/2006/main">
            <a:off x="742950" y="3143250"/>
            <a:ext cx="1790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VLAN-tagged sessions</a:t>
            </a:r>
          </a:p>
          <a:p xmlns:a="http://schemas.openxmlformats.org/drawingml/2006/main">
            <a:pPr algn="l">
              <a:defRPr sz="975" b="0">
                <a:solidFill>
                  <a:srgbClr val="A9C1D2"/>
                </a:solidFill>
              </a:defRPr>
            </a:pPr>
            <a:r>
              <a:rPr sz="975" b="0">
                <a:solidFill>
                  <a:srgbClr val="A9C1D2"/>
                </a:solidFill>
              </a:rPr>
              <a:t>and traffic probes</a:t>
            </a:r>
          </a:p>
        </p:txBody>
      </p:sp>
      <p:sp>
        <p:nvSpPr>
          <p:cNvPr id="8" name="">
            <a:extLst xmlns:a="http://schemas.openxmlformats.org/drawingml/2006/main">
              <a:ext uri="{FF2B5EF4-FFF2-40B4-BE49-F238E27FC236}">
                <a16:creationId xmlns:a16="http://schemas.microsoft.com/office/drawing/2014/main" id="{5A115BFC-831E-4841-8345-E0B44550B85C}"/>
              </a:ext>
            </a:extLst>
          </p:cNvPr>
          <p:cNvSpPr>
            <a:spLocks xmlns:a="http://schemas.openxmlformats.org/drawingml/2006/main" noGrp="1"/>
          </p:cNvSpPr>
          <p:nvPr/>
        </p:nvSpPr>
        <p:spPr>
          <a:xfrm xmlns:a="http://schemas.openxmlformats.org/drawingml/2006/main">
            <a:off x="3333750" y="2238375"/>
            <a:ext cx="2381250" cy="1143000"/>
          </a:xfrm>
          <a:prstGeom xmlns:a="http://schemas.openxmlformats.org/drawingml/2006/main" prst="roundRect">
            <a:avLst>
              <a:gd name="adj" fmla="val 10000"/>
            </a:avLst>
          </a:prstGeom>
          <a:solidFill xmlns:a="http://schemas.openxmlformats.org/drawingml/2006/main">
            <a:srgbClr val="0E2B42"/>
          </a:solidFill>
          <a:ln xmlns:a="http://schemas.openxmlformats.org/drawingml/2006/main" w="9525">
            <a:solidFill>
              <a:srgbClr val="31536A"/>
            </a:solidFill>
            <a:prstDash val="solid"/>
          </a:ln>
        </p:spPr>
      </p:sp>
      <p:sp>
        <p:nvSpPr>
          <p:cNvPr id="9" name="">
            <a:extLst xmlns:a="http://schemas.openxmlformats.org/drawingml/2006/main">
              <a:ext uri="{FF2B5EF4-FFF2-40B4-BE49-F238E27FC236}">
                <a16:creationId xmlns:a16="http://schemas.microsoft.com/office/drawing/2014/main" id="{F6034E99-BC15-40CA-ABB9-78F51F1F6327}"/>
              </a:ext>
            </a:extLst>
          </p:cNvPr>
          <p:cNvSpPr>
            <a:spLocks xmlns:a="http://schemas.openxmlformats.org/drawingml/2006/main" noGrp="1"/>
          </p:cNvSpPr>
          <p:nvPr/>
        </p:nvSpPr>
        <p:spPr>
          <a:xfrm xmlns:a="http://schemas.openxmlformats.org/drawingml/2006/main">
            <a:off x="3333750" y="2238375"/>
            <a:ext cx="57150" cy="11430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0" name="">
            <a:extLst xmlns:a="http://schemas.openxmlformats.org/drawingml/2006/main">
              <a:ext uri="{FF2B5EF4-FFF2-40B4-BE49-F238E27FC236}">
                <a16:creationId xmlns:a16="http://schemas.microsoft.com/office/drawing/2014/main" id="{FA98A234-D562-42C8-B5ED-22C075129741}"/>
              </a:ext>
            </a:extLst>
          </p:cNvPr>
          <p:cNvSpPr>
            <a:spLocks xmlns:a="http://schemas.openxmlformats.org/drawingml/2006/main" noGrp="1"/>
          </p:cNvSpPr>
          <p:nvPr/>
        </p:nvSpPr>
        <p:spPr>
          <a:xfrm xmlns:a="http://schemas.openxmlformats.org/drawingml/2006/main">
            <a:off x="3524250" y="2390775"/>
            <a:ext cx="2076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OSVBNG StatefulSet</a:t>
            </a:r>
          </a:p>
        </p:txBody>
      </p:sp>
      <p:sp>
        <p:nvSpPr>
          <p:cNvPr id="11" name="">
            <a:extLst xmlns:a="http://schemas.openxmlformats.org/drawingml/2006/main">
              <a:ext uri="{FF2B5EF4-FFF2-40B4-BE49-F238E27FC236}">
                <a16:creationId xmlns:a16="http://schemas.microsoft.com/office/drawing/2014/main" id="{C80205B3-E632-4793-B38F-EE73C4A436E8}"/>
              </a:ext>
            </a:extLst>
          </p:cNvPr>
          <p:cNvSpPr>
            <a:spLocks xmlns:a="http://schemas.openxmlformats.org/drawingml/2006/main" noGrp="1"/>
          </p:cNvSpPr>
          <p:nvPr/>
        </p:nvSpPr>
        <p:spPr>
          <a:xfrm xmlns:a="http://schemas.openxmlformats.org/drawingml/2006/main">
            <a:off x="3524250" y="2714625"/>
            <a:ext cx="2076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VPP + DPDK</a:t>
            </a:r>
          </a:p>
          <a:p xmlns:a="http://schemas.openxmlformats.org/drawingml/2006/main">
            <a:pPr algn="l">
              <a:defRPr sz="975" b="0">
                <a:solidFill>
                  <a:srgbClr val="A9C1D2"/>
                </a:solidFill>
              </a:defRPr>
            </a:pPr>
            <a:r>
              <a:rPr sz="975" b="0">
                <a:solidFill>
                  <a:srgbClr val="A9C1D2"/>
                </a:solidFill>
              </a:rPr>
              <a:t>subscriber state</a:t>
            </a:r>
          </a:p>
        </p:txBody>
      </p:sp>
      <p:sp>
        <p:nvSpPr>
          <p:cNvPr id="12" name="">
            <a:extLst xmlns:a="http://schemas.openxmlformats.org/drawingml/2006/main">
              <a:ext uri="{FF2B5EF4-FFF2-40B4-BE49-F238E27FC236}">
                <a16:creationId xmlns:a16="http://schemas.microsoft.com/office/drawing/2014/main" id="{2003B9D0-067C-48AC-BD9C-54E3673110EC}"/>
              </a:ext>
            </a:extLst>
          </p:cNvPr>
          <p:cNvSpPr>
            <a:spLocks xmlns:a="http://schemas.openxmlformats.org/drawingml/2006/main" noGrp="1"/>
          </p:cNvSpPr>
          <p:nvPr/>
        </p:nvSpPr>
        <p:spPr>
          <a:xfrm xmlns:a="http://schemas.openxmlformats.org/drawingml/2006/main">
            <a:off x="6572250" y="2238375"/>
            <a:ext cx="2190750" cy="1143000"/>
          </a:xfrm>
          <a:prstGeom xmlns:a="http://schemas.openxmlformats.org/drawingml/2006/main" prst="roundRect">
            <a:avLst>
              <a:gd name="adj" fmla="val 10000"/>
            </a:avLst>
          </a:prstGeom>
          <a:solidFill xmlns:a="http://schemas.openxmlformats.org/drawingml/2006/main">
            <a:srgbClr val="0E2B42"/>
          </a:solidFill>
          <a:ln xmlns:a="http://schemas.openxmlformats.org/drawingml/2006/main" w="9525">
            <a:solidFill>
              <a:srgbClr val="31536A"/>
            </a:solidFill>
            <a:prstDash val="solid"/>
          </a:ln>
        </p:spPr>
      </p:sp>
      <p:sp>
        <p:nvSpPr>
          <p:cNvPr id="13" name="">
            <a:extLst xmlns:a="http://schemas.openxmlformats.org/drawingml/2006/main">
              <a:ext uri="{FF2B5EF4-FFF2-40B4-BE49-F238E27FC236}">
                <a16:creationId xmlns:a16="http://schemas.microsoft.com/office/drawing/2014/main" id="{D61520DD-61AA-4300-B035-D8D1AEB6F5F6}"/>
              </a:ext>
            </a:extLst>
          </p:cNvPr>
          <p:cNvSpPr>
            <a:spLocks xmlns:a="http://schemas.openxmlformats.org/drawingml/2006/main" noGrp="1"/>
          </p:cNvSpPr>
          <p:nvPr/>
        </p:nvSpPr>
        <p:spPr>
          <a:xfrm xmlns:a="http://schemas.openxmlformats.org/drawingml/2006/main">
            <a:off x="6572250" y="2238375"/>
            <a:ext cx="57150" cy="11430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14" name="">
            <a:extLst xmlns:a="http://schemas.openxmlformats.org/drawingml/2006/main">
              <a:ext uri="{FF2B5EF4-FFF2-40B4-BE49-F238E27FC236}">
                <a16:creationId xmlns:a16="http://schemas.microsoft.com/office/drawing/2014/main" id="{A444B216-D1C6-47AF-BD86-4F6B2115CE20}"/>
              </a:ext>
            </a:extLst>
          </p:cNvPr>
          <p:cNvSpPr>
            <a:spLocks xmlns:a="http://schemas.openxmlformats.org/drawingml/2006/main" noGrp="1"/>
          </p:cNvSpPr>
          <p:nvPr/>
        </p:nvSpPr>
        <p:spPr>
          <a:xfrm xmlns:a="http://schemas.openxmlformats.org/drawingml/2006/main">
            <a:off x="6762750" y="2390775"/>
            <a:ext cx="1885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FRR edge routers</a:t>
            </a:r>
          </a:p>
        </p:txBody>
      </p:sp>
      <p:sp>
        <p:nvSpPr>
          <p:cNvPr id="15" name="">
            <a:extLst xmlns:a="http://schemas.openxmlformats.org/drawingml/2006/main">
              <a:ext uri="{FF2B5EF4-FFF2-40B4-BE49-F238E27FC236}">
                <a16:creationId xmlns:a16="http://schemas.microsoft.com/office/drawing/2014/main" id="{13E602AA-8312-4F0C-B3E4-A85DA6F4CACA}"/>
              </a:ext>
            </a:extLst>
          </p:cNvPr>
          <p:cNvSpPr>
            <a:spLocks xmlns:a="http://schemas.openxmlformats.org/drawingml/2006/main" noGrp="1"/>
          </p:cNvSpPr>
          <p:nvPr/>
        </p:nvSpPr>
        <p:spPr>
          <a:xfrm xmlns:a="http://schemas.openxmlformats.org/drawingml/2006/main">
            <a:off x="6762750" y="2714625"/>
            <a:ext cx="188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eBGP toward BNG</a:t>
            </a:r>
          </a:p>
          <a:p xmlns:a="http://schemas.openxmlformats.org/drawingml/2006/main">
            <a:pPr algn="l">
              <a:defRPr sz="975" b="0">
                <a:solidFill>
                  <a:srgbClr val="A9C1D2"/>
                </a:solidFill>
              </a:defRPr>
            </a:pPr>
            <a:r>
              <a:rPr sz="975" b="0">
                <a:solidFill>
                  <a:srgbClr val="A9C1D2"/>
                </a:solidFill>
              </a:rPr>
              <a:t>and MikroTik</a:t>
            </a:r>
          </a:p>
        </p:txBody>
      </p:sp>
      <p:sp>
        <p:nvSpPr>
          <p:cNvPr id="16" name="">
            <a:extLst xmlns:a="http://schemas.openxmlformats.org/drawingml/2006/main">
              <a:ext uri="{FF2B5EF4-FFF2-40B4-BE49-F238E27FC236}">
                <a16:creationId xmlns:a16="http://schemas.microsoft.com/office/drawing/2014/main" id="{60181BEE-BAF8-4A5F-99D6-338FA423ABD3}"/>
              </a:ext>
            </a:extLst>
          </p:cNvPr>
          <p:cNvSpPr>
            <a:spLocks xmlns:a="http://schemas.openxmlformats.org/drawingml/2006/main" noGrp="1"/>
          </p:cNvSpPr>
          <p:nvPr/>
        </p:nvSpPr>
        <p:spPr>
          <a:xfrm xmlns:a="http://schemas.openxmlformats.org/drawingml/2006/main">
            <a:off x="9525000" y="2667000"/>
            <a:ext cx="2095500" cy="1143000"/>
          </a:xfrm>
          <a:prstGeom xmlns:a="http://schemas.openxmlformats.org/drawingml/2006/main" prst="roundRect">
            <a:avLst>
              <a:gd name="adj" fmla="val 10000"/>
            </a:avLst>
          </a:prstGeom>
          <a:solidFill xmlns:a="http://schemas.openxmlformats.org/drawingml/2006/main">
            <a:srgbClr val="0E2B42"/>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FF0E3460-0740-4FE6-A643-6B6B40419817}"/>
              </a:ext>
            </a:extLst>
          </p:cNvPr>
          <p:cNvSpPr>
            <a:spLocks xmlns:a="http://schemas.openxmlformats.org/drawingml/2006/main" noGrp="1"/>
          </p:cNvSpPr>
          <p:nvPr/>
        </p:nvSpPr>
        <p:spPr>
          <a:xfrm xmlns:a="http://schemas.openxmlformats.org/drawingml/2006/main">
            <a:off x="9525000" y="2667000"/>
            <a:ext cx="57150" cy="11430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8" name="">
            <a:extLst xmlns:a="http://schemas.openxmlformats.org/drawingml/2006/main">
              <a:ext uri="{FF2B5EF4-FFF2-40B4-BE49-F238E27FC236}">
                <a16:creationId xmlns:a16="http://schemas.microsoft.com/office/drawing/2014/main" id="{0BA2C7C4-CBD9-4E31-9C73-07093338A3A7}"/>
              </a:ext>
            </a:extLst>
          </p:cNvPr>
          <p:cNvSpPr>
            <a:spLocks xmlns:a="http://schemas.openxmlformats.org/drawingml/2006/main" noGrp="1"/>
          </p:cNvSpPr>
          <p:nvPr/>
        </p:nvSpPr>
        <p:spPr>
          <a:xfrm xmlns:a="http://schemas.openxmlformats.org/drawingml/2006/main">
            <a:off x="9715500" y="2819400"/>
            <a:ext cx="1790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MikroTik / Internet</a:t>
            </a:r>
          </a:p>
        </p:txBody>
      </p:sp>
      <p:sp>
        <p:nvSpPr>
          <p:cNvPr id="19" name="">
            <a:extLst xmlns:a="http://schemas.openxmlformats.org/drawingml/2006/main">
              <a:ext uri="{FF2B5EF4-FFF2-40B4-BE49-F238E27FC236}">
                <a16:creationId xmlns:a16="http://schemas.microsoft.com/office/drawing/2014/main" id="{417C05FA-F139-476F-9B41-A7930071A9FA}"/>
              </a:ext>
            </a:extLst>
          </p:cNvPr>
          <p:cNvSpPr>
            <a:spLocks xmlns:a="http://schemas.openxmlformats.org/drawingml/2006/main" noGrp="1"/>
          </p:cNvSpPr>
          <p:nvPr/>
        </p:nvSpPr>
        <p:spPr>
          <a:xfrm xmlns:a="http://schemas.openxmlformats.org/drawingml/2006/main">
            <a:off x="9715500" y="3143250"/>
            <a:ext cx="1790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Upstream default route</a:t>
            </a:r>
          </a:p>
          <a:p xmlns:a="http://schemas.openxmlformats.org/drawingml/2006/main">
            <a:pPr algn="l">
              <a:defRPr sz="975" b="0">
                <a:solidFill>
                  <a:srgbClr val="A9C1D2"/>
                </a:solidFill>
              </a:defRPr>
            </a:pPr>
            <a:r>
              <a:rPr sz="975" b="0">
                <a:solidFill>
                  <a:srgbClr val="A9C1D2"/>
                </a:solidFill>
              </a:rPr>
              <a:t>and return path</a:t>
            </a:r>
          </a:p>
        </p:txBody>
      </p:sp>
      <p:sp>
        <p:nvSpPr>
          <p:cNvPr id="20" name="">
            <a:extLst xmlns:a="http://schemas.openxmlformats.org/drawingml/2006/main">
              <a:ext uri="{FF2B5EF4-FFF2-40B4-BE49-F238E27FC236}">
                <a16:creationId xmlns:a16="http://schemas.microsoft.com/office/drawing/2014/main" id="{ECFF059F-DA43-4943-AC16-F6727B64E136}"/>
              </a:ext>
            </a:extLst>
          </p:cNvPr>
          <p:cNvSpPr>
            <a:spLocks xmlns:a="http://schemas.openxmlformats.org/drawingml/2006/main" noGrp="1"/>
          </p:cNvSpPr>
          <p:nvPr/>
        </p:nvSpPr>
        <p:spPr>
          <a:xfrm xmlns:a="http://schemas.openxmlformats.org/drawingml/2006/main">
            <a:off x="2647950" y="3200400"/>
            <a:ext cx="685800"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1" name="">
            <a:extLst xmlns:a="http://schemas.openxmlformats.org/drawingml/2006/main">
              <a:ext uri="{FF2B5EF4-FFF2-40B4-BE49-F238E27FC236}">
                <a16:creationId xmlns:a16="http://schemas.microsoft.com/office/drawing/2014/main" id="{291FAF15-5389-4F12-BF28-AB9B51FD38D3}"/>
              </a:ext>
            </a:extLst>
          </p:cNvPr>
          <p:cNvSpPr>
            <a:spLocks xmlns:a="http://schemas.openxmlformats.org/drawingml/2006/main" noGrp="1"/>
          </p:cNvSpPr>
          <p:nvPr/>
        </p:nvSpPr>
        <p:spPr>
          <a:xfrm xmlns:a="http://schemas.openxmlformats.org/drawingml/2006/main">
            <a:off x="5715000" y="2800350"/>
            <a:ext cx="8572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2" name="">
            <a:extLst xmlns:a="http://schemas.openxmlformats.org/drawingml/2006/main">
              <a:ext uri="{FF2B5EF4-FFF2-40B4-BE49-F238E27FC236}">
                <a16:creationId xmlns:a16="http://schemas.microsoft.com/office/drawing/2014/main" id="{B799D475-4263-4D3B-BF52-D21201F49444}"/>
              </a:ext>
            </a:extLst>
          </p:cNvPr>
          <p:cNvSpPr>
            <a:spLocks xmlns:a="http://schemas.openxmlformats.org/drawingml/2006/main" noGrp="1"/>
          </p:cNvSpPr>
          <p:nvPr/>
        </p:nvSpPr>
        <p:spPr>
          <a:xfrm xmlns:a="http://schemas.openxmlformats.org/drawingml/2006/main">
            <a:off x="8763000" y="3200400"/>
            <a:ext cx="762000" cy="381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23" name="">
            <a:extLst xmlns:a="http://schemas.openxmlformats.org/drawingml/2006/main">
              <a:ext uri="{FF2B5EF4-FFF2-40B4-BE49-F238E27FC236}">
                <a16:creationId xmlns:a16="http://schemas.microsoft.com/office/drawing/2014/main" id="{C0D48DE7-1C73-4E20-BBCB-D98B038DA07B}"/>
              </a:ext>
            </a:extLst>
          </p:cNvPr>
          <p:cNvSpPr>
            <a:spLocks xmlns:a="http://schemas.openxmlformats.org/drawingml/2006/main" noGrp="1"/>
          </p:cNvSpPr>
          <p:nvPr/>
        </p:nvSpPr>
        <p:spPr>
          <a:xfrm xmlns:a="http://schemas.openxmlformats.org/drawingml/2006/main">
            <a:off x="971550" y="4038600"/>
            <a:ext cx="142875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75225D3-9CC7-444B-A216-2D60ED41DC53}"/>
              </a:ext>
            </a:extLst>
          </p:cNvPr>
          <p:cNvSpPr>
            <a:spLocks xmlns:a="http://schemas.openxmlformats.org/drawingml/2006/main" noGrp="1"/>
          </p:cNvSpPr>
          <p:nvPr/>
        </p:nvSpPr>
        <p:spPr>
          <a:xfrm xmlns:a="http://schemas.openxmlformats.org/drawingml/2006/main">
            <a:off x="1085850" y="410527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ACCESS VLANs</a:t>
            </a:r>
          </a:p>
        </p:txBody>
      </p:sp>
      <p:sp>
        <p:nvSpPr>
          <p:cNvPr id="25" name="">
            <a:extLst xmlns:a="http://schemas.openxmlformats.org/drawingml/2006/main">
              <a:ext uri="{FF2B5EF4-FFF2-40B4-BE49-F238E27FC236}">
                <a16:creationId xmlns:a16="http://schemas.microsoft.com/office/drawing/2014/main" id="{0937D910-7F09-46AF-B34B-45F905D80298}"/>
              </a:ext>
            </a:extLst>
          </p:cNvPr>
          <p:cNvSpPr>
            <a:spLocks xmlns:a="http://schemas.openxmlformats.org/drawingml/2006/main" noGrp="1"/>
          </p:cNvSpPr>
          <p:nvPr/>
        </p:nvSpPr>
        <p:spPr>
          <a:xfrm xmlns:a="http://schemas.openxmlformats.org/drawingml/2006/main">
            <a:off x="3733800" y="4038600"/>
            <a:ext cx="163830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8EAE7DA-6E1E-4B3D-B768-D1ABDECFAA80}"/>
              </a:ext>
            </a:extLst>
          </p:cNvPr>
          <p:cNvSpPr>
            <a:spLocks xmlns:a="http://schemas.openxmlformats.org/drawingml/2006/main" noGrp="1"/>
          </p:cNvSpPr>
          <p:nvPr/>
        </p:nvSpPr>
        <p:spPr>
          <a:xfrm xmlns:a="http://schemas.openxmlformats.org/drawingml/2006/main">
            <a:off x="3848100" y="4105275"/>
            <a:ext cx="14097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172.31.255.0/29</a:t>
            </a:r>
          </a:p>
        </p:txBody>
      </p:sp>
      <p:sp>
        <p:nvSpPr>
          <p:cNvPr id="27" name="">
            <a:extLst xmlns:a="http://schemas.openxmlformats.org/drawingml/2006/main">
              <a:ext uri="{FF2B5EF4-FFF2-40B4-BE49-F238E27FC236}">
                <a16:creationId xmlns:a16="http://schemas.microsoft.com/office/drawing/2014/main" id="{9733ED73-3AA0-4FBB-856A-E3C91CFE2138}"/>
              </a:ext>
            </a:extLst>
          </p:cNvPr>
          <p:cNvSpPr>
            <a:spLocks xmlns:a="http://schemas.openxmlformats.org/drawingml/2006/main" noGrp="1"/>
          </p:cNvSpPr>
          <p:nvPr/>
        </p:nvSpPr>
        <p:spPr>
          <a:xfrm xmlns:a="http://schemas.openxmlformats.org/drawingml/2006/main">
            <a:off x="6762750" y="4038600"/>
            <a:ext cx="182880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45F6693-1A8A-4D71-A898-76A10EF60EF9}"/>
              </a:ext>
            </a:extLst>
          </p:cNvPr>
          <p:cNvSpPr>
            <a:spLocks xmlns:a="http://schemas.openxmlformats.org/drawingml/2006/main" noGrp="1"/>
          </p:cNvSpPr>
          <p:nvPr/>
        </p:nvSpPr>
        <p:spPr>
          <a:xfrm xmlns:a="http://schemas.openxmlformats.org/drawingml/2006/main">
            <a:off x="6877050" y="4105275"/>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192.168.88.12 / .13</a:t>
            </a:r>
          </a:p>
        </p:txBody>
      </p:sp>
      <p:sp>
        <p:nvSpPr>
          <p:cNvPr id="29" name="">
            <a:extLst xmlns:a="http://schemas.openxmlformats.org/drawingml/2006/main">
              <a:ext uri="{FF2B5EF4-FFF2-40B4-BE49-F238E27FC236}">
                <a16:creationId xmlns:a16="http://schemas.microsoft.com/office/drawing/2014/main" id="{DE7A742F-340F-46AD-BD0F-BC909A0BBE00}"/>
              </a:ext>
            </a:extLst>
          </p:cNvPr>
          <p:cNvSpPr>
            <a:spLocks xmlns:a="http://schemas.openxmlformats.org/drawingml/2006/main" noGrp="1"/>
          </p:cNvSpPr>
          <p:nvPr/>
        </p:nvSpPr>
        <p:spPr>
          <a:xfrm xmlns:a="http://schemas.openxmlformats.org/drawingml/2006/main">
            <a:off x="10020300" y="4038600"/>
            <a:ext cx="85725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709E0FB-A0A1-4EE5-B692-79D7C0D5AFEE}"/>
              </a:ext>
            </a:extLst>
          </p:cNvPr>
          <p:cNvSpPr>
            <a:spLocks xmlns:a="http://schemas.openxmlformats.org/drawingml/2006/main" noGrp="1"/>
          </p:cNvSpPr>
          <p:nvPr/>
        </p:nvSpPr>
        <p:spPr>
          <a:xfrm xmlns:a="http://schemas.openxmlformats.org/drawingml/2006/main">
            <a:off x="10134600" y="410527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BGP</a:t>
            </a:r>
          </a:p>
        </p:txBody>
      </p:sp>
      <p:sp>
        <p:nvSpPr>
          <p:cNvPr id="31" name="">
            <a:extLst xmlns:a="http://schemas.openxmlformats.org/drawingml/2006/main">
              <a:ext uri="{FF2B5EF4-FFF2-40B4-BE49-F238E27FC236}">
                <a16:creationId xmlns:a16="http://schemas.microsoft.com/office/drawing/2014/main" id="{5A11103E-1238-4F3A-88A9-C5B3D4845E26}"/>
              </a:ext>
            </a:extLst>
          </p:cNvPr>
          <p:cNvSpPr>
            <a:spLocks xmlns:a="http://schemas.openxmlformats.org/drawingml/2006/main" noGrp="1"/>
          </p:cNvSpPr>
          <p:nvPr/>
        </p:nvSpPr>
        <p:spPr>
          <a:xfrm xmlns:a="http://schemas.openxmlformats.org/drawingml/2006/main">
            <a:off x="2714625" y="4857750"/>
            <a:ext cx="6858000" cy="838200"/>
          </a:xfrm>
          <a:prstGeom xmlns:a="http://schemas.openxmlformats.org/drawingml/2006/main" prst="roundRect">
            <a:avLst>
              <a:gd name="adj" fmla="val 13636"/>
            </a:avLst>
          </a:prstGeom>
          <a:solidFill xmlns:a="http://schemas.openxmlformats.org/drawingml/2006/main">
            <a:srgbClr val="102C41"/>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2334389-3913-4219-8CBB-546FF19F34ED}"/>
              </a:ext>
            </a:extLst>
          </p:cNvPr>
          <p:cNvSpPr>
            <a:spLocks xmlns:a="http://schemas.openxmlformats.org/drawingml/2006/main" noGrp="1"/>
          </p:cNvSpPr>
          <p:nvPr/>
        </p:nvSpPr>
        <p:spPr>
          <a:xfrm xmlns:a="http://schemas.openxmlformats.org/drawingml/2006/main">
            <a:off x="3000375" y="5067300"/>
            <a:ext cx="628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Kubernetes supplies placement, restart, configuration, secrets, and observability.</a:t>
            </a:r>
          </a:p>
        </p:txBody>
      </p:sp>
      <p:sp>
        <p:nvSpPr>
          <p:cNvPr id="33" name="">
            <a:extLst xmlns:a="http://schemas.openxmlformats.org/drawingml/2006/main">
              <a:ext uri="{FF2B5EF4-FFF2-40B4-BE49-F238E27FC236}">
                <a16:creationId xmlns:a16="http://schemas.microsoft.com/office/drawing/2014/main" id="{7E984343-0836-4CC2-B22E-22B80EEDA091}"/>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4" name="">
            <a:extLst xmlns:a="http://schemas.openxmlformats.org/drawingml/2006/main">
              <a:ext uri="{FF2B5EF4-FFF2-40B4-BE49-F238E27FC236}">
                <a16:creationId xmlns:a16="http://schemas.microsoft.com/office/drawing/2014/main" id="{7F09609A-33BC-4B3A-B73C-E80CD8546943}"/>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Lab defaults: FRR-A 192.168.88.12/24 and FRR-B 192.168.88.13/24.</a:t>
            </a:r>
          </a:p>
        </p:txBody>
      </p:sp>
      <p:sp>
        <p:nvSpPr>
          <p:cNvPr id="35" name="">
            <a:extLst xmlns:a="http://schemas.openxmlformats.org/drawingml/2006/main">
              <a:ext uri="{FF2B5EF4-FFF2-40B4-BE49-F238E27FC236}">
                <a16:creationId xmlns:a16="http://schemas.microsoft.com/office/drawing/2014/main" id="{16D33F81-3523-4B0D-A2F7-39D4BF10331D}"/>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03</a:t>
            </a:r>
          </a:p>
        </p:txBody>
      </p:sp>
    </p:spTree>
    <p:extLst>
      <p:ext uri="{BB962C8B-B14F-4D97-AF65-F5344CB8AC3E}">
        <p14:creationId xmlns:p14="http://schemas.microsoft.com/office/powerpoint/2010/main" val="1180467466"/>
      </p:ext>
    </p:extLst>
  </p:cSld>
</p:sld>
</file>

<file path=ppt/slides/slide4.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C406E061-3AFD-480C-A67E-24795E6C89CA}"/>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3 • THE PACKET WALK</a:t>
            </a:r>
          </a:p>
        </p:txBody>
      </p:sp>
      <p:sp>
        <p:nvSpPr>
          <p:cNvPr id="2" name="">
            <a:extLst xmlns:a="http://schemas.openxmlformats.org/drawingml/2006/main">
              <a:ext uri="{FF2B5EF4-FFF2-40B4-BE49-F238E27FC236}">
                <a16:creationId xmlns:a16="http://schemas.microsoft.com/office/drawing/2014/main" id="{17A3983F-05CB-49B0-8457-8AC28CE35216}"/>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From a subscriber packet to the internet and back</a:t>
            </a:r>
          </a:p>
        </p:txBody>
      </p:sp>
      <p:sp>
        <p:nvSpPr>
          <p:cNvPr id="3" name="">
            <a:extLst xmlns:a="http://schemas.openxmlformats.org/drawingml/2006/main">
              <a:ext uri="{FF2B5EF4-FFF2-40B4-BE49-F238E27FC236}">
                <a16:creationId xmlns:a16="http://schemas.microsoft.com/office/drawing/2014/main" id="{AC5A647D-1B6D-460A-9FA8-21075B6A0954}"/>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The route exchange is as important as the fast path.</a:t>
            </a:r>
          </a:p>
        </p:txBody>
      </p:sp>
      <p:sp>
        <p:nvSpPr>
          <p:cNvPr id="4" name="">
            <a:extLst xmlns:a="http://schemas.openxmlformats.org/drawingml/2006/main">
              <a:ext uri="{FF2B5EF4-FFF2-40B4-BE49-F238E27FC236}">
                <a16:creationId xmlns:a16="http://schemas.microsoft.com/office/drawing/2014/main" id="{A7D90434-24F2-43D5-8FCF-9F1ADB379147}"/>
              </a:ext>
            </a:extLst>
          </p:cNvPr>
          <p:cNvSpPr>
            <a:spLocks xmlns:a="http://schemas.openxmlformats.org/drawingml/2006/main" noGrp="1"/>
          </p:cNvSpPr>
          <p:nvPr/>
        </p:nvSpPr>
        <p:spPr>
          <a:xfrm xmlns:a="http://schemas.openxmlformats.org/drawingml/2006/main">
            <a:off x="52387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2366AC08-41B5-41EF-9473-CFBCC16E8EE8}"/>
              </a:ext>
            </a:extLst>
          </p:cNvPr>
          <p:cNvSpPr>
            <a:spLocks xmlns:a="http://schemas.openxmlformats.org/drawingml/2006/main" noGrp="1"/>
          </p:cNvSpPr>
          <p:nvPr/>
        </p:nvSpPr>
        <p:spPr>
          <a:xfrm xmlns:a="http://schemas.openxmlformats.org/drawingml/2006/main">
            <a:off x="69532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D031843-C90B-41F7-8CA4-ABED6CFD193D}"/>
              </a:ext>
            </a:extLst>
          </p:cNvPr>
          <p:cNvSpPr>
            <a:spLocks xmlns:a="http://schemas.openxmlformats.org/drawingml/2006/main" noGrp="1"/>
          </p:cNvSpPr>
          <p:nvPr/>
        </p:nvSpPr>
        <p:spPr>
          <a:xfrm xmlns:a="http://schemas.openxmlformats.org/drawingml/2006/main">
            <a:off x="8096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1</a:t>
            </a:r>
          </a:p>
        </p:txBody>
      </p:sp>
      <p:sp>
        <p:nvSpPr>
          <p:cNvPr id="7" name="">
            <a:extLst xmlns:a="http://schemas.openxmlformats.org/drawingml/2006/main">
              <a:ext uri="{FF2B5EF4-FFF2-40B4-BE49-F238E27FC236}">
                <a16:creationId xmlns:a16="http://schemas.microsoft.com/office/drawing/2014/main" id="{F97EB0AB-4614-4DF9-A4CC-6E4CBD707E0E}"/>
              </a:ext>
            </a:extLst>
          </p:cNvPr>
          <p:cNvSpPr>
            <a:spLocks xmlns:a="http://schemas.openxmlformats.org/drawingml/2006/main" noGrp="1"/>
          </p:cNvSpPr>
          <p:nvPr/>
        </p:nvSpPr>
        <p:spPr>
          <a:xfrm xmlns:a="http://schemas.openxmlformats.org/drawingml/2006/main">
            <a:off x="6953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Attach</a:t>
            </a:r>
          </a:p>
        </p:txBody>
      </p:sp>
      <p:sp>
        <p:nvSpPr>
          <p:cNvPr id="8" name="">
            <a:extLst xmlns:a="http://schemas.openxmlformats.org/drawingml/2006/main">
              <a:ext uri="{FF2B5EF4-FFF2-40B4-BE49-F238E27FC236}">
                <a16:creationId xmlns:a16="http://schemas.microsoft.com/office/drawing/2014/main" id="{4CC00818-506D-4511-AD67-7B37F92174A5}"/>
              </a:ext>
            </a:extLst>
          </p:cNvPr>
          <p:cNvSpPr>
            <a:spLocks xmlns:a="http://schemas.openxmlformats.org/drawingml/2006/main" noGrp="1"/>
          </p:cNvSpPr>
          <p:nvPr/>
        </p:nvSpPr>
        <p:spPr>
          <a:xfrm xmlns:a="http://schemas.openxmlformats.org/drawingml/2006/main">
            <a:off x="6953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DHCP / IPoE</a:t>
            </a:r>
          </a:p>
          <a:p xmlns:a="http://schemas.openxmlformats.org/drawingml/2006/main">
            <a:pPr algn="l">
              <a:defRPr sz="1125" b="0">
                <a:solidFill>
                  <a:srgbClr val="A9C1D2"/>
                </a:solidFill>
              </a:defRPr>
            </a:pPr>
            <a:r>
              <a:rPr sz="1125" b="0">
                <a:solidFill>
                  <a:srgbClr val="A9C1D2"/>
                </a:solidFill>
              </a:rPr>
              <a:t>creates a UE session</a:t>
            </a:r>
          </a:p>
        </p:txBody>
      </p:sp>
      <p:sp>
        <p:nvSpPr>
          <p:cNvPr id="9" name="">
            <a:extLst xmlns:a="http://schemas.openxmlformats.org/drawingml/2006/main">
              <a:ext uri="{FF2B5EF4-FFF2-40B4-BE49-F238E27FC236}">
                <a16:creationId xmlns:a16="http://schemas.microsoft.com/office/drawing/2014/main" id="{5F73567C-E395-4B1E-87E8-C74E97D9E0C0}"/>
              </a:ext>
            </a:extLst>
          </p:cNvPr>
          <p:cNvSpPr>
            <a:spLocks xmlns:a="http://schemas.openxmlformats.org/drawingml/2006/main" noGrp="1"/>
          </p:cNvSpPr>
          <p:nvPr/>
        </p:nvSpPr>
        <p:spPr>
          <a:xfrm xmlns:a="http://schemas.openxmlformats.org/drawingml/2006/main">
            <a:off x="250507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0" name="">
            <a:extLst xmlns:a="http://schemas.openxmlformats.org/drawingml/2006/main">
              <a:ext uri="{FF2B5EF4-FFF2-40B4-BE49-F238E27FC236}">
                <a16:creationId xmlns:a16="http://schemas.microsoft.com/office/drawing/2014/main" id="{6D8C7DDA-A11E-4086-B25D-CC1966801E4B}"/>
              </a:ext>
            </a:extLst>
          </p:cNvPr>
          <p:cNvSpPr>
            <a:spLocks xmlns:a="http://schemas.openxmlformats.org/drawingml/2006/main" noGrp="1"/>
          </p:cNvSpPr>
          <p:nvPr/>
        </p:nvSpPr>
        <p:spPr>
          <a:xfrm xmlns:a="http://schemas.openxmlformats.org/drawingml/2006/main">
            <a:off x="282892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11" name="">
            <a:extLst xmlns:a="http://schemas.openxmlformats.org/drawingml/2006/main">
              <a:ext uri="{FF2B5EF4-FFF2-40B4-BE49-F238E27FC236}">
                <a16:creationId xmlns:a16="http://schemas.microsoft.com/office/drawing/2014/main" id="{1EA6782E-1FE8-4655-8D5D-88890463BC6C}"/>
              </a:ext>
            </a:extLst>
          </p:cNvPr>
          <p:cNvSpPr>
            <a:spLocks xmlns:a="http://schemas.openxmlformats.org/drawingml/2006/main" noGrp="1"/>
          </p:cNvSpPr>
          <p:nvPr/>
        </p:nvSpPr>
        <p:spPr>
          <a:xfrm xmlns:a="http://schemas.openxmlformats.org/drawingml/2006/main">
            <a:off x="300037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1A04D5A-F5F7-404E-BAE5-6BDC946F0628}"/>
              </a:ext>
            </a:extLst>
          </p:cNvPr>
          <p:cNvSpPr>
            <a:spLocks xmlns:a="http://schemas.openxmlformats.org/drawingml/2006/main" noGrp="1"/>
          </p:cNvSpPr>
          <p:nvPr/>
        </p:nvSpPr>
        <p:spPr>
          <a:xfrm xmlns:a="http://schemas.openxmlformats.org/drawingml/2006/main">
            <a:off x="311467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2</a:t>
            </a:r>
          </a:p>
        </p:txBody>
      </p:sp>
      <p:sp>
        <p:nvSpPr>
          <p:cNvPr id="13" name="">
            <a:extLst xmlns:a="http://schemas.openxmlformats.org/drawingml/2006/main">
              <a:ext uri="{FF2B5EF4-FFF2-40B4-BE49-F238E27FC236}">
                <a16:creationId xmlns:a16="http://schemas.microsoft.com/office/drawing/2014/main" id="{7A91677B-E71A-465A-B2D9-8FB64BC8CB16}"/>
              </a:ext>
            </a:extLst>
          </p:cNvPr>
          <p:cNvSpPr>
            <a:spLocks xmlns:a="http://schemas.openxmlformats.org/drawingml/2006/main" noGrp="1"/>
          </p:cNvSpPr>
          <p:nvPr/>
        </p:nvSpPr>
        <p:spPr>
          <a:xfrm xmlns:a="http://schemas.openxmlformats.org/drawingml/2006/main">
            <a:off x="300037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Classify</a:t>
            </a:r>
          </a:p>
        </p:txBody>
      </p:sp>
      <p:sp>
        <p:nvSpPr>
          <p:cNvPr id="14" name="">
            <a:extLst xmlns:a="http://schemas.openxmlformats.org/drawingml/2006/main">
              <a:ext uri="{FF2B5EF4-FFF2-40B4-BE49-F238E27FC236}">
                <a16:creationId xmlns:a16="http://schemas.microsoft.com/office/drawing/2014/main" id="{88E7731E-0327-4CDB-8AB3-434421B6F182}"/>
              </a:ext>
            </a:extLst>
          </p:cNvPr>
          <p:cNvSpPr>
            <a:spLocks xmlns:a="http://schemas.openxmlformats.org/drawingml/2006/main" noGrp="1"/>
          </p:cNvSpPr>
          <p:nvPr/>
        </p:nvSpPr>
        <p:spPr>
          <a:xfrm xmlns:a="http://schemas.openxmlformats.org/drawingml/2006/main">
            <a:off x="300037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VLAN and policy</a:t>
            </a:r>
          </a:p>
          <a:p xmlns:a="http://schemas.openxmlformats.org/drawingml/2006/main">
            <a:pPr algn="l">
              <a:defRPr sz="1125" b="0">
                <a:solidFill>
                  <a:srgbClr val="A9C1D2"/>
                </a:solidFill>
              </a:defRPr>
            </a:pPr>
            <a:r>
              <a:rPr sz="1125" b="0">
                <a:solidFill>
                  <a:srgbClr val="A9C1D2"/>
                </a:solidFill>
              </a:rPr>
              <a:t>select service</a:t>
            </a:r>
          </a:p>
        </p:txBody>
      </p:sp>
      <p:sp>
        <p:nvSpPr>
          <p:cNvPr id="15" name="">
            <a:extLst xmlns:a="http://schemas.openxmlformats.org/drawingml/2006/main">
              <a:ext uri="{FF2B5EF4-FFF2-40B4-BE49-F238E27FC236}">
                <a16:creationId xmlns:a16="http://schemas.microsoft.com/office/drawing/2014/main" id="{AE0D575C-2507-417F-8948-D85CCCD97E0D}"/>
              </a:ext>
            </a:extLst>
          </p:cNvPr>
          <p:cNvSpPr>
            <a:spLocks xmlns:a="http://schemas.openxmlformats.org/drawingml/2006/main" noGrp="1"/>
          </p:cNvSpPr>
          <p:nvPr/>
        </p:nvSpPr>
        <p:spPr>
          <a:xfrm xmlns:a="http://schemas.openxmlformats.org/drawingml/2006/main">
            <a:off x="481012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6" name="">
            <a:extLst xmlns:a="http://schemas.openxmlformats.org/drawingml/2006/main">
              <a:ext uri="{FF2B5EF4-FFF2-40B4-BE49-F238E27FC236}">
                <a16:creationId xmlns:a16="http://schemas.microsoft.com/office/drawing/2014/main" id="{C65FBE4A-8D02-487A-BE8F-4FDEEB1AA5D4}"/>
              </a:ext>
            </a:extLst>
          </p:cNvPr>
          <p:cNvSpPr>
            <a:spLocks xmlns:a="http://schemas.openxmlformats.org/drawingml/2006/main" noGrp="1"/>
          </p:cNvSpPr>
          <p:nvPr/>
        </p:nvSpPr>
        <p:spPr>
          <a:xfrm xmlns:a="http://schemas.openxmlformats.org/drawingml/2006/main">
            <a:off x="5133975" y="2381250"/>
            <a:ext cx="1981200" cy="2000250"/>
          </a:xfrm>
          <a:prstGeom xmlns:a="http://schemas.openxmlformats.org/drawingml/2006/main" prst="roundRect">
            <a:avLst>
              <a:gd name="adj" fmla="val 7692"/>
            </a:avLst>
          </a:prstGeom>
          <a:solidFill xmlns:a="http://schemas.openxmlformats.org/drawingml/2006/main">
            <a:srgbClr val="123A49"/>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08FFAAEE-6FB4-4B7A-9A8C-B29593AEE817}"/>
              </a:ext>
            </a:extLst>
          </p:cNvPr>
          <p:cNvSpPr>
            <a:spLocks xmlns:a="http://schemas.openxmlformats.org/drawingml/2006/main" noGrp="1"/>
          </p:cNvSpPr>
          <p:nvPr/>
        </p:nvSpPr>
        <p:spPr>
          <a:xfrm xmlns:a="http://schemas.openxmlformats.org/drawingml/2006/main">
            <a:off x="5305425" y="2571750"/>
            <a:ext cx="40005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642354F-C63C-427F-BB9A-6552A50C5FA9}"/>
              </a:ext>
            </a:extLst>
          </p:cNvPr>
          <p:cNvSpPr>
            <a:spLocks xmlns:a="http://schemas.openxmlformats.org/drawingml/2006/main" noGrp="1"/>
          </p:cNvSpPr>
          <p:nvPr/>
        </p:nvSpPr>
        <p:spPr>
          <a:xfrm xmlns:a="http://schemas.openxmlformats.org/drawingml/2006/main">
            <a:off x="54197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3</a:t>
            </a:r>
          </a:p>
        </p:txBody>
      </p:sp>
      <p:sp>
        <p:nvSpPr>
          <p:cNvPr id="19" name="">
            <a:extLst xmlns:a="http://schemas.openxmlformats.org/drawingml/2006/main">
              <a:ext uri="{FF2B5EF4-FFF2-40B4-BE49-F238E27FC236}">
                <a16:creationId xmlns:a16="http://schemas.microsoft.com/office/drawing/2014/main" id="{0C104FDA-08DF-4C5A-A238-16442E1DBB5F}"/>
              </a:ext>
            </a:extLst>
          </p:cNvPr>
          <p:cNvSpPr>
            <a:spLocks xmlns:a="http://schemas.openxmlformats.org/drawingml/2006/main" noGrp="1"/>
          </p:cNvSpPr>
          <p:nvPr/>
        </p:nvSpPr>
        <p:spPr>
          <a:xfrm xmlns:a="http://schemas.openxmlformats.org/drawingml/2006/main">
            <a:off x="53054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Translate</a:t>
            </a:r>
          </a:p>
        </p:txBody>
      </p:sp>
      <p:sp>
        <p:nvSpPr>
          <p:cNvPr id="20" name="">
            <a:extLst xmlns:a="http://schemas.openxmlformats.org/drawingml/2006/main">
              <a:ext uri="{FF2B5EF4-FFF2-40B4-BE49-F238E27FC236}">
                <a16:creationId xmlns:a16="http://schemas.microsoft.com/office/drawing/2014/main" id="{CB674793-1D02-4855-BA6A-0F9E419E7370}"/>
              </a:ext>
            </a:extLst>
          </p:cNvPr>
          <p:cNvSpPr>
            <a:spLocks xmlns:a="http://schemas.openxmlformats.org/drawingml/2006/main" noGrp="1"/>
          </p:cNvSpPr>
          <p:nvPr/>
        </p:nvSpPr>
        <p:spPr>
          <a:xfrm xmlns:a="http://schemas.openxmlformats.org/drawingml/2006/main">
            <a:off x="53054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CGNAT maps UE</a:t>
            </a:r>
          </a:p>
          <a:p xmlns:a="http://schemas.openxmlformats.org/drawingml/2006/main">
            <a:pPr algn="l">
              <a:defRPr sz="1125" b="0">
                <a:solidFill>
                  <a:srgbClr val="A9C1D2"/>
                </a:solidFill>
              </a:defRPr>
            </a:pPr>
            <a:r>
              <a:rPr sz="1125" b="0">
                <a:solidFill>
                  <a:srgbClr val="A9C1D2"/>
                </a:solidFill>
              </a:rPr>
              <a:t>to public pool</a:t>
            </a:r>
          </a:p>
        </p:txBody>
      </p:sp>
      <p:sp>
        <p:nvSpPr>
          <p:cNvPr id="21" name="">
            <a:extLst xmlns:a="http://schemas.openxmlformats.org/drawingml/2006/main">
              <a:ext uri="{FF2B5EF4-FFF2-40B4-BE49-F238E27FC236}">
                <a16:creationId xmlns:a16="http://schemas.microsoft.com/office/drawing/2014/main" id="{4CF3FC69-CFFF-4701-985F-3BCEAB683615}"/>
              </a:ext>
            </a:extLst>
          </p:cNvPr>
          <p:cNvSpPr>
            <a:spLocks xmlns:a="http://schemas.openxmlformats.org/drawingml/2006/main" noGrp="1"/>
          </p:cNvSpPr>
          <p:nvPr/>
        </p:nvSpPr>
        <p:spPr>
          <a:xfrm xmlns:a="http://schemas.openxmlformats.org/drawingml/2006/main">
            <a:off x="7115175" y="3352800"/>
            <a:ext cx="323850"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2" name="">
            <a:extLst xmlns:a="http://schemas.openxmlformats.org/drawingml/2006/main">
              <a:ext uri="{FF2B5EF4-FFF2-40B4-BE49-F238E27FC236}">
                <a16:creationId xmlns:a16="http://schemas.microsoft.com/office/drawing/2014/main" id="{896787F6-7BB8-4274-BC1B-E778645CEA50}"/>
              </a:ext>
            </a:extLst>
          </p:cNvPr>
          <p:cNvSpPr>
            <a:spLocks xmlns:a="http://schemas.openxmlformats.org/drawingml/2006/main" noGrp="1"/>
          </p:cNvSpPr>
          <p:nvPr/>
        </p:nvSpPr>
        <p:spPr>
          <a:xfrm xmlns:a="http://schemas.openxmlformats.org/drawingml/2006/main">
            <a:off x="743902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23" name="">
            <a:extLst xmlns:a="http://schemas.openxmlformats.org/drawingml/2006/main">
              <a:ext uri="{FF2B5EF4-FFF2-40B4-BE49-F238E27FC236}">
                <a16:creationId xmlns:a16="http://schemas.microsoft.com/office/drawing/2014/main" id="{49DEA2D7-5C0E-4504-ADC9-F878FEA1D3B9}"/>
              </a:ext>
            </a:extLst>
          </p:cNvPr>
          <p:cNvSpPr>
            <a:spLocks xmlns:a="http://schemas.openxmlformats.org/drawingml/2006/main" noGrp="1"/>
          </p:cNvSpPr>
          <p:nvPr/>
        </p:nvSpPr>
        <p:spPr>
          <a:xfrm xmlns:a="http://schemas.openxmlformats.org/drawingml/2006/main">
            <a:off x="761047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C0A6946-CABE-4AB5-A596-EC5292CB6A56}"/>
              </a:ext>
            </a:extLst>
          </p:cNvPr>
          <p:cNvSpPr>
            <a:spLocks xmlns:a="http://schemas.openxmlformats.org/drawingml/2006/main" noGrp="1"/>
          </p:cNvSpPr>
          <p:nvPr/>
        </p:nvSpPr>
        <p:spPr>
          <a:xfrm xmlns:a="http://schemas.openxmlformats.org/drawingml/2006/main">
            <a:off x="772477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4</a:t>
            </a:r>
          </a:p>
        </p:txBody>
      </p:sp>
      <p:sp>
        <p:nvSpPr>
          <p:cNvPr id="25" name="">
            <a:extLst xmlns:a="http://schemas.openxmlformats.org/drawingml/2006/main">
              <a:ext uri="{FF2B5EF4-FFF2-40B4-BE49-F238E27FC236}">
                <a16:creationId xmlns:a16="http://schemas.microsoft.com/office/drawing/2014/main" id="{29BF0DC6-C55A-4C48-8624-D64DA89881CE}"/>
              </a:ext>
            </a:extLst>
          </p:cNvPr>
          <p:cNvSpPr>
            <a:spLocks xmlns:a="http://schemas.openxmlformats.org/drawingml/2006/main" noGrp="1"/>
          </p:cNvSpPr>
          <p:nvPr/>
        </p:nvSpPr>
        <p:spPr>
          <a:xfrm xmlns:a="http://schemas.openxmlformats.org/drawingml/2006/main">
            <a:off x="761047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Route</a:t>
            </a:r>
          </a:p>
        </p:txBody>
      </p:sp>
      <p:sp>
        <p:nvSpPr>
          <p:cNvPr id="26" name="">
            <a:extLst xmlns:a="http://schemas.openxmlformats.org/drawingml/2006/main">
              <a:ext uri="{FF2B5EF4-FFF2-40B4-BE49-F238E27FC236}">
                <a16:creationId xmlns:a16="http://schemas.microsoft.com/office/drawing/2014/main" id="{E9BD5AAB-A0CC-4717-B27B-D03F1C26DCB0}"/>
              </a:ext>
            </a:extLst>
          </p:cNvPr>
          <p:cNvSpPr>
            <a:spLocks xmlns:a="http://schemas.openxmlformats.org/drawingml/2006/main" noGrp="1"/>
          </p:cNvSpPr>
          <p:nvPr/>
        </p:nvSpPr>
        <p:spPr>
          <a:xfrm xmlns:a="http://schemas.openxmlformats.org/drawingml/2006/main">
            <a:off x="761047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BGP selects an</a:t>
            </a:r>
          </a:p>
          <a:p xmlns:a="http://schemas.openxmlformats.org/drawingml/2006/main">
            <a:pPr algn="l">
              <a:defRPr sz="1125" b="0">
                <a:solidFill>
                  <a:srgbClr val="A9C1D2"/>
                </a:solidFill>
              </a:defRPr>
            </a:pPr>
            <a:r>
              <a:rPr sz="1125" b="0">
                <a:solidFill>
                  <a:srgbClr val="A9C1D2"/>
                </a:solidFill>
              </a:rPr>
              <a:t>FRR next hop</a:t>
            </a:r>
          </a:p>
        </p:txBody>
      </p:sp>
      <p:sp>
        <p:nvSpPr>
          <p:cNvPr id="27" name="">
            <a:extLst xmlns:a="http://schemas.openxmlformats.org/drawingml/2006/main">
              <a:ext uri="{FF2B5EF4-FFF2-40B4-BE49-F238E27FC236}">
                <a16:creationId xmlns:a16="http://schemas.microsoft.com/office/drawing/2014/main" id="{2F6188AB-EB25-49C8-9031-1229773FE5A2}"/>
              </a:ext>
            </a:extLst>
          </p:cNvPr>
          <p:cNvSpPr>
            <a:spLocks xmlns:a="http://schemas.openxmlformats.org/drawingml/2006/main" noGrp="1"/>
          </p:cNvSpPr>
          <p:nvPr/>
        </p:nvSpPr>
        <p:spPr>
          <a:xfrm xmlns:a="http://schemas.openxmlformats.org/drawingml/2006/main">
            <a:off x="942022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8" name="">
            <a:extLst xmlns:a="http://schemas.openxmlformats.org/drawingml/2006/main">
              <a:ext uri="{FF2B5EF4-FFF2-40B4-BE49-F238E27FC236}">
                <a16:creationId xmlns:a16="http://schemas.microsoft.com/office/drawing/2014/main" id="{5676E788-B69F-4ADF-A692-F7BB82980AC7}"/>
              </a:ext>
            </a:extLst>
          </p:cNvPr>
          <p:cNvSpPr>
            <a:spLocks xmlns:a="http://schemas.openxmlformats.org/drawingml/2006/main" noGrp="1"/>
          </p:cNvSpPr>
          <p:nvPr/>
        </p:nvSpPr>
        <p:spPr>
          <a:xfrm xmlns:a="http://schemas.openxmlformats.org/drawingml/2006/main">
            <a:off x="974407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29" name="">
            <a:extLst xmlns:a="http://schemas.openxmlformats.org/drawingml/2006/main">
              <a:ext uri="{FF2B5EF4-FFF2-40B4-BE49-F238E27FC236}">
                <a16:creationId xmlns:a16="http://schemas.microsoft.com/office/drawing/2014/main" id="{E788AADA-AF11-489E-8171-A4439379655B}"/>
              </a:ext>
            </a:extLst>
          </p:cNvPr>
          <p:cNvSpPr>
            <a:spLocks xmlns:a="http://schemas.openxmlformats.org/drawingml/2006/main" noGrp="1"/>
          </p:cNvSpPr>
          <p:nvPr/>
        </p:nvSpPr>
        <p:spPr>
          <a:xfrm xmlns:a="http://schemas.openxmlformats.org/drawingml/2006/main">
            <a:off x="991552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2716A821-A134-4891-A0D4-1B835777FF21}"/>
              </a:ext>
            </a:extLst>
          </p:cNvPr>
          <p:cNvSpPr>
            <a:spLocks xmlns:a="http://schemas.openxmlformats.org/drawingml/2006/main" noGrp="1"/>
          </p:cNvSpPr>
          <p:nvPr/>
        </p:nvSpPr>
        <p:spPr>
          <a:xfrm xmlns:a="http://schemas.openxmlformats.org/drawingml/2006/main">
            <a:off x="100298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5</a:t>
            </a:r>
          </a:p>
        </p:txBody>
      </p:sp>
      <p:sp>
        <p:nvSpPr>
          <p:cNvPr id="31" name="">
            <a:extLst xmlns:a="http://schemas.openxmlformats.org/drawingml/2006/main">
              <a:ext uri="{FF2B5EF4-FFF2-40B4-BE49-F238E27FC236}">
                <a16:creationId xmlns:a16="http://schemas.microsoft.com/office/drawing/2014/main" id="{352CA6CE-A1A0-4445-87F9-B6C580C7394A}"/>
              </a:ext>
            </a:extLst>
          </p:cNvPr>
          <p:cNvSpPr>
            <a:spLocks xmlns:a="http://schemas.openxmlformats.org/drawingml/2006/main" noGrp="1"/>
          </p:cNvSpPr>
          <p:nvPr/>
        </p:nvSpPr>
        <p:spPr>
          <a:xfrm xmlns:a="http://schemas.openxmlformats.org/drawingml/2006/main">
            <a:off x="99155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Return</a:t>
            </a:r>
          </a:p>
        </p:txBody>
      </p:sp>
      <p:sp>
        <p:nvSpPr>
          <p:cNvPr id="32" name="">
            <a:extLst xmlns:a="http://schemas.openxmlformats.org/drawingml/2006/main">
              <a:ext uri="{FF2B5EF4-FFF2-40B4-BE49-F238E27FC236}">
                <a16:creationId xmlns:a16="http://schemas.microsoft.com/office/drawing/2014/main" id="{794A4C25-5DCF-42C4-AEA2-D872802C66C8}"/>
              </a:ext>
            </a:extLst>
          </p:cNvPr>
          <p:cNvSpPr>
            <a:spLocks xmlns:a="http://schemas.openxmlformats.org/drawingml/2006/main" noGrp="1"/>
          </p:cNvSpPr>
          <p:nvPr/>
        </p:nvSpPr>
        <p:spPr>
          <a:xfrm xmlns:a="http://schemas.openxmlformats.org/drawingml/2006/main">
            <a:off x="99155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MikroTik learns</a:t>
            </a:r>
          </a:p>
          <a:p xmlns:a="http://schemas.openxmlformats.org/drawingml/2006/main">
            <a:pPr algn="l">
              <a:defRPr sz="1125" b="0">
                <a:solidFill>
                  <a:srgbClr val="A9C1D2"/>
                </a:solidFill>
              </a:defRPr>
            </a:pPr>
            <a:r>
              <a:rPr sz="1125" b="0">
                <a:solidFill>
                  <a:srgbClr val="A9C1D2"/>
                </a:solidFill>
              </a:rPr>
              <a:t>the CGNAT prefix</a:t>
            </a:r>
          </a:p>
        </p:txBody>
      </p:sp>
      <p:sp>
        <p:nvSpPr>
          <p:cNvPr id="33" name="">
            <a:extLst xmlns:a="http://schemas.openxmlformats.org/drawingml/2006/main">
              <a:ext uri="{FF2B5EF4-FFF2-40B4-BE49-F238E27FC236}">
                <a16:creationId xmlns:a16="http://schemas.microsoft.com/office/drawing/2014/main" id="{75A8AA4B-D986-426C-A7FE-F2DC6C48F97F}"/>
              </a:ext>
            </a:extLst>
          </p:cNvPr>
          <p:cNvSpPr>
            <a:spLocks xmlns:a="http://schemas.openxmlformats.org/drawingml/2006/main" noGrp="1"/>
          </p:cNvSpPr>
          <p:nvPr/>
        </p:nvSpPr>
        <p:spPr>
          <a:xfrm xmlns:a="http://schemas.openxmlformats.org/drawingml/2006/main">
            <a:off x="1619250" y="4810125"/>
            <a:ext cx="8953500" cy="800100"/>
          </a:xfrm>
          <a:prstGeom xmlns:a="http://schemas.openxmlformats.org/drawingml/2006/main" prst="roundRect">
            <a:avLst>
              <a:gd name="adj" fmla="val 14286"/>
            </a:avLst>
          </a:prstGeom>
          <a:solidFill xmlns:a="http://schemas.openxmlformats.org/drawingml/2006/main">
            <a:srgbClr val="102C41"/>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01197200-75DC-419E-9E0B-538A4BAE0C24}"/>
              </a:ext>
            </a:extLst>
          </p:cNvPr>
          <p:cNvSpPr>
            <a:spLocks xmlns:a="http://schemas.openxmlformats.org/drawingml/2006/main" noGrp="1"/>
          </p:cNvSpPr>
          <p:nvPr/>
        </p:nvSpPr>
        <p:spPr>
          <a:xfrm xmlns:a="http://schemas.openxmlformats.org/drawingml/2006/main">
            <a:off x="1857375" y="5010150"/>
            <a:ext cx="1190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F9D42"/>
                </a:solidFill>
              </a:defRPr>
            </a:defPPr>
          </a:lstStyle>
          <a:p xmlns:a="http://schemas.openxmlformats.org/drawingml/2006/main">
            <a:pPr algn="l">
              <a:defRPr sz="1275" b="1">
                <a:solidFill>
                  <a:srgbClr val="FF9D42"/>
                </a:solidFill>
              </a:defRPr>
            </a:pPr>
            <a:r>
              <a:rPr sz="1275" b="1">
                <a:solidFill>
                  <a:srgbClr val="FF9D42"/>
                </a:solidFill>
              </a:rPr>
              <a:t>Proof point</a:t>
            </a:r>
          </a:p>
        </p:txBody>
      </p:sp>
      <p:sp>
        <p:nvSpPr>
          <p:cNvPr id="35" name="">
            <a:extLst xmlns:a="http://schemas.openxmlformats.org/drawingml/2006/main">
              <a:ext uri="{FF2B5EF4-FFF2-40B4-BE49-F238E27FC236}">
                <a16:creationId xmlns:a16="http://schemas.microsoft.com/office/drawing/2014/main" id="{F90DE3E0-2247-43A7-BDC6-D22EA2290AB3}"/>
              </a:ext>
            </a:extLst>
          </p:cNvPr>
          <p:cNvSpPr>
            <a:spLocks xmlns:a="http://schemas.openxmlformats.org/drawingml/2006/main" noGrp="1"/>
          </p:cNvSpPr>
          <p:nvPr/>
        </p:nvSpPr>
        <p:spPr>
          <a:xfrm xmlns:a="http://schemas.openxmlformats.org/drawingml/2006/main">
            <a:off x="3143250" y="4953000"/>
            <a:ext cx="714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00" b="1">
                <a:solidFill>
                  <a:srgbClr val="F7FBFF"/>
                </a:solidFill>
              </a:defRPr>
            </a:defPPr>
          </a:lstStyle>
          <a:p xmlns:a="http://schemas.openxmlformats.org/drawingml/2006/main">
            <a:pPr algn="l">
              <a:defRPr sz="1500" b="1">
                <a:solidFill>
                  <a:srgbClr val="F7FBFF"/>
                </a:solidFill>
              </a:defRPr>
            </a:pPr>
            <a:r>
              <a:rPr sz="1500" b="1">
                <a:solidFill>
                  <a:srgbClr val="F7FBFF"/>
                </a:solidFill>
              </a:rPr>
              <a:t>A successful ping validates session state, CGNAT, BGP, the upstream default, and the return route.</a:t>
            </a:r>
          </a:p>
        </p:txBody>
      </p:sp>
      <p:sp>
        <p:nvSpPr>
          <p:cNvPr id="36" name="">
            <a:extLst xmlns:a="http://schemas.openxmlformats.org/drawingml/2006/main">
              <a:ext uri="{FF2B5EF4-FFF2-40B4-BE49-F238E27FC236}">
                <a16:creationId xmlns:a16="http://schemas.microsoft.com/office/drawing/2014/main" id="{20146B03-A9F0-4CA6-8871-0EE0CBF806CA}"/>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7" name="">
            <a:extLst xmlns:a="http://schemas.openxmlformats.org/drawingml/2006/main">
              <a:ext uri="{FF2B5EF4-FFF2-40B4-BE49-F238E27FC236}">
                <a16:creationId xmlns:a16="http://schemas.microsoft.com/office/drawing/2014/main" id="{53325828-E0D3-4218-BB48-ED8DD3B66ACD}"/>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Validation uses live BGP summaries, routes, pod interfaces, and subscriber traffic.</a:t>
            </a:r>
          </a:p>
        </p:txBody>
      </p:sp>
      <p:sp>
        <p:nvSpPr>
          <p:cNvPr id="38" name="">
            <a:extLst xmlns:a="http://schemas.openxmlformats.org/drawingml/2006/main">
              <a:ext uri="{FF2B5EF4-FFF2-40B4-BE49-F238E27FC236}">
                <a16:creationId xmlns:a16="http://schemas.microsoft.com/office/drawing/2014/main" id="{CF1BD6FD-ECFF-45E2-B0E1-ABEA94A7A027}"/>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04</a:t>
            </a:r>
          </a:p>
        </p:txBody>
      </p:sp>
    </p:spTree>
    <p:extLst>
      <p:ext uri="{BB962C8B-B14F-4D97-AF65-F5344CB8AC3E}">
        <p14:creationId xmlns:p14="http://schemas.microsoft.com/office/powerpoint/2010/main" val="1368876300"/>
      </p:ext>
    </p:extLst>
  </p:cSld>
</p:sld>
</file>

<file path=ppt/slides/slide5.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40A651E-63C6-4E2D-B3EA-34A481BDCA2A}"/>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4 • WHY THIS IS PRACTICAL NOW</a:t>
            </a:r>
          </a:p>
        </p:txBody>
      </p:sp>
      <p:sp>
        <p:nvSpPr>
          <p:cNvPr id="2" name="">
            <a:extLst xmlns:a="http://schemas.openxmlformats.org/drawingml/2006/main">
              <a:ext uri="{FF2B5EF4-FFF2-40B4-BE49-F238E27FC236}">
                <a16:creationId xmlns:a16="http://schemas.microsoft.com/office/drawing/2014/main" id="{1F4FE75B-2825-4D4D-9719-D0C0BD428E22}"/>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The NIC is becoming part of the edge compute platform</a:t>
            </a:r>
          </a:p>
        </p:txBody>
      </p:sp>
      <p:sp>
        <p:nvSpPr>
          <p:cNvPr id="3" name="">
            <a:extLst xmlns:a="http://schemas.openxmlformats.org/drawingml/2006/main">
              <a:ext uri="{FF2B5EF4-FFF2-40B4-BE49-F238E27FC236}">
                <a16:creationId xmlns:a16="http://schemas.microsoft.com/office/drawing/2014/main" id="{53B6B362-718F-4CD6-A014-E03221B89D7F}"/>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DPDK, SR-IOV, SmartNICs, and DPUs shift packet work away from general-purpose CPU cores.</a:t>
            </a:r>
          </a:p>
        </p:txBody>
      </p:sp>
      <p:sp>
        <p:nvSpPr>
          <p:cNvPr id="4" name="">
            <a:extLst xmlns:a="http://schemas.openxmlformats.org/drawingml/2006/main">
              <a:ext uri="{FF2B5EF4-FFF2-40B4-BE49-F238E27FC236}">
                <a16:creationId xmlns:a16="http://schemas.microsoft.com/office/drawing/2014/main" id="{175E5960-F5F5-4DA4-A708-7AB82DB0349B}"/>
              </a:ext>
            </a:extLst>
          </p:cNvPr>
          <p:cNvSpPr>
            <a:spLocks xmlns:a="http://schemas.openxmlformats.org/drawingml/2006/main" noGrp="1"/>
          </p:cNvSpPr>
          <p:nvPr/>
        </p:nvSpPr>
        <p:spPr>
          <a:xfrm xmlns:a="http://schemas.openxmlformats.org/drawingml/2006/main">
            <a:off x="685800" y="2190750"/>
            <a:ext cx="4333875" cy="3000375"/>
          </a:xfrm>
          <a:prstGeom xmlns:a="http://schemas.openxmlformats.org/drawingml/2006/main" prst="roundRect">
            <a:avLst>
              <a:gd name="adj" fmla="val 5079"/>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A7328612-E75D-4C84-92CE-C9564CEAADDF}"/>
              </a:ext>
            </a:extLst>
          </p:cNvPr>
          <p:cNvSpPr>
            <a:spLocks xmlns:a="http://schemas.openxmlformats.org/drawingml/2006/main" noGrp="1"/>
          </p:cNvSpPr>
          <p:nvPr/>
        </p:nvSpPr>
        <p:spPr>
          <a:xfrm xmlns:a="http://schemas.openxmlformats.org/drawingml/2006/main">
            <a:off x="933450" y="243840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F7FBFF"/>
                </a:solidFill>
              </a:defRPr>
            </a:defPPr>
          </a:lstStyle>
          <a:p xmlns:a="http://schemas.openxmlformats.org/drawingml/2006/main">
            <a:pPr algn="l">
              <a:defRPr sz="1800" b="1">
                <a:solidFill>
                  <a:srgbClr val="F7FBFF"/>
                </a:solidFill>
              </a:defRPr>
            </a:pPr>
            <a:r>
              <a:rPr sz="1800" b="1">
                <a:solidFill>
                  <a:srgbClr val="F7FBFF"/>
                </a:solidFill>
              </a:rPr>
              <a:t>Traditional edge</a:t>
            </a:r>
          </a:p>
        </p:txBody>
      </p:sp>
      <p:sp>
        <p:nvSpPr>
          <p:cNvPr id="6" name="">
            <a:extLst xmlns:a="http://schemas.openxmlformats.org/drawingml/2006/main">
              <a:ext uri="{FF2B5EF4-FFF2-40B4-BE49-F238E27FC236}">
                <a16:creationId xmlns:a16="http://schemas.microsoft.com/office/drawing/2014/main" id="{892647B7-C087-4AAC-9185-CF1BB2CB6BAC}"/>
              </a:ext>
            </a:extLst>
          </p:cNvPr>
          <p:cNvSpPr>
            <a:spLocks xmlns:a="http://schemas.openxmlformats.org/drawingml/2006/main" noGrp="1"/>
          </p:cNvSpPr>
          <p:nvPr/>
        </p:nvSpPr>
        <p:spPr>
          <a:xfrm xmlns:a="http://schemas.openxmlformats.org/drawingml/2006/main">
            <a:off x="1047750" y="300037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7DBC333-C01B-45F5-8CE3-5AE3CC2CDE99}"/>
              </a:ext>
            </a:extLst>
          </p:cNvPr>
          <p:cNvSpPr>
            <a:spLocks xmlns:a="http://schemas.openxmlformats.org/drawingml/2006/main" noGrp="1"/>
          </p:cNvSpPr>
          <p:nvPr/>
        </p:nvSpPr>
        <p:spPr>
          <a:xfrm xmlns:a="http://schemas.openxmlformats.org/drawingml/2006/main">
            <a:off x="1285875" y="31051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BNG appliance</a:t>
            </a:r>
          </a:p>
        </p:txBody>
      </p:sp>
      <p:sp>
        <p:nvSpPr>
          <p:cNvPr id="8" name="">
            <a:extLst xmlns:a="http://schemas.openxmlformats.org/drawingml/2006/main">
              <a:ext uri="{FF2B5EF4-FFF2-40B4-BE49-F238E27FC236}">
                <a16:creationId xmlns:a16="http://schemas.microsoft.com/office/drawing/2014/main" id="{C086CBDD-4E35-44A6-B8E6-A29FCA960BF0}"/>
              </a:ext>
            </a:extLst>
          </p:cNvPr>
          <p:cNvSpPr>
            <a:spLocks xmlns:a="http://schemas.openxmlformats.org/drawingml/2006/main" noGrp="1"/>
          </p:cNvSpPr>
          <p:nvPr/>
        </p:nvSpPr>
        <p:spPr>
          <a:xfrm xmlns:a="http://schemas.openxmlformats.org/drawingml/2006/main">
            <a:off x="1047750" y="359092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5F29EF0-49E4-4999-81E3-93F00CA1A1F7}"/>
              </a:ext>
            </a:extLst>
          </p:cNvPr>
          <p:cNvSpPr>
            <a:spLocks xmlns:a="http://schemas.openxmlformats.org/drawingml/2006/main" noGrp="1"/>
          </p:cNvSpPr>
          <p:nvPr/>
        </p:nvSpPr>
        <p:spPr>
          <a:xfrm xmlns:a="http://schemas.openxmlformats.org/drawingml/2006/main">
            <a:off x="1285875" y="36957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Router appliance</a:t>
            </a:r>
          </a:p>
        </p:txBody>
      </p:sp>
      <p:sp>
        <p:nvSpPr>
          <p:cNvPr id="10" name="">
            <a:extLst xmlns:a="http://schemas.openxmlformats.org/drawingml/2006/main">
              <a:ext uri="{FF2B5EF4-FFF2-40B4-BE49-F238E27FC236}">
                <a16:creationId xmlns:a16="http://schemas.microsoft.com/office/drawing/2014/main" id="{E79B32EB-7DD3-4B78-85A4-9A56F194697C}"/>
              </a:ext>
            </a:extLst>
          </p:cNvPr>
          <p:cNvSpPr>
            <a:spLocks xmlns:a="http://schemas.openxmlformats.org/drawingml/2006/main" noGrp="1"/>
          </p:cNvSpPr>
          <p:nvPr/>
        </p:nvSpPr>
        <p:spPr>
          <a:xfrm xmlns:a="http://schemas.openxmlformats.org/drawingml/2006/main">
            <a:off x="1047750" y="418147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FF2518E-57A9-4934-A0F1-B292CF946123}"/>
              </a:ext>
            </a:extLst>
          </p:cNvPr>
          <p:cNvSpPr>
            <a:spLocks xmlns:a="http://schemas.openxmlformats.org/drawingml/2006/main" noGrp="1"/>
          </p:cNvSpPr>
          <p:nvPr/>
        </p:nvSpPr>
        <p:spPr>
          <a:xfrm xmlns:a="http://schemas.openxmlformats.org/drawingml/2006/main">
            <a:off x="1285875" y="42862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Security appliance</a:t>
            </a:r>
          </a:p>
        </p:txBody>
      </p:sp>
      <p:sp>
        <p:nvSpPr>
          <p:cNvPr id="12" name="">
            <a:extLst xmlns:a="http://schemas.openxmlformats.org/drawingml/2006/main">
              <a:ext uri="{FF2B5EF4-FFF2-40B4-BE49-F238E27FC236}">
                <a16:creationId xmlns:a16="http://schemas.microsoft.com/office/drawing/2014/main" id="{3436B3B2-35A6-47E3-8FC3-D5546D17A193}"/>
              </a:ext>
            </a:extLst>
          </p:cNvPr>
          <p:cNvSpPr>
            <a:spLocks xmlns:a="http://schemas.openxmlformats.org/drawingml/2006/main" noGrp="1"/>
          </p:cNvSpPr>
          <p:nvPr/>
        </p:nvSpPr>
        <p:spPr>
          <a:xfrm xmlns:a="http://schemas.openxmlformats.org/drawingml/2006/main">
            <a:off x="5667375" y="2190750"/>
            <a:ext cx="5838825" cy="3000375"/>
          </a:xfrm>
          <a:prstGeom xmlns:a="http://schemas.openxmlformats.org/drawingml/2006/main" prst="roundRect">
            <a:avLst>
              <a:gd name="adj" fmla="val 5079"/>
            </a:avLst>
          </a:prstGeom>
          <a:solidFill xmlns:a="http://schemas.openxmlformats.org/drawingml/2006/main">
            <a:srgbClr val="103445"/>
          </a:solidFill>
          <a:ln xmlns:a="http://schemas.openxmlformats.org/drawingml/2006/main" w="9525">
            <a:solidFill>
              <a:srgbClr val="23D5D2"/>
            </a:solidFill>
            <a:prstDash val="solid"/>
          </a:ln>
        </p:spPr>
      </p:sp>
      <p:sp>
        <p:nvSpPr>
          <p:cNvPr id="13" name="">
            <a:extLst xmlns:a="http://schemas.openxmlformats.org/drawingml/2006/main">
              <a:ext uri="{FF2B5EF4-FFF2-40B4-BE49-F238E27FC236}">
                <a16:creationId xmlns:a16="http://schemas.microsoft.com/office/drawing/2014/main" id="{6F247C6C-0935-4EFA-96AA-A185DAB89A4F}"/>
              </a:ext>
            </a:extLst>
          </p:cNvPr>
          <p:cNvSpPr>
            <a:spLocks xmlns:a="http://schemas.openxmlformats.org/drawingml/2006/main" noGrp="1"/>
          </p:cNvSpPr>
          <p:nvPr/>
        </p:nvSpPr>
        <p:spPr>
          <a:xfrm xmlns:a="http://schemas.openxmlformats.org/drawingml/2006/main">
            <a:off x="5953125" y="24384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23D5D2"/>
                </a:solidFill>
              </a:defRPr>
            </a:defPPr>
          </a:lstStyle>
          <a:p xmlns:a="http://schemas.openxmlformats.org/drawingml/2006/main">
            <a:pPr algn="l">
              <a:defRPr sz="1800" b="1">
                <a:solidFill>
                  <a:srgbClr val="23D5D2"/>
                </a:solidFill>
              </a:defRPr>
            </a:pPr>
            <a:r>
              <a:rPr sz="1800" b="1">
                <a:solidFill>
                  <a:srgbClr val="23D5D2"/>
                </a:solidFill>
              </a:rPr>
              <a:t>Consolidated Kubernetes edge</a:t>
            </a:r>
          </a:p>
        </p:txBody>
      </p:sp>
      <p:sp>
        <p:nvSpPr>
          <p:cNvPr id="14" name="">
            <a:extLst xmlns:a="http://schemas.openxmlformats.org/drawingml/2006/main">
              <a:ext uri="{FF2B5EF4-FFF2-40B4-BE49-F238E27FC236}">
                <a16:creationId xmlns:a16="http://schemas.microsoft.com/office/drawing/2014/main" id="{AED0333D-C294-43D2-BAFF-F7FB152C413B}"/>
              </a:ext>
            </a:extLst>
          </p:cNvPr>
          <p:cNvSpPr>
            <a:spLocks xmlns:a="http://schemas.openxmlformats.org/drawingml/2006/main" noGrp="1"/>
          </p:cNvSpPr>
          <p:nvPr/>
        </p:nvSpPr>
        <p:spPr>
          <a:xfrm xmlns:a="http://schemas.openxmlformats.org/drawingml/2006/main">
            <a:off x="5953125" y="3048000"/>
            <a:ext cx="1524000"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15" name="">
            <a:extLst xmlns:a="http://schemas.openxmlformats.org/drawingml/2006/main">
              <a:ext uri="{FF2B5EF4-FFF2-40B4-BE49-F238E27FC236}">
                <a16:creationId xmlns:a16="http://schemas.microsoft.com/office/drawing/2014/main" id="{81705B50-B775-4465-B41C-74A550F9EC94}"/>
              </a:ext>
            </a:extLst>
          </p:cNvPr>
          <p:cNvSpPr>
            <a:spLocks xmlns:a="http://schemas.openxmlformats.org/drawingml/2006/main" noGrp="1"/>
          </p:cNvSpPr>
          <p:nvPr/>
        </p:nvSpPr>
        <p:spPr>
          <a:xfrm xmlns:a="http://schemas.openxmlformats.org/drawingml/2006/main">
            <a:off x="5953125" y="3048000"/>
            <a:ext cx="57150" cy="9525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6" name="">
            <a:extLst xmlns:a="http://schemas.openxmlformats.org/drawingml/2006/main">
              <a:ext uri="{FF2B5EF4-FFF2-40B4-BE49-F238E27FC236}">
                <a16:creationId xmlns:a16="http://schemas.microsoft.com/office/drawing/2014/main" id="{8A745BA4-C436-4624-8B64-A55042781E92}"/>
              </a:ext>
            </a:extLst>
          </p:cNvPr>
          <p:cNvSpPr>
            <a:spLocks xmlns:a="http://schemas.openxmlformats.org/drawingml/2006/main" noGrp="1"/>
          </p:cNvSpPr>
          <p:nvPr/>
        </p:nvSpPr>
        <p:spPr>
          <a:xfrm xmlns:a="http://schemas.openxmlformats.org/drawingml/2006/main">
            <a:off x="6143625" y="3200400"/>
            <a:ext cx="1219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vBNG</a:t>
            </a:r>
          </a:p>
        </p:txBody>
      </p:sp>
      <p:sp>
        <p:nvSpPr>
          <p:cNvPr id="17" name="">
            <a:extLst xmlns:a="http://schemas.openxmlformats.org/drawingml/2006/main">
              <a:ext uri="{FF2B5EF4-FFF2-40B4-BE49-F238E27FC236}">
                <a16:creationId xmlns:a16="http://schemas.microsoft.com/office/drawing/2014/main" id="{A29CA053-F210-4B70-9FA0-91A660F47113}"/>
              </a:ext>
            </a:extLst>
          </p:cNvPr>
          <p:cNvSpPr>
            <a:spLocks xmlns:a="http://schemas.openxmlformats.org/drawingml/2006/main" noGrp="1"/>
          </p:cNvSpPr>
          <p:nvPr/>
        </p:nvSpPr>
        <p:spPr>
          <a:xfrm xmlns:a="http://schemas.openxmlformats.org/drawingml/2006/main">
            <a:off x="6143625" y="3524250"/>
            <a:ext cx="1219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DPDK / VPP</a:t>
            </a:r>
          </a:p>
        </p:txBody>
      </p:sp>
      <p:sp>
        <p:nvSpPr>
          <p:cNvPr id="18" name="">
            <a:extLst xmlns:a="http://schemas.openxmlformats.org/drawingml/2006/main">
              <a:ext uri="{FF2B5EF4-FFF2-40B4-BE49-F238E27FC236}">
                <a16:creationId xmlns:a16="http://schemas.microsoft.com/office/drawing/2014/main" id="{36643A98-11BE-4B7A-9812-39D5675CD61F}"/>
              </a:ext>
            </a:extLst>
          </p:cNvPr>
          <p:cNvSpPr>
            <a:spLocks xmlns:a="http://schemas.openxmlformats.org/drawingml/2006/main" noGrp="1"/>
          </p:cNvSpPr>
          <p:nvPr/>
        </p:nvSpPr>
        <p:spPr>
          <a:xfrm xmlns:a="http://schemas.openxmlformats.org/drawingml/2006/main">
            <a:off x="7810500" y="3048000"/>
            <a:ext cx="1524000"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19" name="">
            <a:extLst xmlns:a="http://schemas.openxmlformats.org/drawingml/2006/main">
              <a:ext uri="{FF2B5EF4-FFF2-40B4-BE49-F238E27FC236}">
                <a16:creationId xmlns:a16="http://schemas.microsoft.com/office/drawing/2014/main" id="{AB0935CC-EDD6-4B2A-BD0E-D0549CA44BF1}"/>
              </a:ext>
            </a:extLst>
          </p:cNvPr>
          <p:cNvSpPr>
            <a:spLocks xmlns:a="http://schemas.openxmlformats.org/drawingml/2006/main" noGrp="1"/>
          </p:cNvSpPr>
          <p:nvPr/>
        </p:nvSpPr>
        <p:spPr>
          <a:xfrm xmlns:a="http://schemas.openxmlformats.org/drawingml/2006/main">
            <a:off x="7810500" y="3048000"/>
            <a:ext cx="57150" cy="9525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20" name="">
            <a:extLst xmlns:a="http://schemas.openxmlformats.org/drawingml/2006/main">
              <a:ext uri="{FF2B5EF4-FFF2-40B4-BE49-F238E27FC236}">
                <a16:creationId xmlns:a16="http://schemas.microsoft.com/office/drawing/2014/main" id="{D8B7B3C6-BE03-4A89-9FB1-E4A21CFA1F62}"/>
              </a:ext>
            </a:extLst>
          </p:cNvPr>
          <p:cNvSpPr>
            <a:spLocks xmlns:a="http://schemas.openxmlformats.org/drawingml/2006/main" noGrp="1"/>
          </p:cNvSpPr>
          <p:nvPr/>
        </p:nvSpPr>
        <p:spPr>
          <a:xfrm xmlns:a="http://schemas.openxmlformats.org/drawingml/2006/main">
            <a:off x="8001000" y="3200400"/>
            <a:ext cx="1219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FRR</a:t>
            </a:r>
          </a:p>
        </p:txBody>
      </p:sp>
      <p:sp>
        <p:nvSpPr>
          <p:cNvPr id="21" name="">
            <a:extLst xmlns:a="http://schemas.openxmlformats.org/drawingml/2006/main">
              <a:ext uri="{FF2B5EF4-FFF2-40B4-BE49-F238E27FC236}">
                <a16:creationId xmlns:a16="http://schemas.microsoft.com/office/drawing/2014/main" id="{8118960A-AC5C-446D-8944-3DB54D5A21D6}"/>
              </a:ext>
            </a:extLst>
          </p:cNvPr>
          <p:cNvSpPr>
            <a:spLocks xmlns:a="http://schemas.openxmlformats.org/drawingml/2006/main" noGrp="1"/>
          </p:cNvSpPr>
          <p:nvPr/>
        </p:nvSpPr>
        <p:spPr>
          <a:xfrm xmlns:a="http://schemas.openxmlformats.org/drawingml/2006/main">
            <a:off x="8001000" y="3524250"/>
            <a:ext cx="1219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BGP routing</a:t>
            </a:r>
          </a:p>
        </p:txBody>
      </p:sp>
      <p:sp>
        <p:nvSpPr>
          <p:cNvPr id="22" name="">
            <a:extLst xmlns:a="http://schemas.openxmlformats.org/drawingml/2006/main">
              <a:ext uri="{FF2B5EF4-FFF2-40B4-BE49-F238E27FC236}">
                <a16:creationId xmlns:a16="http://schemas.microsoft.com/office/drawing/2014/main" id="{38665AE9-60FE-4C7E-90F7-15E35F971416}"/>
              </a:ext>
            </a:extLst>
          </p:cNvPr>
          <p:cNvSpPr>
            <a:spLocks xmlns:a="http://schemas.openxmlformats.org/drawingml/2006/main" noGrp="1"/>
          </p:cNvSpPr>
          <p:nvPr/>
        </p:nvSpPr>
        <p:spPr>
          <a:xfrm xmlns:a="http://schemas.openxmlformats.org/drawingml/2006/main">
            <a:off x="9667875" y="3048000"/>
            <a:ext cx="1571625"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23" name="">
            <a:extLst xmlns:a="http://schemas.openxmlformats.org/drawingml/2006/main">
              <a:ext uri="{FF2B5EF4-FFF2-40B4-BE49-F238E27FC236}">
                <a16:creationId xmlns:a16="http://schemas.microsoft.com/office/drawing/2014/main" id="{FFB6221A-16AD-44A4-AEC5-E64FC565C059}"/>
              </a:ext>
            </a:extLst>
          </p:cNvPr>
          <p:cNvSpPr>
            <a:spLocks xmlns:a="http://schemas.openxmlformats.org/drawingml/2006/main" noGrp="1"/>
          </p:cNvSpPr>
          <p:nvPr/>
        </p:nvSpPr>
        <p:spPr>
          <a:xfrm xmlns:a="http://schemas.openxmlformats.org/drawingml/2006/main">
            <a:off x="9667875" y="3048000"/>
            <a:ext cx="57150" cy="9525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4" name="">
            <a:extLst xmlns:a="http://schemas.openxmlformats.org/drawingml/2006/main">
              <a:ext uri="{FF2B5EF4-FFF2-40B4-BE49-F238E27FC236}">
                <a16:creationId xmlns:a16="http://schemas.microsoft.com/office/drawing/2014/main" id="{8BE860F2-2067-4CB7-A869-FCB641C4B0D9}"/>
              </a:ext>
            </a:extLst>
          </p:cNvPr>
          <p:cNvSpPr>
            <a:spLocks xmlns:a="http://schemas.openxmlformats.org/drawingml/2006/main" noGrp="1"/>
          </p:cNvSpPr>
          <p:nvPr/>
        </p:nvSpPr>
        <p:spPr>
          <a:xfrm xmlns:a="http://schemas.openxmlformats.org/drawingml/2006/main">
            <a:off x="9858375" y="3200400"/>
            <a:ext cx="12668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Services</a:t>
            </a:r>
          </a:p>
        </p:txBody>
      </p:sp>
      <p:sp>
        <p:nvSpPr>
          <p:cNvPr id="25" name="">
            <a:extLst xmlns:a="http://schemas.openxmlformats.org/drawingml/2006/main">
              <a:ext uri="{FF2B5EF4-FFF2-40B4-BE49-F238E27FC236}">
                <a16:creationId xmlns:a16="http://schemas.microsoft.com/office/drawing/2014/main" id="{C81131D8-358D-4B2A-8F0D-E345A54460DD}"/>
              </a:ext>
            </a:extLst>
          </p:cNvPr>
          <p:cNvSpPr>
            <a:spLocks xmlns:a="http://schemas.openxmlformats.org/drawingml/2006/main" noGrp="1"/>
          </p:cNvSpPr>
          <p:nvPr/>
        </p:nvSpPr>
        <p:spPr>
          <a:xfrm xmlns:a="http://schemas.openxmlformats.org/drawingml/2006/main">
            <a:off x="9858375" y="3524250"/>
            <a:ext cx="12668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AAA / observability</a:t>
            </a:r>
          </a:p>
        </p:txBody>
      </p:sp>
      <p:sp>
        <p:nvSpPr>
          <p:cNvPr id="26" name="">
            <a:extLst xmlns:a="http://schemas.openxmlformats.org/drawingml/2006/main">
              <a:ext uri="{FF2B5EF4-FFF2-40B4-BE49-F238E27FC236}">
                <a16:creationId xmlns:a16="http://schemas.microsoft.com/office/drawing/2014/main" id="{8A8D8D63-09CD-46D2-A754-072015E908DC}"/>
              </a:ext>
            </a:extLst>
          </p:cNvPr>
          <p:cNvSpPr>
            <a:spLocks xmlns:a="http://schemas.openxmlformats.org/drawingml/2006/main" noGrp="1"/>
          </p:cNvSpPr>
          <p:nvPr/>
        </p:nvSpPr>
        <p:spPr>
          <a:xfrm xmlns:a="http://schemas.openxmlformats.org/drawingml/2006/main">
            <a:off x="5953125" y="4476750"/>
            <a:ext cx="5286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F7FBFF"/>
                </a:solidFill>
              </a:defRPr>
            </a:defPPr>
          </a:lstStyle>
          <a:p xmlns:a="http://schemas.openxmlformats.org/drawingml/2006/main">
            <a:pPr algn="ctr">
              <a:defRPr sz="1275" b="1">
                <a:solidFill>
                  <a:srgbClr val="F7FBFF"/>
                </a:solidFill>
              </a:defRPr>
            </a:pPr>
            <a:r>
              <a:rPr sz="1275" b="1">
                <a:solidFill>
                  <a:srgbClr val="F7FBFF"/>
                </a:solidFill>
              </a:rPr>
              <a:t>Shared lifecycle • explicit resource isolation • fewer edge boxes</a:t>
            </a:r>
          </a:p>
        </p:txBody>
      </p:sp>
      <p:sp>
        <p:nvSpPr>
          <p:cNvPr id="27" name="">
            <a:extLst xmlns:a="http://schemas.openxmlformats.org/drawingml/2006/main">
              <a:ext uri="{FF2B5EF4-FFF2-40B4-BE49-F238E27FC236}">
                <a16:creationId xmlns:a16="http://schemas.microsoft.com/office/drawing/2014/main" id="{143843E3-D315-4A21-B432-8FA969CECD45}"/>
              </a:ext>
            </a:extLst>
          </p:cNvPr>
          <p:cNvSpPr>
            <a:spLocks xmlns:a="http://schemas.openxmlformats.org/drawingml/2006/main" noGrp="1"/>
          </p:cNvSpPr>
          <p:nvPr/>
        </p:nvSpPr>
        <p:spPr>
          <a:xfrm xmlns:a="http://schemas.openxmlformats.org/drawingml/2006/main">
            <a:off x="4629150" y="3476625"/>
            <a:ext cx="118110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7848E65-B962-47DF-A739-DA91B4D476C7}"/>
              </a:ext>
            </a:extLst>
          </p:cNvPr>
          <p:cNvSpPr>
            <a:spLocks xmlns:a="http://schemas.openxmlformats.org/drawingml/2006/main" noGrp="1"/>
          </p:cNvSpPr>
          <p:nvPr/>
        </p:nvSpPr>
        <p:spPr>
          <a:xfrm xmlns:a="http://schemas.openxmlformats.org/drawingml/2006/main">
            <a:off x="4743450" y="35433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NIC OFFLOAD</a:t>
            </a:r>
          </a:p>
        </p:txBody>
      </p:sp>
      <p:sp>
        <p:nvSpPr>
          <p:cNvPr id="29" name="">
            <a:extLst xmlns:a="http://schemas.openxmlformats.org/drawingml/2006/main">
              <a:ext uri="{FF2B5EF4-FFF2-40B4-BE49-F238E27FC236}">
                <a16:creationId xmlns:a16="http://schemas.microsoft.com/office/drawing/2014/main" id="{2C510EAE-96AD-402C-B956-48D7745F4728}"/>
              </a:ext>
            </a:extLst>
          </p:cNvPr>
          <p:cNvSpPr>
            <a:spLocks xmlns:a="http://schemas.openxmlformats.org/drawingml/2006/main" noGrp="1"/>
          </p:cNvSpPr>
          <p:nvPr/>
        </p:nvSpPr>
        <p:spPr>
          <a:xfrm xmlns:a="http://schemas.openxmlformats.org/drawingml/2006/main">
            <a:off x="952500" y="5581650"/>
            <a:ext cx="1019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A9C1D2"/>
                </a:solidFill>
              </a:defRPr>
            </a:defPPr>
          </a:lstStyle>
          <a:p xmlns:a="http://schemas.openxmlformats.org/drawingml/2006/main">
            <a:pPr algn="ctr">
              <a:defRPr sz="1350" b="1">
                <a:solidFill>
                  <a:srgbClr val="A9C1D2"/>
                </a:solidFill>
              </a:defRPr>
            </a:pPr>
            <a:r>
              <a:rPr sz="1350" b="1">
                <a:solidFill>
                  <a:srgbClr val="A9C1D2"/>
                </a:solidFill>
              </a:rPr>
              <a:t>Design caveat: consolidation reduces boxes, not failure domains. Keep resource isolation and simple HA where service continuity matters.</a:t>
            </a:r>
          </a:p>
        </p:txBody>
      </p:sp>
      <p:sp>
        <p:nvSpPr>
          <p:cNvPr id="30" name="">
            <a:extLst xmlns:a="http://schemas.openxmlformats.org/drawingml/2006/main">
              <a:ext uri="{FF2B5EF4-FFF2-40B4-BE49-F238E27FC236}">
                <a16:creationId xmlns:a16="http://schemas.microsoft.com/office/drawing/2014/main" id="{8DF612AE-5FCF-4C27-A370-12AD1DAF12E7}"/>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1" name="">
            <a:extLst xmlns:a="http://schemas.openxmlformats.org/drawingml/2006/main">
              <a:ext uri="{FF2B5EF4-FFF2-40B4-BE49-F238E27FC236}">
                <a16:creationId xmlns:a16="http://schemas.microsoft.com/office/drawing/2014/main" id="{8412A885-4862-42D7-8220-129B68F56D4D}"/>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Sources: NVIDIA BlueField/DOCA documentation; Intel Network Builders cloud-native BNG white paper.</a:t>
            </a:r>
          </a:p>
        </p:txBody>
      </p:sp>
      <p:sp>
        <p:nvSpPr>
          <p:cNvPr id="32" name="">
            <a:extLst xmlns:a="http://schemas.openxmlformats.org/drawingml/2006/main">
              <a:ext uri="{FF2B5EF4-FFF2-40B4-BE49-F238E27FC236}">
                <a16:creationId xmlns:a16="http://schemas.microsoft.com/office/drawing/2014/main" id="{D3823960-F7E4-479D-A77D-317423F5FBF8}"/>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05</a:t>
            </a:r>
          </a:p>
        </p:txBody>
      </p:sp>
    </p:spTree>
    <p:extLst>
      <p:ext uri="{BB962C8B-B14F-4D97-AF65-F5344CB8AC3E}">
        <p14:creationId xmlns:p14="http://schemas.microsoft.com/office/powerpoint/2010/main" val="2097077973"/>
      </p:ext>
    </p:extLst>
  </p:cSld>
</p:sld>
</file>

<file path=ppt/slides/slide6.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E5F2EB6-7F8F-4F35-A116-323AF96277F3}"/>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5 • WHAT THE LAB PROVED</a:t>
            </a:r>
          </a:p>
        </p:txBody>
      </p:sp>
      <p:sp>
        <p:nvSpPr>
          <p:cNvPr id="2" name="">
            <a:extLst xmlns:a="http://schemas.openxmlformats.org/drawingml/2006/main">
              <a:ext uri="{FF2B5EF4-FFF2-40B4-BE49-F238E27FC236}">
                <a16:creationId xmlns:a16="http://schemas.microsoft.com/office/drawing/2014/main" id="{B6D124CF-53CB-46C9-9686-FCD2A55EDDBD}"/>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A repeatable broadband edge, delivered as Helm charts</a:t>
            </a:r>
          </a:p>
        </p:txBody>
      </p:sp>
      <p:sp>
        <p:nvSpPr>
          <p:cNvPr id="3" name="">
            <a:extLst xmlns:a="http://schemas.openxmlformats.org/drawingml/2006/main">
              <a:ext uri="{FF2B5EF4-FFF2-40B4-BE49-F238E27FC236}">
                <a16:creationId xmlns:a16="http://schemas.microsoft.com/office/drawing/2014/main" id="{41A3268C-00FA-4302-86D8-E4F3EC7CA38F}"/>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The first win is operational repeatability. Scale and HA follow from evidence.</a:t>
            </a:r>
          </a:p>
        </p:txBody>
      </p:sp>
      <p:sp>
        <p:nvSpPr>
          <p:cNvPr id="4" name="">
            <a:extLst xmlns:a="http://schemas.openxmlformats.org/drawingml/2006/main">
              <a:ext uri="{FF2B5EF4-FFF2-40B4-BE49-F238E27FC236}">
                <a16:creationId xmlns:a16="http://schemas.microsoft.com/office/drawing/2014/main" id="{5F2E956C-A6FF-469E-B76D-28E55F79BE9D}"/>
              </a:ext>
            </a:extLst>
          </p:cNvPr>
          <p:cNvSpPr>
            <a:spLocks xmlns:a="http://schemas.openxmlformats.org/drawingml/2006/main" noGrp="1"/>
          </p:cNvSpPr>
          <p:nvPr/>
        </p:nvSpPr>
        <p:spPr>
          <a:xfrm xmlns:a="http://schemas.openxmlformats.org/drawingml/2006/main">
            <a:off x="685800" y="2076450"/>
            <a:ext cx="7239000"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CAE5FBF-DCFC-43C4-9AD5-B4BEB2AB2715}"/>
              </a:ext>
            </a:extLst>
          </p:cNvPr>
          <p:cNvSpPr>
            <a:spLocks xmlns:a="http://schemas.openxmlformats.org/drawingml/2006/main" noGrp="1"/>
          </p:cNvSpPr>
          <p:nvPr/>
        </p:nvSpPr>
        <p:spPr>
          <a:xfrm xmlns:a="http://schemas.openxmlformats.org/drawingml/2006/main">
            <a:off x="876300" y="21812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43D17D"/>
                </a:solidFill>
              </a:defRPr>
            </a:defPPr>
          </a:lstStyle>
          <a:p xmlns:a="http://schemas.openxmlformats.org/drawingml/2006/main">
            <a:pPr algn="ctr">
              <a:defRPr sz="1500" b="1">
                <a:solidFill>
                  <a:srgbClr val="43D17D"/>
                </a:solidFill>
              </a:defRPr>
            </a:pPr>
            <a:r>
              <a:rPr sz="1500" b="1">
                <a:solidFill>
                  <a:srgbClr val="43D17D"/>
                </a:solidFill>
              </a:rPr>
              <a:t>✓</a:t>
            </a:r>
          </a:p>
        </p:txBody>
      </p:sp>
      <p:sp>
        <p:nvSpPr>
          <p:cNvPr id="6" name="">
            <a:extLst xmlns:a="http://schemas.openxmlformats.org/drawingml/2006/main">
              <a:ext uri="{FF2B5EF4-FFF2-40B4-BE49-F238E27FC236}">
                <a16:creationId xmlns:a16="http://schemas.microsoft.com/office/drawing/2014/main" id="{415A1206-DEF0-4CBC-AB27-71471C30689E}"/>
              </a:ext>
            </a:extLst>
          </p:cNvPr>
          <p:cNvSpPr>
            <a:spLocks xmlns:a="http://schemas.openxmlformats.org/drawingml/2006/main" noGrp="1"/>
          </p:cNvSpPr>
          <p:nvPr/>
        </p:nvSpPr>
        <p:spPr>
          <a:xfrm xmlns:a="http://schemas.openxmlformats.org/drawingml/2006/main">
            <a:off x="1381125" y="216217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Charts render and lint</a:t>
            </a:r>
          </a:p>
        </p:txBody>
      </p:sp>
      <p:sp>
        <p:nvSpPr>
          <p:cNvPr id="7" name="">
            <a:extLst xmlns:a="http://schemas.openxmlformats.org/drawingml/2006/main">
              <a:ext uri="{FF2B5EF4-FFF2-40B4-BE49-F238E27FC236}">
                <a16:creationId xmlns:a16="http://schemas.microsoft.com/office/drawing/2014/main" id="{90703E9E-E3CC-4C4C-8CC7-60BEFA5BCFB2}"/>
              </a:ext>
            </a:extLst>
          </p:cNvPr>
          <p:cNvSpPr>
            <a:spLocks xmlns:a="http://schemas.openxmlformats.org/drawingml/2006/main" noGrp="1"/>
          </p:cNvSpPr>
          <p:nvPr/>
        </p:nvSpPr>
        <p:spPr>
          <a:xfrm xmlns:a="http://schemas.openxmlformats.org/drawingml/2006/main">
            <a:off x="4000500" y="21717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BNG, FRR, and optional CPE lab</a:t>
            </a:r>
          </a:p>
        </p:txBody>
      </p:sp>
      <p:sp>
        <p:nvSpPr>
          <p:cNvPr id="8" name="">
            <a:extLst xmlns:a="http://schemas.openxmlformats.org/drawingml/2006/main">
              <a:ext uri="{FF2B5EF4-FFF2-40B4-BE49-F238E27FC236}">
                <a16:creationId xmlns:a16="http://schemas.microsoft.com/office/drawing/2014/main" id="{2ED92328-037D-409A-8FE5-569929D3C967}"/>
              </a:ext>
            </a:extLst>
          </p:cNvPr>
          <p:cNvSpPr>
            <a:spLocks xmlns:a="http://schemas.openxmlformats.org/drawingml/2006/main" noGrp="1"/>
          </p:cNvSpPr>
          <p:nvPr/>
        </p:nvSpPr>
        <p:spPr>
          <a:xfrm xmlns:a="http://schemas.openxmlformats.org/drawingml/2006/main">
            <a:off x="685800" y="2743200"/>
            <a:ext cx="7239000"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17DDF35-04AF-4038-9021-BF6EC0FE9019}"/>
              </a:ext>
            </a:extLst>
          </p:cNvPr>
          <p:cNvSpPr>
            <a:spLocks xmlns:a="http://schemas.openxmlformats.org/drawingml/2006/main" noGrp="1"/>
          </p:cNvSpPr>
          <p:nvPr/>
        </p:nvSpPr>
        <p:spPr>
          <a:xfrm xmlns:a="http://schemas.openxmlformats.org/drawingml/2006/main">
            <a:off x="876300" y="284797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43D17D"/>
                </a:solidFill>
              </a:defRPr>
            </a:defPPr>
          </a:lstStyle>
          <a:p xmlns:a="http://schemas.openxmlformats.org/drawingml/2006/main">
            <a:pPr algn="ctr">
              <a:defRPr sz="1500" b="1">
                <a:solidFill>
                  <a:srgbClr val="43D17D"/>
                </a:solidFill>
              </a:defRPr>
            </a:pPr>
            <a:r>
              <a:rPr sz="1500" b="1">
                <a:solidFill>
                  <a:srgbClr val="43D17D"/>
                </a:solidFill>
              </a:rPr>
              <a:t>✓</a:t>
            </a:r>
          </a:p>
        </p:txBody>
      </p:sp>
      <p:sp>
        <p:nvSpPr>
          <p:cNvPr id="10" name="">
            <a:extLst xmlns:a="http://schemas.openxmlformats.org/drawingml/2006/main">
              <a:ext uri="{FF2B5EF4-FFF2-40B4-BE49-F238E27FC236}">
                <a16:creationId xmlns:a16="http://schemas.microsoft.com/office/drawing/2014/main" id="{5C1EB4F8-479E-4AF7-8CD3-A98689DA8B56}"/>
              </a:ext>
            </a:extLst>
          </p:cNvPr>
          <p:cNvSpPr>
            <a:spLocks xmlns:a="http://schemas.openxmlformats.org/drawingml/2006/main" noGrp="1"/>
          </p:cNvSpPr>
          <p:nvPr/>
        </p:nvSpPr>
        <p:spPr>
          <a:xfrm xmlns:a="http://schemas.openxmlformats.org/drawingml/2006/main">
            <a:off x="1381125" y="282892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.12 / .13 interfaces live</a:t>
            </a:r>
          </a:p>
        </p:txBody>
      </p:sp>
      <p:sp>
        <p:nvSpPr>
          <p:cNvPr id="11" name="">
            <a:extLst xmlns:a="http://schemas.openxmlformats.org/drawingml/2006/main">
              <a:ext uri="{FF2B5EF4-FFF2-40B4-BE49-F238E27FC236}">
                <a16:creationId xmlns:a16="http://schemas.microsoft.com/office/drawing/2014/main" id="{596BE982-AB7B-4CB6-8250-D2082AC92917}"/>
              </a:ext>
            </a:extLst>
          </p:cNvPr>
          <p:cNvSpPr>
            <a:spLocks xmlns:a="http://schemas.openxmlformats.org/drawingml/2006/main" noGrp="1"/>
          </p:cNvSpPr>
          <p:nvPr/>
        </p:nvSpPr>
        <p:spPr>
          <a:xfrm xmlns:a="http://schemas.openxmlformats.org/drawingml/2006/main">
            <a:off x="4000500" y="283845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Both FRRs reached 192.168.88.1</a:t>
            </a:r>
          </a:p>
        </p:txBody>
      </p:sp>
      <p:sp>
        <p:nvSpPr>
          <p:cNvPr id="12" name="">
            <a:extLst xmlns:a="http://schemas.openxmlformats.org/drawingml/2006/main">
              <a:ext uri="{FF2B5EF4-FFF2-40B4-BE49-F238E27FC236}">
                <a16:creationId xmlns:a16="http://schemas.microsoft.com/office/drawing/2014/main" id="{196BDE1F-E16A-40E9-B918-18AC18C3FF4C}"/>
              </a:ext>
            </a:extLst>
          </p:cNvPr>
          <p:cNvSpPr>
            <a:spLocks xmlns:a="http://schemas.openxmlformats.org/drawingml/2006/main" noGrp="1"/>
          </p:cNvSpPr>
          <p:nvPr/>
        </p:nvSpPr>
        <p:spPr>
          <a:xfrm xmlns:a="http://schemas.openxmlformats.org/drawingml/2006/main">
            <a:off x="685800" y="3409950"/>
            <a:ext cx="7239000"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ADE50C8-ADA7-49DB-BB3D-895DA80CD48A}"/>
              </a:ext>
            </a:extLst>
          </p:cNvPr>
          <p:cNvSpPr>
            <a:spLocks xmlns:a="http://schemas.openxmlformats.org/drawingml/2006/main" noGrp="1"/>
          </p:cNvSpPr>
          <p:nvPr/>
        </p:nvSpPr>
        <p:spPr>
          <a:xfrm xmlns:a="http://schemas.openxmlformats.org/drawingml/2006/main">
            <a:off x="876300" y="35147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43D17D"/>
                </a:solidFill>
              </a:defRPr>
            </a:defPPr>
          </a:lstStyle>
          <a:p xmlns:a="http://schemas.openxmlformats.org/drawingml/2006/main">
            <a:pPr algn="ctr">
              <a:defRPr sz="1500" b="1">
                <a:solidFill>
                  <a:srgbClr val="43D17D"/>
                </a:solidFill>
              </a:defRPr>
            </a:pPr>
            <a:r>
              <a:rPr sz="1500" b="1">
                <a:solidFill>
                  <a:srgbClr val="43D17D"/>
                </a:solidFill>
              </a:rPr>
              <a:t>✓</a:t>
            </a:r>
          </a:p>
        </p:txBody>
      </p:sp>
      <p:sp>
        <p:nvSpPr>
          <p:cNvPr id="14" name="">
            <a:extLst xmlns:a="http://schemas.openxmlformats.org/drawingml/2006/main">
              <a:ext uri="{FF2B5EF4-FFF2-40B4-BE49-F238E27FC236}">
                <a16:creationId xmlns:a16="http://schemas.microsoft.com/office/drawing/2014/main" id="{DA277C90-41D2-4275-AB33-F87DE440A105}"/>
              </a:ext>
            </a:extLst>
          </p:cNvPr>
          <p:cNvSpPr>
            <a:spLocks xmlns:a="http://schemas.openxmlformats.org/drawingml/2006/main" noGrp="1"/>
          </p:cNvSpPr>
          <p:nvPr/>
        </p:nvSpPr>
        <p:spPr>
          <a:xfrm xmlns:a="http://schemas.openxmlformats.org/drawingml/2006/main">
            <a:off x="1381125" y="349567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Internal BGP established</a:t>
            </a:r>
          </a:p>
        </p:txBody>
      </p:sp>
      <p:sp>
        <p:nvSpPr>
          <p:cNvPr id="15" name="">
            <a:extLst xmlns:a="http://schemas.openxmlformats.org/drawingml/2006/main">
              <a:ext uri="{FF2B5EF4-FFF2-40B4-BE49-F238E27FC236}">
                <a16:creationId xmlns:a16="http://schemas.microsoft.com/office/drawing/2014/main" id="{9B747F6B-4C93-43B5-B9D8-83B86546A0D1}"/>
              </a:ext>
            </a:extLst>
          </p:cNvPr>
          <p:cNvSpPr>
            <a:spLocks xmlns:a="http://schemas.openxmlformats.org/drawingml/2006/main" noGrp="1"/>
          </p:cNvSpPr>
          <p:nvPr/>
        </p:nvSpPr>
        <p:spPr>
          <a:xfrm xmlns:a="http://schemas.openxmlformats.org/drawingml/2006/main">
            <a:off x="4000500" y="35052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Both FRRs peered with both BNGs</a:t>
            </a:r>
          </a:p>
        </p:txBody>
      </p:sp>
      <p:sp>
        <p:nvSpPr>
          <p:cNvPr id="16" name="">
            <a:extLst xmlns:a="http://schemas.openxmlformats.org/drawingml/2006/main">
              <a:ext uri="{FF2B5EF4-FFF2-40B4-BE49-F238E27FC236}">
                <a16:creationId xmlns:a16="http://schemas.microsoft.com/office/drawing/2014/main" id="{36DAF503-29AC-44BE-ACCC-38F56A956EE9}"/>
              </a:ext>
            </a:extLst>
          </p:cNvPr>
          <p:cNvSpPr>
            <a:spLocks xmlns:a="http://schemas.openxmlformats.org/drawingml/2006/main" noGrp="1"/>
          </p:cNvSpPr>
          <p:nvPr/>
        </p:nvSpPr>
        <p:spPr>
          <a:xfrm xmlns:a="http://schemas.openxmlformats.org/drawingml/2006/main">
            <a:off x="685800" y="4076700"/>
            <a:ext cx="7239000" cy="514350"/>
          </a:xfrm>
          <a:prstGeom xmlns:a="http://schemas.openxmlformats.org/drawingml/2006/main" prst="roundRect">
            <a:avLst>
              <a:gd name="adj" fmla="val 22222"/>
            </a:avLst>
          </a:prstGeom>
          <a:solidFill xmlns:a="http://schemas.openxmlformats.org/drawingml/2006/main">
            <a:srgbClr val="2A304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E29ABAE-45FB-4EC3-B461-A5696A821BF5}"/>
              </a:ext>
            </a:extLst>
          </p:cNvPr>
          <p:cNvSpPr>
            <a:spLocks xmlns:a="http://schemas.openxmlformats.org/drawingml/2006/main" noGrp="1"/>
          </p:cNvSpPr>
          <p:nvPr/>
        </p:nvSpPr>
        <p:spPr>
          <a:xfrm xmlns:a="http://schemas.openxmlformats.org/drawingml/2006/main">
            <a:off x="876300" y="418147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F9D42"/>
                </a:solidFill>
              </a:defRPr>
            </a:defPPr>
          </a:lstStyle>
          <a:p xmlns:a="http://schemas.openxmlformats.org/drawingml/2006/main">
            <a:pPr algn="ctr">
              <a:defRPr sz="1500" b="1">
                <a:solidFill>
                  <a:srgbClr val="FF9D42"/>
                </a:solidFill>
              </a:defRPr>
            </a:pPr>
            <a:r>
              <a:rPr sz="1500" b="1">
                <a:solidFill>
                  <a:srgbClr val="FF9D42"/>
                </a:solidFill>
              </a:rPr>
              <a:t>→</a:t>
            </a:r>
          </a:p>
        </p:txBody>
      </p:sp>
      <p:sp>
        <p:nvSpPr>
          <p:cNvPr id="18" name="">
            <a:extLst xmlns:a="http://schemas.openxmlformats.org/drawingml/2006/main">
              <a:ext uri="{FF2B5EF4-FFF2-40B4-BE49-F238E27FC236}">
                <a16:creationId xmlns:a16="http://schemas.microsoft.com/office/drawing/2014/main" id="{9F998864-E40C-4134-B86E-F8DEADE4F7C2}"/>
              </a:ext>
            </a:extLst>
          </p:cNvPr>
          <p:cNvSpPr>
            <a:spLocks xmlns:a="http://schemas.openxmlformats.org/drawingml/2006/main" noGrp="1"/>
          </p:cNvSpPr>
          <p:nvPr/>
        </p:nvSpPr>
        <p:spPr>
          <a:xfrm xmlns:a="http://schemas.openxmlformats.org/drawingml/2006/main">
            <a:off x="1381125" y="416242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Upstream peer update</a:t>
            </a:r>
          </a:p>
        </p:txBody>
      </p:sp>
      <p:sp>
        <p:nvSpPr>
          <p:cNvPr id="19" name="">
            <a:extLst xmlns:a="http://schemas.openxmlformats.org/drawingml/2006/main">
              <a:ext uri="{FF2B5EF4-FFF2-40B4-BE49-F238E27FC236}">
                <a16:creationId xmlns:a16="http://schemas.microsoft.com/office/drawing/2014/main" id="{0840BF47-5487-4F2A-AA8D-47151CC07468}"/>
              </a:ext>
            </a:extLst>
          </p:cNvPr>
          <p:cNvSpPr>
            <a:spLocks xmlns:a="http://schemas.openxmlformats.org/drawingml/2006/main" noGrp="1"/>
          </p:cNvSpPr>
          <p:nvPr/>
        </p:nvSpPr>
        <p:spPr>
          <a:xfrm xmlns:a="http://schemas.openxmlformats.org/drawingml/2006/main">
            <a:off x="4000500" y="417195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Change MikroTik neighbors to .12 / .13</a:t>
            </a:r>
          </a:p>
        </p:txBody>
      </p:sp>
      <p:sp>
        <p:nvSpPr>
          <p:cNvPr id="20" name="">
            <a:extLst xmlns:a="http://schemas.openxmlformats.org/drawingml/2006/main">
              <a:ext uri="{FF2B5EF4-FFF2-40B4-BE49-F238E27FC236}">
                <a16:creationId xmlns:a16="http://schemas.microsoft.com/office/drawing/2014/main" id="{474F3012-6801-4888-A0FF-85667F60AEC5}"/>
              </a:ext>
            </a:extLst>
          </p:cNvPr>
          <p:cNvSpPr>
            <a:spLocks xmlns:a="http://schemas.openxmlformats.org/drawingml/2006/main" noGrp="1"/>
          </p:cNvSpPr>
          <p:nvPr/>
        </p:nvSpPr>
        <p:spPr>
          <a:xfrm xmlns:a="http://schemas.openxmlformats.org/drawingml/2006/main">
            <a:off x="685800" y="4743450"/>
            <a:ext cx="7239000" cy="514350"/>
          </a:xfrm>
          <a:prstGeom xmlns:a="http://schemas.openxmlformats.org/drawingml/2006/main" prst="roundRect">
            <a:avLst>
              <a:gd name="adj" fmla="val 22222"/>
            </a:avLst>
          </a:prstGeom>
          <a:solidFill xmlns:a="http://schemas.openxmlformats.org/drawingml/2006/main">
            <a:srgbClr val="2A304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8E288D7-185F-4D29-949F-37AA571E52A0}"/>
              </a:ext>
            </a:extLst>
          </p:cNvPr>
          <p:cNvSpPr>
            <a:spLocks xmlns:a="http://schemas.openxmlformats.org/drawingml/2006/main" noGrp="1"/>
          </p:cNvSpPr>
          <p:nvPr/>
        </p:nvSpPr>
        <p:spPr>
          <a:xfrm xmlns:a="http://schemas.openxmlformats.org/drawingml/2006/main">
            <a:off x="876300" y="48482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F9D42"/>
                </a:solidFill>
              </a:defRPr>
            </a:defPPr>
          </a:lstStyle>
          <a:p xmlns:a="http://schemas.openxmlformats.org/drawingml/2006/main">
            <a:pPr algn="ctr">
              <a:defRPr sz="1500" b="1">
                <a:solidFill>
                  <a:srgbClr val="FF9D42"/>
                </a:solidFill>
              </a:defRPr>
            </a:pPr>
            <a:r>
              <a:rPr sz="1500" b="1">
                <a:solidFill>
                  <a:srgbClr val="FF9D42"/>
                </a:solidFill>
              </a:rPr>
              <a:t>→</a:t>
            </a:r>
          </a:p>
        </p:txBody>
      </p:sp>
      <p:sp>
        <p:nvSpPr>
          <p:cNvPr id="22" name="">
            <a:extLst xmlns:a="http://schemas.openxmlformats.org/drawingml/2006/main">
              <a:ext uri="{FF2B5EF4-FFF2-40B4-BE49-F238E27FC236}">
                <a16:creationId xmlns:a16="http://schemas.microsoft.com/office/drawing/2014/main" id="{2104884B-6A09-4360-A04A-857DCBF3D410}"/>
              </a:ext>
            </a:extLst>
          </p:cNvPr>
          <p:cNvSpPr>
            <a:spLocks xmlns:a="http://schemas.openxmlformats.org/drawingml/2006/main" noGrp="1"/>
          </p:cNvSpPr>
          <p:nvPr/>
        </p:nvSpPr>
        <p:spPr>
          <a:xfrm xmlns:a="http://schemas.openxmlformats.org/drawingml/2006/main">
            <a:off x="1381125" y="482917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Keep HA simple</a:t>
            </a:r>
          </a:p>
        </p:txBody>
      </p:sp>
      <p:sp>
        <p:nvSpPr>
          <p:cNvPr id="23" name="">
            <a:extLst xmlns:a="http://schemas.openxmlformats.org/drawingml/2006/main">
              <a:ext uri="{FF2B5EF4-FFF2-40B4-BE49-F238E27FC236}">
                <a16:creationId xmlns:a16="http://schemas.microsoft.com/office/drawing/2014/main" id="{D6ABF4AC-85A6-4CAB-90DA-CA7371E9DDB9}"/>
              </a:ext>
            </a:extLst>
          </p:cNvPr>
          <p:cNvSpPr>
            <a:spLocks xmlns:a="http://schemas.openxmlformats.org/drawingml/2006/main" noGrp="1"/>
          </p:cNvSpPr>
          <p:nvPr/>
        </p:nvSpPr>
        <p:spPr>
          <a:xfrm xmlns:a="http://schemas.openxmlformats.org/drawingml/2006/main">
            <a:off x="4000500" y="48387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Two placements, anti-affinity, tested recovery</a:t>
            </a:r>
          </a:p>
        </p:txBody>
      </p:sp>
      <p:sp>
        <p:nvSpPr>
          <p:cNvPr id="24" name="">
            <a:extLst xmlns:a="http://schemas.openxmlformats.org/drawingml/2006/main">
              <a:ext uri="{FF2B5EF4-FFF2-40B4-BE49-F238E27FC236}">
                <a16:creationId xmlns:a16="http://schemas.microsoft.com/office/drawing/2014/main" id="{16B63382-9B74-4F78-A923-1707C37347A3}"/>
              </a:ext>
            </a:extLst>
          </p:cNvPr>
          <p:cNvSpPr>
            <a:spLocks xmlns:a="http://schemas.openxmlformats.org/drawingml/2006/main" noGrp="1"/>
          </p:cNvSpPr>
          <p:nvPr/>
        </p:nvSpPr>
        <p:spPr>
          <a:xfrm xmlns:a="http://schemas.openxmlformats.org/drawingml/2006/main">
            <a:off x="8334375" y="2076450"/>
            <a:ext cx="3171825" cy="3181350"/>
          </a:xfrm>
          <a:prstGeom xmlns:a="http://schemas.openxmlformats.org/drawingml/2006/main" prst="roundRect">
            <a:avLst>
              <a:gd name="adj" fmla="val 4805"/>
            </a:avLst>
          </a:prstGeom>
          <a:solidFill xmlns:a="http://schemas.openxmlformats.org/drawingml/2006/main">
            <a:srgbClr val="123A49"/>
          </a:solidFill>
          <a:ln xmlns:a="http://schemas.openxmlformats.org/drawingml/2006/main" w="9525">
            <a:solidFill>
              <a:srgbClr val="23D5D2"/>
            </a:solidFill>
            <a:prstDash val="solid"/>
          </a:ln>
        </p:spPr>
      </p:sp>
      <p:sp>
        <p:nvSpPr>
          <p:cNvPr id="25" name="">
            <a:extLst xmlns:a="http://schemas.openxmlformats.org/drawingml/2006/main">
              <a:ext uri="{FF2B5EF4-FFF2-40B4-BE49-F238E27FC236}">
                <a16:creationId xmlns:a16="http://schemas.microsoft.com/office/drawing/2014/main" id="{CDB385B9-454F-48BA-8F45-924524CC565F}"/>
              </a:ext>
            </a:extLst>
          </p:cNvPr>
          <p:cNvSpPr>
            <a:spLocks xmlns:a="http://schemas.openxmlformats.org/drawingml/2006/main" noGrp="1"/>
          </p:cNvSpPr>
          <p:nvPr/>
        </p:nvSpPr>
        <p:spPr>
          <a:xfrm xmlns:a="http://schemas.openxmlformats.org/drawingml/2006/main">
            <a:off x="8639175" y="2381250"/>
            <a:ext cx="255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1">
                <a:solidFill>
                  <a:srgbClr val="23D5D2"/>
                </a:solidFill>
              </a:defRPr>
            </a:defPPr>
          </a:lstStyle>
          <a:p xmlns:a="http://schemas.openxmlformats.org/drawingml/2006/main">
            <a:pPr algn="ctr">
              <a:defRPr sz="1800" b="1">
                <a:solidFill>
                  <a:srgbClr val="23D5D2"/>
                </a:solidFill>
              </a:defRPr>
            </a:pPr>
            <a:r>
              <a:rPr sz="1800" b="1">
                <a:solidFill>
                  <a:srgbClr val="23D5D2"/>
                </a:solidFill>
              </a:rPr>
              <a:t>Takeaway</a:t>
            </a:r>
          </a:p>
        </p:txBody>
      </p:sp>
      <p:sp>
        <p:nvSpPr>
          <p:cNvPr id="26" name="">
            <a:extLst xmlns:a="http://schemas.openxmlformats.org/drawingml/2006/main">
              <a:ext uri="{FF2B5EF4-FFF2-40B4-BE49-F238E27FC236}">
                <a16:creationId xmlns:a16="http://schemas.microsoft.com/office/drawing/2014/main" id="{6B86171C-142C-4095-91FB-B7233E430734}"/>
              </a:ext>
            </a:extLst>
          </p:cNvPr>
          <p:cNvSpPr>
            <a:spLocks xmlns:a="http://schemas.openxmlformats.org/drawingml/2006/main" noGrp="1"/>
          </p:cNvSpPr>
          <p:nvPr/>
        </p:nvSpPr>
        <p:spPr>
          <a:xfrm xmlns:a="http://schemas.openxmlformats.org/drawingml/2006/main">
            <a:off x="8667750" y="2952750"/>
            <a:ext cx="2476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1">
                <a:solidFill>
                  <a:srgbClr val="F7FBFF"/>
                </a:solidFill>
              </a:defRPr>
            </a:defPPr>
          </a:lstStyle>
          <a:p xmlns:a="http://schemas.openxmlformats.org/drawingml/2006/main">
            <a:pPr algn="ctr">
              <a:defRPr sz="1875" b="1">
                <a:solidFill>
                  <a:srgbClr val="F7FBFF"/>
                </a:solidFill>
              </a:defRPr>
            </a:pPr>
            <a:r>
              <a:rPr sz="1875" b="1">
                <a:solidFill>
                  <a:srgbClr val="F7FBFF"/>
                </a:solidFill>
              </a:rPr>
              <a:t>Treat the broadband edge as software with explicit packet I/O.</a:t>
            </a:r>
          </a:p>
        </p:txBody>
      </p:sp>
      <p:sp>
        <p:nvSpPr>
          <p:cNvPr id="27" name="">
            <a:extLst xmlns:a="http://schemas.openxmlformats.org/drawingml/2006/main">
              <a:ext uri="{FF2B5EF4-FFF2-40B4-BE49-F238E27FC236}">
                <a16:creationId xmlns:a16="http://schemas.microsoft.com/office/drawing/2014/main" id="{58DFA9BD-BA9D-4807-8BFA-ABC9005EA052}"/>
              </a:ext>
            </a:extLst>
          </p:cNvPr>
          <p:cNvSpPr>
            <a:spLocks xmlns:a="http://schemas.openxmlformats.org/drawingml/2006/main" noGrp="1"/>
          </p:cNvSpPr>
          <p:nvPr/>
        </p:nvSpPr>
        <p:spPr>
          <a:xfrm xmlns:a="http://schemas.openxmlformats.org/drawingml/2006/main">
            <a:off x="8858250" y="4048125"/>
            <a:ext cx="2095500" cy="2857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8" name="">
            <a:extLst xmlns:a="http://schemas.openxmlformats.org/drawingml/2006/main">
              <a:ext uri="{FF2B5EF4-FFF2-40B4-BE49-F238E27FC236}">
                <a16:creationId xmlns:a16="http://schemas.microsoft.com/office/drawing/2014/main" id="{847DEF4F-3707-4E42-8668-BC874673CF86}"/>
              </a:ext>
            </a:extLst>
          </p:cNvPr>
          <p:cNvSpPr>
            <a:spLocks xmlns:a="http://schemas.openxmlformats.org/drawingml/2006/main" noGrp="1"/>
          </p:cNvSpPr>
          <p:nvPr/>
        </p:nvSpPr>
        <p:spPr>
          <a:xfrm xmlns:a="http://schemas.openxmlformats.org/drawingml/2006/main">
            <a:off x="8858250" y="4324350"/>
            <a:ext cx="2095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A9C1D2"/>
                </a:solidFill>
              </a:defRPr>
            </a:defPPr>
          </a:lstStyle>
          <a:p xmlns:a="http://schemas.openxmlformats.org/drawingml/2006/main">
            <a:pPr algn="ctr">
              <a:defRPr sz="1500" b="1">
                <a:solidFill>
                  <a:srgbClr val="A9C1D2"/>
                </a:solidFill>
              </a:defRPr>
            </a:pPr>
            <a:r>
              <a:rPr sz="1500" b="1">
                <a:solidFill>
                  <a:srgbClr val="A9C1D2"/>
                </a:solidFill>
              </a:rPr>
              <a:t>Version it.</a:t>
            </a:r>
          </a:p>
          <a:p xmlns:a="http://schemas.openxmlformats.org/drawingml/2006/main">
            <a:pPr algn="ctr">
              <a:defRPr sz="1500" b="1">
                <a:solidFill>
                  <a:srgbClr val="A9C1D2"/>
                </a:solidFill>
              </a:defRPr>
            </a:pPr>
            <a:r>
              <a:rPr sz="1500" b="1">
                <a:solidFill>
                  <a:srgbClr val="A9C1D2"/>
                </a:solidFill>
              </a:rPr>
              <a:t>Schedule it.</a:t>
            </a:r>
          </a:p>
          <a:p xmlns:a="http://schemas.openxmlformats.org/drawingml/2006/main">
            <a:pPr algn="ctr">
              <a:defRPr sz="1500" b="1">
                <a:solidFill>
                  <a:srgbClr val="A9C1D2"/>
                </a:solidFill>
              </a:defRPr>
            </a:pPr>
            <a:r>
              <a:rPr sz="1500" b="1">
                <a:solidFill>
                  <a:srgbClr val="A9C1D2"/>
                </a:solidFill>
              </a:rPr>
              <a:t>Test the whole path.</a:t>
            </a:r>
          </a:p>
        </p:txBody>
      </p:sp>
      <p:sp>
        <p:nvSpPr>
          <p:cNvPr id="29" name="">
            <a:extLst xmlns:a="http://schemas.openxmlformats.org/drawingml/2006/main">
              <a:ext uri="{FF2B5EF4-FFF2-40B4-BE49-F238E27FC236}">
                <a16:creationId xmlns:a16="http://schemas.microsoft.com/office/drawing/2014/main" id="{DD10A11D-600C-40CB-901E-1BF661F4414E}"/>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0" name="">
            <a:extLst xmlns:a="http://schemas.openxmlformats.org/drawingml/2006/main">
              <a:ext uri="{FF2B5EF4-FFF2-40B4-BE49-F238E27FC236}">
                <a16:creationId xmlns:a16="http://schemas.microsoft.com/office/drawing/2014/main" id="{74395E5B-E854-4733-890A-B1E9D254204F}"/>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Repository: github.com/infinitydon/cloud-native-vbng-edge-lab</a:t>
            </a:r>
          </a:p>
        </p:txBody>
      </p:sp>
      <p:sp>
        <p:nvSpPr>
          <p:cNvPr id="31" name="">
            <a:extLst xmlns:a="http://schemas.openxmlformats.org/drawingml/2006/main">
              <a:ext uri="{FF2B5EF4-FFF2-40B4-BE49-F238E27FC236}">
                <a16:creationId xmlns:a16="http://schemas.microsoft.com/office/drawing/2014/main" id="{91CECA4B-A86B-472E-8A4A-9275B7EE4275}"/>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06</a:t>
            </a:r>
          </a:p>
        </p:txBody>
      </p:sp>
    </p:spTree>
    <p:extLst>
      <p:ext uri="{BB962C8B-B14F-4D97-AF65-F5344CB8AC3E}">
        <p14:creationId xmlns:p14="http://schemas.microsoft.com/office/powerpoint/2010/main" val="7943086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2026-10-10T20:33:56.0700000Z</dcterms:created>
  <dcterms:modified xsi:type="dcterms:W3CDTF">2026-10-10T20:33:56.0700000Z</dcterms:modified>
</coreProperties>
</file>