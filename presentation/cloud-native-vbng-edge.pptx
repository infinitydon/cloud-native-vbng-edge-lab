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b57306cc904041" /><Relationship Type="http://schemas.openxmlformats.org/officeDocument/2006/relationships/extended-properties" Target="/docProps/app.xml" Id="R8a0281bc5f454044" /><Relationship Type="http://schemas.openxmlformats.org/officeDocument/2006/relationships/officeDocument" Target="/ppt/presentation.xml" Id="Ra3d61f3e827c4a42" /></Relationships>
</file>

<file path=ppt/presentation.xml><?xml version="1.0" encoding="utf-8"?>
<p:presentation xmlns:p="http://schemas.openxmlformats.org/presentationml/2006/main">
  <p:sldMasterIdLst>
    <p:sldMasterId xmlns:r="http://schemas.openxmlformats.org/officeDocument/2006/relationships" id="2147483648" r:id="R647ccfdf080743fc"/>
  </p:sldMasterIdLst>
  <p:notesMasterIdLst>
    <p:notesMasterId xmlns:r="http://schemas.openxmlformats.org/officeDocument/2006/relationships" r:id="R78381b3457dc4667"/>
  </p:notesMasterIdLst>
  <p:sldIdLst>
    <p:sldId xmlns:r="http://schemas.openxmlformats.org/officeDocument/2006/relationships" id="256" r:id="R1fca78424c254145"/>
    <p:sldId xmlns:r="http://schemas.openxmlformats.org/officeDocument/2006/relationships" id="257" r:id="R3329f4ca04e649a9"/>
    <p:sldId xmlns:r="http://schemas.openxmlformats.org/officeDocument/2006/relationships" id="258" r:id="R0622eb74bddf4ece"/>
    <p:sldId xmlns:r="http://schemas.openxmlformats.org/officeDocument/2006/relationships" id="259" r:id="Racc71fc3655d4b95"/>
    <p:sldId xmlns:r="http://schemas.openxmlformats.org/officeDocument/2006/relationships" id="260" r:id="R618f4bd0091a4a98"/>
    <p:sldId xmlns:r="http://schemas.openxmlformats.org/officeDocument/2006/relationships" id="261" r:id="Redab1cb842ab464b"/>
    <p:sldId xmlns:r="http://schemas.openxmlformats.org/officeDocument/2006/relationships" id="262" r:id="R3b10f21e2ce84fdb"/>
    <p:sldId xmlns:r="http://schemas.openxmlformats.org/officeDocument/2006/relationships" id="263" r:id="Ra6b57fda239f4655"/>
    <p:sldId xmlns:r="http://schemas.openxmlformats.org/officeDocument/2006/relationships" id="264" r:id="R5379b9ad4bb94fc3"/>
    <p:sldId xmlns:r="http://schemas.openxmlformats.org/officeDocument/2006/relationships" id="265" r:id="R5bda1e59be894d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20fdddd7ee43d3" /><Relationship Type="http://schemas.openxmlformats.org/officeDocument/2006/relationships/slideMaster" Target="/ppt/slideMasters/slideMaster1.xml" Id="R647ccfdf080743fc" /><Relationship Type="http://schemas.openxmlformats.org/officeDocument/2006/relationships/notesMaster" Target="/ppt/notesMasters/notesMaster1.xml" Id="R78381b3457dc4667" /><Relationship Type="http://schemas.openxmlformats.org/officeDocument/2006/relationships/presProps" Target="/ppt/presProps.xml" Id="R17a2c7a2b4154120" /><Relationship Type="http://schemas.openxmlformats.org/officeDocument/2006/relationships/tableStyles" Target="/ppt/tableStyles.xml" Id="R7791a9ad11f64de6" /><Relationship Type="http://schemas.openxmlformats.org/officeDocument/2006/relationships/slide" Target="/ppt/slides/slide1.xml" Id="R1fca78424c254145" /><Relationship Type="http://schemas.openxmlformats.org/officeDocument/2006/relationships/slide" Target="/ppt/slides/slide2.xml" Id="R3329f4ca04e649a9" /><Relationship Type="http://schemas.openxmlformats.org/officeDocument/2006/relationships/slide" Target="/ppt/slides/slide3.xml" Id="R0622eb74bddf4ece" /><Relationship Type="http://schemas.openxmlformats.org/officeDocument/2006/relationships/slide" Target="/ppt/slides/slide4.xml" Id="Racc71fc3655d4b95" /><Relationship Type="http://schemas.openxmlformats.org/officeDocument/2006/relationships/slide" Target="/ppt/slides/slide5.xml" Id="R618f4bd0091a4a98" /><Relationship Type="http://schemas.openxmlformats.org/officeDocument/2006/relationships/slide" Target="/ppt/slides/slide6.xml" Id="Redab1cb842ab464b" /><Relationship Type="http://schemas.openxmlformats.org/officeDocument/2006/relationships/slide" Target="/ppt/slides/slide7.xml" Id="R3b10f21e2ce84fdb" /><Relationship Type="http://schemas.openxmlformats.org/officeDocument/2006/relationships/slide" Target="/ppt/slides/slide8.xml" Id="Ra6b57fda239f4655" /><Relationship Type="http://schemas.openxmlformats.org/officeDocument/2006/relationships/slide" Target="/ppt/slides/slide9.xml" Id="R5379b9ad4bb94fc3" /><Relationship Type="http://schemas.openxmlformats.org/officeDocument/2006/relationships/slide" Target="/ppt/slides/slide10.xml" Id="R5bda1e59be894d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e94b27ad3e49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497a172ddd4a50" /><Relationship Type="http://schemas.openxmlformats.org/officeDocument/2006/relationships/notesMaster" Target="/ppt/notesMasters/notesMaster1.xml" Id="R9455f31df0fb44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e9dab5846f464c" /><Relationship Type="http://schemas.openxmlformats.org/officeDocument/2006/relationships/notesMaster" Target="/ppt/notesMasters/notesMaster1.xml" Id="Rec083d63e96249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bfdacd7de7482b" /><Relationship Type="http://schemas.openxmlformats.org/officeDocument/2006/relationships/notesMaster" Target="/ppt/notesMasters/notesMaster1.xml" Id="Reebb222665074f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6c0eb5af8b45cf" /><Relationship Type="http://schemas.openxmlformats.org/officeDocument/2006/relationships/notesMaster" Target="/ppt/notesMasters/notesMaster1.xml" Id="Rab724f65e3ed4e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f084cb93c64a50" /><Relationship Type="http://schemas.openxmlformats.org/officeDocument/2006/relationships/notesMaster" Target="/ppt/notesMasters/notesMaster1.xml" Id="R768c4c162c334c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f91783650141fe" /><Relationship Type="http://schemas.openxmlformats.org/officeDocument/2006/relationships/notesMaster" Target="/ppt/notesMasters/notesMaster1.xml" Id="R3d545cf6baf241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5c18688f2047d6" /><Relationship Type="http://schemas.openxmlformats.org/officeDocument/2006/relationships/notesMaster" Target="/ppt/notesMasters/notesMaster1.xml" Id="R927001482a2c42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bbc93968b04202" /><Relationship Type="http://schemas.openxmlformats.org/officeDocument/2006/relationships/notesMaster" Target="/ppt/notesMasters/notesMaster1.xml" Id="Raac641e8f51f4a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6f94d3076d41f4" /><Relationship Type="http://schemas.openxmlformats.org/officeDocument/2006/relationships/notesMaster" Target="/ppt/notesMasters/notesMaster1.xml" Id="R7cc8122c66ac49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79c1d6925a47aa" /><Relationship Type="http://schemas.openxmlformats.org/officeDocument/2006/relationships/notesMaster" Target="/ppt/notesMasters/notesMaster1.xml" Id="R31bfee8082254a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question: can Kubernetes host a broadband edge function while preserving predictable packet I/O and familiar routing behavior? This presentation covers the BNG role, the Kubernetes architecture, the packet path, NIC acceleration, and a practical production blueprint. High availability is included as a simple design consideration rather than the main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introduce yourself as Christopher Adigun, a Cloud-Native AI and Telecom Architect. Mention your focus on telecom platforms, network automation, and Kubernetes data planes. State the disclaimer clearly: the views in this presentation are personal and do not represent those of your employer. Keep this introduction to about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specific project used in the deployment: OSVBNG from veesix-networks. The project provides an open-source BNG control plane and integrates VPP, FRR, and DPDK. It supports IPoE and PPPoE access, CGNAT, routing, AAA, QoS, and monitoring. The Kubernetes work packages this software as a StatefulSet and supplies deterministic interfaces, configuration, and lifecycle management. Source: https://github.com/veesix-networks/osvbng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BNG in operator language. It terminates subscriber sessions, applies identity and policy, assigns addresses, provides services such as CGNAT, and exchanges routes with the provider core. Kubernetes does not remove those responsibilities. It changes how the function is packaged, placed, upgraded, and observed. Source: https://github.com/veesix-networks/osvbng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UE test workloads generate VLAN-tagged subscribers. The BNG StatefulSet owns dedicated VFIO devices and runs VPP with DPDK. FRR pods use Multus macvlan interfaces and exchange BGP with both BNG members. The upstream side uses 192.168.88.12 and .13, avoiding the previously assigned .250 and .251 addresses. Kubernetes handles lifecycle and management traffic; the forwarding path remains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List the Kubernetes integrations actually used. Multus attaches multiple networks. The SR-IOV Device Plugin advertises the VFIO-bound virtio devices as Kubernetes resources. The host-device CNI moves the assigned access and core devices into the BNG pod. Macvlan provides FRR core and upstream interfaces. The snapshot on the right comes from the running osvbng-ha namespace and shows both BNG pods, both FRR pods, FreeRADIUS, and PostgreSQL. FRR-A had established BGP sessions with both BNG members when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demo setup. A subscriber first gets a session and address. The BNG classifies the VLAN and service, performs CGNAT, and forwards toward an FRR next hop. FRR receives subscriber and CGNAT reachability from the BNG and the default route from the upstream router. Return traffic only works when the upstream learns the translated prefix. This is why a ping is an end-to-end proof, not just an ICMP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strategic point. High-speed NICs, SR-IOV, DPDK, SmartNICs, and DPUs increasingly provide acceleration and isolation. At smaller edge sites, that can make separate hardware for each network function unnecessary. A shared Kubernetes cluster may host the vBNG, software routers, AAA, and observability. Be careful with the claim: consolidation is an option, not a universal prescription. Capacity, blast radius, and operational policy still decide the production design. Sources: https://networking-docs.nvidia.com/bf3dpu/introduction and https://networkbuilders.intel.com/docs/networkbuilders/re-architecting-the-broadband-network-gateway-bng-in-a-network-functions-virtualization-nfv-and-cloud-native-world-1633374232.pdf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production sequence. Define the subscriber scale and hardware profile first. Reserve the data-plane resources and place workloads according to topology. Integrate routing so both the default route and return prefixes are correct. Operate the solution through versioned Helm releases and observable health checks. For availability, keep the baseline simple: two placements, anti-affinity, and tested recovery behavior. The main takeaway is that Kubernetes can host the broadband edge when packet I/O remains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path beyond the deployment itself. A separate operations layer can expose read-only BNG and Kubernetes diagnostics through MCP tools. AgentGateway provides the security boundary, ToolHive manages MCP servers, and an operations UI presents well-formatted answers. Start with health, BGP, routing, and subscriber visibility. Require authorization and approval before any change. Emphasize that this layer remains a separate deployment and does not belong inside the vBNG Helm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805e4756d348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0edcace6d243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f53d2604c4643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0ad3ae13134d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75057454e447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828cf2c09f42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005597-16C8-48DC-9375-E92B28B276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46C41CE-BFE2-4CBE-A619-4FBCBE49DA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28F149-5150-4B45-A8AD-90659AE2A8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54A426-F849-486E-9AD9-B87055BD61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AF8B79-D465-4901-83CC-CCA13C61B8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24D4D9-2895-4F12-9769-A45026F9F6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A68237-F9A8-4EB3-AF4B-2EBA2303DE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5A34F4-2A1A-403B-BC15-5E7C6B7C74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4E7A5A-5138-424C-B94C-7336162801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22A060-6FAA-4CD2-B12C-F2096A9EA7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0d345f67a1439f" /><Relationship Type="http://schemas.openxmlformats.org/officeDocument/2006/relationships/slideLayout" Target="/ppt/slideLayouts/slideLayout1.xml" Id="Ra1f740a773774a60" /><Relationship Type="http://schemas.openxmlformats.org/officeDocument/2006/relationships/slideLayout" Target="/ppt/slideLayouts/slideLayout2.xml" Id="R56fee4c32e104c92" /><Relationship Type="http://schemas.openxmlformats.org/officeDocument/2006/relationships/slideLayout" Target="/ppt/slideLayouts/slideLayout3.xml" Id="R30bb6edcbf294deb" /><Relationship Type="http://schemas.openxmlformats.org/officeDocument/2006/relationships/slideLayout" Target="/ppt/slideLayouts/slideLayout4.xml" Id="Rf46d76e0e9dc424a" /><Relationship Type="http://schemas.openxmlformats.org/officeDocument/2006/relationships/slideLayout" Target="/ppt/slideLayouts/slideLayout5.xml" Id="R8aa86ad1890d4a81" /><Relationship Type="http://schemas.openxmlformats.org/officeDocument/2006/relationships/slideLayout" Target="/ppt/slideLayouts/slideLayout6.xml" Id="Rd4807a3e80ce4a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f740a773774a60"/>
    <p:sldLayoutId xmlns:r="http://schemas.openxmlformats.org/officeDocument/2006/relationships" id="2147483650" r:id="R56fee4c32e104c92"/>
    <p:sldLayoutId xmlns:r="http://schemas.openxmlformats.org/officeDocument/2006/relationships" id="2147483651" r:id="R30bb6edcbf294deb"/>
    <p:sldLayoutId xmlns:r="http://schemas.openxmlformats.org/officeDocument/2006/relationships" id="2147483652" r:id="Rf46d76e0e9dc424a"/>
    <p:sldLayoutId xmlns:r="http://schemas.openxmlformats.org/officeDocument/2006/relationships" id="2147483653" r:id="R8aa86ad1890d4a81"/>
    <p:sldLayoutId xmlns:r="http://schemas.openxmlformats.org/officeDocument/2006/relationships" id="2147483654" r:id="Rd4807a3e80ce4a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46ebf773014d1d" /><Relationship Type="http://schemas.openxmlformats.org/officeDocument/2006/relationships/image" Target="/ppt/media/image.png" Id="Redf80c641c094c57" /><Relationship Type="http://schemas.openxmlformats.org/officeDocument/2006/relationships/notesSlide" Target="/ppt/notesSlides/notesSlide1.xml" Id="R6f10e84089e440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848017f1024f72" /><Relationship Type="http://schemas.openxmlformats.org/officeDocument/2006/relationships/notesSlide" Target="/ppt/notesSlides/notesSlide2.xml" Id="Rbb6ce505d66c48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e4fbffbd264aea" /><Relationship Type="http://schemas.openxmlformats.org/officeDocument/2006/relationships/notesSlide" Target="/ppt/notesSlides/notesSlide3.xml" Id="Rda7fe8ec1fd54b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d6902bdaed47ac" /><Relationship Type="http://schemas.openxmlformats.org/officeDocument/2006/relationships/notesSlide" Target="/ppt/notesSlides/notesSlide4.xml" Id="Refb6edd45c6046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e26f7f23d04d39" /><Relationship Type="http://schemas.openxmlformats.org/officeDocument/2006/relationships/notesSlide" Target="/ppt/notesSlides/notesSlide5.xml" Id="Rd7c62ce3702e44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3e1fa42e2241eb" /><Relationship Type="http://schemas.openxmlformats.org/officeDocument/2006/relationships/notesSlide" Target="/ppt/notesSlides/notesSlide6.xml" Id="R44a8c401713044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cc164f6931b4de0" /><Relationship Type="http://schemas.openxmlformats.org/officeDocument/2006/relationships/notesSlide" Target="/ppt/notesSlides/notesSlide7.xml" Id="R24e984e7e63a4a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4aaa1d0c0540b4" /><Relationship Type="http://schemas.openxmlformats.org/officeDocument/2006/relationships/notesSlide" Target="/ppt/notesSlides/notesSlide8.xml" Id="R229ad39d463146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c18d38d6d084f0f" /><Relationship Type="http://schemas.openxmlformats.org/officeDocument/2006/relationships/notesSlide" Target="/ppt/notesSlides/notesSlide9.xml" Id="R88f6ef9d6c1f4f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b5f1434759143fe" /><Relationship Type="http://schemas.openxmlformats.org/officeDocument/2006/relationships/notesSlide" Target="/ppt/notesSlides/notesSlide10.xml" Id="R4fb6ccf3051a4dd3" /></Relationships>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1BB6E5-5AE8-41F9-BC11-54E3D0CF9E2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pic>
        <p:nvPicPr>
          <p:cNvPr id="2" name="">
            <a:extLst xmlns:a="http://schemas.openxmlformats.org/drawingml/2006/main">
              <a:ext uri="{FF2B5EF4-FFF2-40B4-BE49-F238E27FC236}">
                <a16:creationId xmlns:a16="http://schemas.microsoft.com/office/drawing/2014/main" id="{BD2ED3AA-6EAC-4F27-A8FE-E4CF588D31D6}"/>
              </a:ext>
            </a:extLst>
          </p:cNvPr>
          <p:cNvPicPr>
            <a:picLocks xmlns:a="http://schemas.openxmlformats.org/drawingml/2006/main" noChangeAspect="1"/>
          </p:cNvPicPr>
          <p:nvPr/>
        </p:nvPicPr>
        <p:blipFill>
          <a:blip xmlns:r="http://schemas.openxmlformats.org/officeDocument/2006/relationships" xmlns:a="http://schemas.openxmlformats.org/drawingml/2006/main" r:embed="Redf80c641c094c57"/>
          <a:srcRect xmlns:a="http://schemas.openxmlformats.org/drawingml/2006/main" l="0" t="5729" r="0" b="5729"/>
          <a:stretch xmlns:a="http://schemas.openxmlformats.org/drawingml/2006/main">
            <a:fillRect l="0" t="0" r="0" b="0"/>
          </a:stretch>
        </p:blipFill>
        <p:spPr>
          <a:xfrm xmlns:a="http://schemas.openxmlformats.org/drawingml/2006/main">
            <a:off x="7048500" y="685800"/>
            <a:ext cx="4476750" cy="4953000"/>
          </a:xfrm>
          <a:prstGeom xmlns:a="http://schemas.openxmlformats.org/drawingml/2006/main" prst="roundRect">
            <a:avLst>
              <a:gd name="adj" fmla="val 5106"/>
            </a:avLst>
          </a:prstGeom>
        </p:spPr>
      </p:pic>
      <p:sp>
        <p:nvSpPr>
          <p:cNvPr id="3" name="">
            <a:extLst xmlns:a="http://schemas.openxmlformats.org/drawingml/2006/main">
              <a:ext uri="{FF2B5EF4-FFF2-40B4-BE49-F238E27FC236}">
                <a16:creationId xmlns:a16="http://schemas.microsoft.com/office/drawing/2014/main" id="{5A4FF4F2-F3CA-4AAB-A3A5-0DBC9A532FF5}"/>
              </a:ext>
            </a:extLst>
          </p:cNvPr>
          <p:cNvSpPr>
            <a:spLocks xmlns:a="http://schemas.openxmlformats.org/drawingml/2006/main" noGrp="1"/>
          </p:cNvSpPr>
          <p:nvPr/>
        </p:nvSpPr>
        <p:spPr>
          <a:xfrm xmlns:a="http://schemas.openxmlformats.org/drawingml/2006/main">
            <a:off x="685800" y="1123950"/>
            <a:ext cx="571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600" b="1">
                <a:solidFill>
                  <a:srgbClr val="F7FBFF"/>
                </a:solidFill>
              </a:defRPr>
            </a:defPPr>
          </a:lstStyle>
          <a:p xmlns:a="http://schemas.openxmlformats.org/drawingml/2006/main">
            <a:pPr algn="l">
              <a:defRPr sz="3600" b="1">
                <a:solidFill>
                  <a:srgbClr val="F7FBFF"/>
                </a:solidFill>
              </a:defRPr>
            </a:pPr>
            <a:r>
              <a:rPr sz="3600" b="1">
                <a:solidFill>
                  <a:srgbClr val="F7FBFF"/>
                </a:solidFill>
              </a:rPr>
              <a:t>Cloud-Native</a:t>
            </a:r>
          </a:p>
          <a:p xmlns:a="http://schemas.openxmlformats.org/drawingml/2006/main">
            <a:pPr algn="l">
              <a:defRPr sz="3600" b="1">
                <a:solidFill>
                  <a:srgbClr val="F7FBFF"/>
                </a:solidFill>
              </a:defRPr>
            </a:pPr>
            <a:r>
              <a:rPr sz="3600" b="1">
                <a:solidFill>
                  <a:srgbClr val="F7FBFF"/>
                </a:solidFill>
              </a:rPr>
              <a:t>Broadband Edge</a:t>
            </a:r>
          </a:p>
        </p:txBody>
      </p:sp>
      <p:sp>
        <p:nvSpPr>
          <p:cNvPr id="4" name="">
            <a:extLst xmlns:a="http://schemas.openxmlformats.org/drawingml/2006/main">
              <a:ext uri="{FF2B5EF4-FFF2-40B4-BE49-F238E27FC236}">
                <a16:creationId xmlns:a16="http://schemas.microsoft.com/office/drawing/2014/main" id="{94221983-BB00-410D-85E1-1164608253BF}"/>
              </a:ext>
            </a:extLst>
          </p:cNvPr>
          <p:cNvSpPr>
            <a:spLocks xmlns:a="http://schemas.openxmlformats.org/drawingml/2006/main" noGrp="1"/>
          </p:cNvSpPr>
          <p:nvPr/>
        </p:nvSpPr>
        <p:spPr>
          <a:xfrm xmlns:a="http://schemas.openxmlformats.org/drawingml/2006/main">
            <a:off x="685800" y="2743200"/>
            <a:ext cx="5619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a:solidFill>
                  <a:srgbClr val="23D5D2"/>
                </a:solidFill>
              </a:defRPr>
            </a:defPPr>
          </a:lstStyle>
          <a:p xmlns:a="http://schemas.openxmlformats.org/drawingml/2006/main">
            <a:pPr algn="l">
              <a:defRPr sz="1875" b="1">
                <a:solidFill>
                  <a:srgbClr val="23D5D2"/>
                </a:solidFill>
              </a:defRPr>
            </a:pPr>
            <a:r>
              <a:rPr sz="1875" b="1">
                <a:solidFill>
                  <a:srgbClr val="23D5D2"/>
                </a:solidFill>
              </a:rPr>
              <a:t>Deploying a High-Performance vBNG on Kubernetes</a:t>
            </a:r>
          </a:p>
        </p:txBody>
      </p:sp>
      <p:sp>
        <p:nvSpPr>
          <p:cNvPr id="5" name="">
            <a:extLst xmlns:a="http://schemas.openxmlformats.org/drawingml/2006/main">
              <a:ext uri="{FF2B5EF4-FFF2-40B4-BE49-F238E27FC236}">
                <a16:creationId xmlns:a16="http://schemas.microsoft.com/office/drawing/2014/main" id="{7CC88497-F0C3-48DD-AAB6-124FC977EA21}"/>
              </a:ext>
            </a:extLst>
          </p:cNvPr>
          <p:cNvSpPr>
            <a:spLocks xmlns:a="http://schemas.openxmlformats.org/drawingml/2006/main" noGrp="1"/>
          </p:cNvSpPr>
          <p:nvPr/>
        </p:nvSpPr>
        <p:spPr>
          <a:xfrm xmlns:a="http://schemas.openxmlformats.org/drawingml/2006/main">
            <a:off x="685800" y="3638550"/>
            <a:ext cx="5429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A9C1D2"/>
                </a:solidFill>
              </a:defRPr>
            </a:defPPr>
          </a:lstStyle>
          <a:p xmlns:a="http://schemas.openxmlformats.org/drawingml/2006/main">
            <a:pPr algn="l">
              <a:defRPr sz="1500" b="0">
                <a:solidFill>
                  <a:srgbClr val="A9C1D2"/>
                </a:solidFill>
              </a:defRPr>
            </a:pPr>
            <a:r>
              <a:rPr sz="1500" b="0">
                <a:solidFill>
                  <a:srgbClr val="A9C1D2"/>
                </a:solidFill>
              </a:rPr>
              <a:t>A 10-minute overview of architecture, packet I/O, routing integration, and operational design.</a:t>
            </a:r>
          </a:p>
        </p:txBody>
      </p:sp>
      <p:sp>
        <p:nvSpPr>
          <p:cNvPr id="6" name="">
            <a:extLst xmlns:a="http://schemas.openxmlformats.org/drawingml/2006/main">
              <a:ext uri="{FF2B5EF4-FFF2-40B4-BE49-F238E27FC236}">
                <a16:creationId xmlns:a16="http://schemas.microsoft.com/office/drawing/2014/main" id="{7E75754E-D72F-410C-8A6A-475036464EEE}"/>
              </a:ext>
            </a:extLst>
          </p:cNvPr>
          <p:cNvSpPr>
            <a:spLocks xmlns:a="http://schemas.openxmlformats.org/drawingml/2006/main" noGrp="1"/>
          </p:cNvSpPr>
          <p:nvPr/>
        </p:nvSpPr>
        <p:spPr>
          <a:xfrm xmlns:a="http://schemas.openxmlformats.org/drawingml/2006/main">
            <a:off x="685800" y="4953000"/>
            <a:ext cx="1428750" cy="323850"/>
          </a:xfrm>
          <a:prstGeom xmlns:a="http://schemas.openxmlformats.org/drawingml/2006/main" prst="roundRect">
            <a:avLst>
              <a:gd name="adj" fmla="val 50000"/>
            </a:avLst>
          </a:prstGeom>
          <a:solidFill xmlns:a="http://schemas.openxmlformats.org/drawingml/2006/main">
            <a:srgbClr val="0E2B4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B7B940-3098-4A28-93AC-6D00D4B205CA}"/>
              </a:ext>
            </a:extLst>
          </p:cNvPr>
          <p:cNvSpPr>
            <a:spLocks xmlns:a="http://schemas.openxmlformats.org/drawingml/2006/main" noGrp="1"/>
          </p:cNvSpPr>
          <p:nvPr/>
        </p:nvSpPr>
        <p:spPr>
          <a:xfrm xmlns:a="http://schemas.openxmlformats.org/drawingml/2006/main">
            <a:off x="800100" y="50196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F7FBFF"/>
                </a:solidFill>
              </a:defRPr>
            </a:defPPr>
          </a:lstStyle>
          <a:p xmlns:a="http://schemas.openxmlformats.org/drawingml/2006/main">
            <a:pPr algn="ctr">
              <a:defRPr sz="975" b="1">
                <a:solidFill>
                  <a:srgbClr val="F7FBFF"/>
                </a:solidFill>
              </a:defRPr>
            </a:pPr>
            <a:r>
              <a:rPr sz="975" b="1">
                <a:solidFill>
                  <a:srgbClr val="F7FBFF"/>
                </a:solidFill>
              </a:rPr>
              <a:t>KUBERNETES</a:t>
            </a:r>
          </a:p>
        </p:txBody>
      </p:sp>
      <p:sp>
        <p:nvSpPr>
          <p:cNvPr id="8" name="">
            <a:extLst xmlns:a="http://schemas.openxmlformats.org/drawingml/2006/main">
              <a:ext uri="{FF2B5EF4-FFF2-40B4-BE49-F238E27FC236}">
                <a16:creationId xmlns:a16="http://schemas.microsoft.com/office/drawing/2014/main" id="{A20F21C9-666B-469A-B6C7-120013C85789}"/>
              </a:ext>
            </a:extLst>
          </p:cNvPr>
          <p:cNvSpPr>
            <a:spLocks xmlns:a="http://schemas.openxmlformats.org/drawingml/2006/main" noGrp="1"/>
          </p:cNvSpPr>
          <p:nvPr/>
        </p:nvSpPr>
        <p:spPr>
          <a:xfrm xmlns:a="http://schemas.openxmlformats.org/drawingml/2006/main">
            <a:off x="2247900" y="4953000"/>
            <a:ext cx="1428750" cy="323850"/>
          </a:xfrm>
          <a:prstGeom xmlns:a="http://schemas.openxmlformats.org/drawingml/2006/main" prst="roundRect">
            <a:avLst>
              <a:gd name="adj" fmla="val 50000"/>
            </a:avLst>
          </a:prstGeom>
          <a:solidFill xmlns:a="http://schemas.openxmlformats.org/drawingml/2006/main">
            <a:srgbClr val="0E2B4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FA1D67F-193D-4A01-9450-7936DA4337E6}"/>
              </a:ext>
            </a:extLst>
          </p:cNvPr>
          <p:cNvSpPr>
            <a:spLocks xmlns:a="http://schemas.openxmlformats.org/drawingml/2006/main" noGrp="1"/>
          </p:cNvSpPr>
          <p:nvPr/>
        </p:nvSpPr>
        <p:spPr>
          <a:xfrm xmlns:a="http://schemas.openxmlformats.org/drawingml/2006/main">
            <a:off x="2362200" y="501967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F7FBFF"/>
                </a:solidFill>
              </a:defRPr>
            </a:defPPr>
          </a:lstStyle>
          <a:p xmlns:a="http://schemas.openxmlformats.org/drawingml/2006/main">
            <a:pPr algn="ctr">
              <a:defRPr sz="975" b="1">
                <a:solidFill>
                  <a:srgbClr val="F7FBFF"/>
                </a:solidFill>
              </a:defRPr>
            </a:pPr>
            <a:r>
              <a:rPr sz="975" b="1">
                <a:solidFill>
                  <a:srgbClr val="F7FBFF"/>
                </a:solidFill>
              </a:rPr>
              <a:t>DPDK / VPP</a:t>
            </a:r>
          </a:p>
        </p:txBody>
      </p:sp>
      <p:sp>
        <p:nvSpPr>
          <p:cNvPr id="10" name="">
            <a:extLst xmlns:a="http://schemas.openxmlformats.org/drawingml/2006/main">
              <a:ext uri="{FF2B5EF4-FFF2-40B4-BE49-F238E27FC236}">
                <a16:creationId xmlns:a16="http://schemas.microsoft.com/office/drawing/2014/main" id="{F4543883-C79B-4BFF-8291-CC5E341247FC}"/>
              </a:ext>
            </a:extLst>
          </p:cNvPr>
          <p:cNvSpPr>
            <a:spLocks xmlns:a="http://schemas.openxmlformats.org/drawingml/2006/main" noGrp="1"/>
          </p:cNvSpPr>
          <p:nvPr/>
        </p:nvSpPr>
        <p:spPr>
          <a:xfrm xmlns:a="http://schemas.openxmlformats.org/drawingml/2006/main">
            <a:off x="3810000" y="4953000"/>
            <a:ext cx="1000125" cy="323850"/>
          </a:xfrm>
          <a:prstGeom xmlns:a="http://schemas.openxmlformats.org/drawingml/2006/main" prst="roundRect">
            <a:avLst>
              <a:gd name="adj" fmla="val 50000"/>
            </a:avLst>
          </a:prstGeom>
          <a:solidFill xmlns:a="http://schemas.openxmlformats.org/drawingml/2006/main">
            <a:srgbClr val="FF9D4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627D10-1CF6-4BE2-A18E-9D30CD494993}"/>
              </a:ext>
            </a:extLst>
          </p:cNvPr>
          <p:cNvSpPr>
            <a:spLocks xmlns:a="http://schemas.openxmlformats.org/drawingml/2006/main" noGrp="1"/>
          </p:cNvSpPr>
          <p:nvPr/>
        </p:nvSpPr>
        <p:spPr>
          <a:xfrm xmlns:a="http://schemas.openxmlformats.org/drawingml/2006/main">
            <a:off x="3924300" y="5019675"/>
            <a:ext cx="7715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HELM</a:t>
            </a:r>
          </a:p>
        </p:txBody>
      </p:sp>
      <p:sp>
        <p:nvSpPr>
          <p:cNvPr id="12" name="">
            <a:extLst xmlns:a="http://schemas.openxmlformats.org/drawingml/2006/main">
              <a:ext uri="{FF2B5EF4-FFF2-40B4-BE49-F238E27FC236}">
                <a16:creationId xmlns:a16="http://schemas.microsoft.com/office/drawing/2014/main" id="{59DF02B6-A454-45F2-8B3E-56D806A94088}"/>
              </a:ext>
            </a:extLst>
          </p:cNvPr>
          <p:cNvSpPr>
            <a:spLocks xmlns:a="http://schemas.openxmlformats.org/drawingml/2006/main" noGrp="1"/>
          </p:cNvSpPr>
          <p:nvPr/>
        </p:nvSpPr>
        <p:spPr>
          <a:xfrm xmlns:a="http://schemas.openxmlformats.org/drawingml/2006/main">
            <a:off x="685800" y="5905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A9C1D2"/>
                </a:solidFill>
              </a:defRPr>
            </a:defPPr>
          </a:lstStyle>
          <a:p xmlns:a="http://schemas.openxmlformats.org/drawingml/2006/main">
            <a:pPr algn="l">
              <a:defRPr sz="1050" b="0">
                <a:solidFill>
                  <a:srgbClr val="A9C1D2"/>
                </a:solidFill>
              </a:defRPr>
            </a:pPr>
            <a:r>
              <a:rPr sz="1050" b="0">
                <a:solidFill>
                  <a:srgbClr val="A9C1D2"/>
                </a:solidFill>
              </a:rPr>
              <a:t>Presented by Christopher Adigun • October 2026</a:t>
            </a:r>
          </a:p>
        </p:txBody>
      </p:sp>
      <p:sp>
        <p:nvSpPr>
          <p:cNvPr id="13" name="">
            <a:extLst xmlns:a="http://schemas.openxmlformats.org/drawingml/2006/main">
              <a:ext uri="{FF2B5EF4-FFF2-40B4-BE49-F238E27FC236}">
                <a16:creationId xmlns:a16="http://schemas.microsoft.com/office/drawing/2014/main" id="{A0FAB163-FE59-428D-AD76-182B3F92287F}"/>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14" name="">
            <a:extLst xmlns:a="http://schemas.openxmlformats.org/drawingml/2006/main">
              <a:ext uri="{FF2B5EF4-FFF2-40B4-BE49-F238E27FC236}">
                <a16:creationId xmlns:a16="http://schemas.microsoft.com/office/drawing/2014/main" id="{F050E6B3-A68B-4797-9792-6D748058A5B7}"/>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0A6F584A-DA4B-4C6D-9244-4F920309C302}"/>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01</a:t>
            </a:r>
          </a:p>
        </p:txBody>
      </p:sp>
    </p:spTree>
    <p:extLst>
      <p:ext uri="{BB962C8B-B14F-4D97-AF65-F5344CB8AC3E}">
        <p14:creationId xmlns:p14="http://schemas.microsoft.com/office/powerpoint/2010/main" val="430512511"/>
      </p:ext>
    </p:extLst>
  </p:cSld>
</p:sld>
</file>

<file path=ppt/slides/slide2.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96B3332-B17B-49FC-AC9A-9F776E767B40}"/>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SPEAKER INTRODUCTION</a:t>
            </a:r>
          </a:p>
        </p:txBody>
      </p:sp>
      <p:sp>
        <p:nvSpPr>
          <p:cNvPr id="2" name="">
            <a:extLst xmlns:a="http://schemas.openxmlformats.org/drawingml/2006/main">
              <a:ext uri="{FF2B5EF4-FFF2-40B4-BE49-F238E27FC236}">
                <a16:creationId xmlns:a16="http://schemas.microsoft.com/office/drawing/2014/main" id="{F31270B8-8287-4A1A-AEA5-E1EB9E29544C}"/>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Christopher Adigun</a:t>
            </a:r>
          </a:p>
        </p:txBody>
      </p:sp>
      <p:sp>
        <p:nvSpPr>
          <p:cNvPr id="3" name="">
            <a:extLst xmlns:a="http://schemas.openxmlformats.org/drawingml/2006/main">
              <a:ext uri="{FF2B5EF4-FFF2-40B4-BE49-F238E27FC236}">
                <a16:creationId xmlns:a16="http://schemas.microsoft.com/office/drawing/2014/main" id="{91D42638-56DE-4448-B085-2EA525168492}"/>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Cloud-Native AI &amp; Telecom Architect</a:t>
            </a:r>
          </a:p>
        </p:txBody>
      </p:sp>
      <p:sp>
        <p:nvSpPr>
          <p:cNvPr id="4" name="">
            <a:extLst xmlns:a="http://schemas.openxmlformats.org/drawingml/2006/main">
              <a:ext uri="{FF2B5EF4-FFF2-40B4-BE49-F238E27FC236}">
                <a16:creationId xmlns:a16="http://schemas.microsoft.com/office/drawing/2014/main" id="{D5A8ED01-99D0-4E41-B814-2D1E6CE1B927}"/>
              </a:ext>
            </a:extLst>
          </p:cNvPr>
          <p:cNvSpPr>
            <a:spLocks xmlns:a="http://schemas.openxmlformats.org/drawingml/2006/main" noGrp="1"/>
          </p:cNvSpPr>
          <p:nvPr/>
        </p:nvSpPr>
        <p:spPr>
          <a:xfrm xmlns:a="http://schemas.openxmlformats.org/drawingml/2006/main">
            <a:off x="685800" y="2238375"/>
            <a:ext cx="4000500" cy="2809875"/>
          </a:xfrm>
          <a:prstGeom xmlns:a="http://schemas.openxmlformats.org/drawingml/2006/main" prst="roundRect">
            <a:avLst>
              <a:gd name="adj" fmla="val 5424"/>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9EA16A64-D74F-4B1F-A16F-6C76166AFAAC}"/>
              </a:ext>
            </a:extLst>
          </p:cNvPr>
          <p:cNvSpPr>
            <a:spLocks xmlns:a="http://schemas.openxmlformats.org/drawingml/2006/main" noGrp="1"/>
          </p:cNvSpPr>
          <p:nvPr/>
        </p:nvSpPr>
        <p:spPr>
          <a:xfrm xmlns:a="http://schemas.openxmlformats.org/drawingml/2006/main">
            <a:off x="990600" y="25527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23D5D2"/>
                </a:solidFill>
              </a:defRPr>
            </a:defPPr>
          </a:lstStyle>
          <a:p xmlns:a="http://schemas.openxmlformats.org/drawingml/2006/main">
            <a:pPr algn="l">
              <a:defRPr sz="1650" b="1">
                <a:solidFill>
                  <a:srgbClr val="23D5D2"/>
                </a:solidFill>
              </a:defRPr>
            </a:pPr>
            <a:r>
              <a:rPr sz="1650" b="1">
                <a:solidFill>
                  <a:srgbClr val="23D5D2"/>
                </a:solidFill>
              </a:rPr>
              <a:t>Areas of focus</a:t>
            </a:r>
          </a:p>
        </p:txBody>
      </p:sp>
      <p:sp>
        <p:nvSpPr>
          <p:cNvPr id="6" name="">
            <a:extLst xmlns:a="http://schemas.openxmlformats.org/drawingml/2006/main">
              <a:ext uri="{FF2B5EF4-FFF2-40B4-BE49-F238E27FC236}">
                <a16:creationId xmlns:a16="http://schemas.microsoft.com/office/drawing/2014/main" id="{FA1D4AD2-78F6-4B41-BB5E-340226CB16C7}"/>
              </a:ext>
            </a:extLst>
          </p:cNvPr>
          <p:cNvSpPr>
            <a:spLocks xmlns:a="http://schemas.openxmlformats.org/drawingml/2006/main" noGrp="1"/>
          </p:cNvSpPr>
          <p:nvPr/>
        </p:nvSpPr>
        <p:spPr>
          <a:xfrm xmlns:a="http://schemas.openxmlformats.org/drawingml/2006/main">
            <a:off x="990600" y="31051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F7FBFF"/>
                </a:solidFill>
              </a:defRPr>
            </a:defPPr>
          </a:lstStyle>
          <a:p xmlns:a="http://schemas.openxmlformats.org/drawingml/2006/main">
            <a:pPr algn="l">
              <a:defRPr sz="1425" b="1">
                <a:solidFill>
                  <a:srgbClr val="F7FBFF"/>
                </a:solidFill>
              </a:defRPr>
            </a:pPr>
            <a:r>
              <a:rPr sz="1425" b="1">
                <a:solidFill>
                  <a:srgbClr val="F7FBFF"/>
                </a:solidFill>
              </a:rPr>
              <a:t>Cloud-native telecom platforms</a:t>
            </a:r>
          </a:p>
        </p:txBody>
      </p:sp>
      <p:sp>
        <p:nvSpPr>
          <p:cNvPr id="7" name="">
            <a:extLst xmlns:a="http://schemas.openxmlformats.org/drawingml/2006/main">
              <a:ext uri="{FF2B5EF4-FFF2-40B4-BE49-F238E27FC236}">
                <a16:creationId xmlns:a16="http://schemas.microsoft.com/office/drawing/2014/main" id="{2D368EA7-A1C3-41F9-9C22-7DEB7175E3FB}"/>
              </a:ext>
            </a:extLst>
          </p:cNvPr>
          <p:cNvSpPr>
            <a:spLocks xmlns:a="http://schemas.openxmlformats.org/drawingml/2006/main" noGrp="1"/>
          </p:cNvSpPr>
          <p:nvPr/>
        </p:nvSpPr>
        <p:spPr>
          <a:xfrm xmlns:a="http://schemas.openxmlformats.org/drawingml/2006/main">
            <a:off x="990600" y="36385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F7FBFF"/>
                </a:solidFill>
              </a:defRPr>
            </a:defPPr>
          </a:lstStyle>
          <a:p xmlns:a="http://schemas.openxmlformats.org/drawingml/2006/main">
            <a:pPr algn="l">
              <a:defRPr sz="1425" b="1">
                <a:solidFill>
                  <a:srgbClr val="F7FBFF"/>
                </a:solidFill>
              </a:defRPr>
            </a:pPr>
            <a:r>
              <a:rPr sz="1425" b="1">
                <a:solidFill>
                  <a:srgbClr val="F7FBFF"/>
                </a:solidFill>
              </a:rPr>
              <a:t>AI-assisted network operations</a:t>
            </a:r>
          </a:p>
        </p:txBody>
      </p:sp>
      <p:sp>
        <p:nvSpPr>
          <p:cNvPr id="8" name="">
            <a:extLst xmlns:a="http://schemas.openxmlformats.org/drawingml/2006/main">
              <a:ext uri="{FF2B5EF4-FFF2-40B4-BE49-F238E27FC236}">
                <a16:creationId xmlns:a16="http://schemas.microsoft.com/office/drawing/2014/main" id="{8C5BB91E-0343-4322-8085-AE8C549EB142}"/>
              </a:ext>
            </a:extLst>
          </p:cNvPr>
          <p:cNvSpPr>
            <a:spLocks xmlns:a="http://schemas.openxmlformats.org/drawingml/2006/main" noGrp="1"/>
          </p:cNvSpPr>
          <p:nvPr/>
        </p:nvSpPr>
        <p:spPr>
          <a:xfrm xmlns:a="http://schemas.openxmlformats.org/drawingml/2006/main">
            <a:off x="990600" y="41719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F7FBFF"/>
                </a:solidFill>
              </a:defRPr>
            </a:defPPr>
          </a:lstStyle>
          <a:p xmlns:a="http://schemas.openxmlformats.org/drawingml/2006/main">
            <a:pPr algn="l">
              <a:defRPr sz="1425" b="1">
                <a:solidFill>
                  <a:srgbClr val="F7FBFF"/>
                </a:solidFill>
              </a:defRPr>
            </a:pPr>
            <a:r>
              <a:rPr sz="1425" b="1">
                <a:solidFill>
                  <a:srgbClr val="F7FBFF"/>
                </a:solidFill>
              </a:rPr>
              <a:t>Kubernetes data-plane design</a:t>
            </a:r>
          </a:p>
        </p:txBody>
      </p:sp>
      <p:sp>
        <p:nvSpPr>
          <p:cNvPr id="9" name="">
            <a:extLst xmlns:a="http://schemas.openxmlformats.org/drawingml/2006/main">
              <a:ext uri="{FF2B5EF4-FFF2-40B4-BE49-F238E27FC236}">
                <a16:creationId xmlns:a16="http://schemas.microsoft.com/office/drawing/2014/main" id="{AC9FC84A-DD18-4F67-92C5-456FEC6C5793}"/>
              </a:ext>
            </a:extLst>
          </p:cNvPr>
          <p:cNvSpPr>
            <a:spLocks xmlns:a="http://schemas.openxmlformats.org/drawingml/2006/main" noGrp="1"/>
          </p:cNvSpPr>
          <p:nvPr/>
        </p:nvSpPr>
        <p:spPr>
          <a:xfrm xmlns:a="http://schemas.openxmlformats.org/drawingml/2006/main">
            <a:off x="5219700" y="2238375"/>
            <a:ext cx="6286500" cy="1809750"/>
          </a:xfrm>
          <a:prstGeom xmlns:a="http://schemas.openxmlformats.org/drawingml/2006/main" prst="roundRect">
            <a:avLst>
              <a:gd name="adj" fmla="val 8421"/>
            </a:avLst>
          </a:prstGeom>
          <a:solidFill xmlns:a="http://schemas.openxmlformats.org/drawingml/2006/main">
            <a:srgbClr val="103445"/>
          </a:solidFill>
          <a:ln xmlns:a="http://schemas.openxmlformats.org/drawingml/2006/main" w="9525">
            <a:solidFill>
              <a:srgbClr val="23D5D2"/>
            </a:solidFill>
            <a:prstDash val="solid"/>
          </a:ln>
        </p:spPr>
      </p:sp>
      <p:sp>
        <p:nvSpPr>
          <p:cNvPr id="10" name="">
            <a:extLst xmlns:a="http://schemas.openxmlformats.org/drawingml/2006/main">
              <a:ext uri="{FF2B5EF4-FFF2-40B4-BE49-F238E27FC236}">
                <a16:creationId xmlns:a16="http://schemas.microsoft.com/office/drawing/2014/main" id="{DDBDA038-1324-4E43-93BD-9E075532603F}"/>
              </a:ext>
            </a:extLst>
          </p:cNvPr>
          <p:cNvSpPr>
            <a:spLocks xmlns:a="http://schemas.openxmlformats.org/drawingml/2006/main" noGrp="1"/>
          </p:cNvSpPr>
          <p:nvPr/>
        </p:nvSpPr>
        <p:spPr>
          <a:xfrm xmlns:a="http://schemas.openxmlformats.org/drawingml/2006/main">
            <a:off x="5524500" y="255270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23D5D2"/>
                </a:solidFill>
              </a:defRPr>
            </a:defPPr>
          </a:lstStyle>
          <a:p xmlns:a="http://schemas.openxmlformats.org/drawingml/2006/main">
            <a:pPr algn="l">
              <a:defRPr sz="1650" b="1">
                <a:solidFill>
                  <a:srgbClr val="23D5D2"/>
                </a:solidFill>
              </a:defRPr>
            </a:pPr>
            <a:r>
              <a:rPr sz="1650" b="1">
                <a:solidFill>
                  <a:srgbClr val="23D5D2"/>
                </a:solidFill>
              </a:rPr>
              <a:t>Perspective</a:t>
            </a:r>
          </a:p>
        </p:txBody>
      </p:sp>
      <p:sp>
        <p:nvSpPr>
          <p:cNvPr id="11" name="">
            <a:extLst xmlns:a="http://schemas.openxmlformats.org/drawingml/2006/main">
              <a:ext uri="{FF2B5EF4-FFF2-40B4-BE49-F238E27FC236}">
                <a16:creationId xmlns:a16="http://schemas.microsoft.com/office/drawing/2014/main" id="{E10A4134-4C30-40E2-B3C6-220B1279F96F}"/>
              </a:ext>
            </a:extLst>
          </p:cNvPr>
          <p:cNvSpPr>
            <a:spLocks xmlns:a="http://schemas.openxmlformats.org/drawingml/2006/main" noGrp="1"/>
          </p:cNvSpPr>
          <p:nvPr/>
        </p:nvSpPr>
        <p:spPr>
          <a:xfrm xmlns:a="http://schemas.openxmlformats.org/drawingml/2006/main">
            <a:off x="5524500" y="3105150"/>
            <a:ext cx="5381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F7FBFF"/>
                </a:solidFill>
              </a:defRPr>
            </a:defPPr>
          </a:lstStyle>
          <a:p xmlns:a="http://schemas.openxmlformats.org/drawingml/2006/main">
            <a:pPr algn="l">
              <a:defRPr sz="1800" b="1">
                <a:solidFill>
                  <a:srgbClr val="F7FBFF"/>
                </a:solidFill>
              </a:defRPr>
            </a:pPr>
            <a:r>
              <a:rPr sz="1800" b="1">
                <a:solidFill>
                  <a:srgbClr val="F7FBFF"/>
                </a:solidFill>
              </a:rPr>
              <a:t>Connecting telecom packet processing with cloud-native lifecycle management and practical automation.</a:t>
            </a:r>
          </a:p>
        </p:txBody>
      </p:sp>
      <p:sp>
        <p:nvSpPr>
          <p:cNvPr id="12" name="">
            <a:extLst xmlns:a="http://schemas.openxmlformats.org/drawingml/2006/main">
              <a:ext uri="{FF2B5EF4-FFF2-40B4-BE49-F238E27FC236}">
                <a16:creationId xmlns:a16="http://schemas.microsoft.com/office/drawing/2014/main" id="{C92B4DD3-559D-4B61-905E-172AD6350DA6}"/>
              </a:ext>
            </a:extLst>
          </p:cNvPr>
          <p:cNvSpPr>
            <a:spLocks xmlns:a="http://schemas.openxmlformats.org/drawingml/2006/main" noGrp="1"/>
          </p:cNvSpPr>
          <p:nvPr/>
        </p:nvSpPr>
        <p:spPr>
          <a:xfrm xmlns:a="http://schemas.openxmlformats.org/drawingml/2006/main">
            <a:off x="5219700" y="4333875"/>
            <a:ext cx="6286500" cy="1000125"/>
          </a:xfrm>
          <a:prstGeom xmlns:a="http://schemas.openxmlformats.org/drawingml/2006/main" prst="roundRect">
            <a:avLst>
              <a:gd name="adj" fmla="val 11429"/>
            </a:avLst>
          </a:prstGeom>
          <a:solidFill xmlns:a="http://schemas.openxmlformats.org/drawingml/2006/main">
            <a:srgbClr val="2C2631"/>
          </a:solidFill>
          <a:ln xmlns:a="http://schemas.openxmlformats.org/drawingml/2006/main" w="9525">
            <a:solidFill>
              <a:srgbClr val="FF9D42"/>
            </a:solidFill>
            <a:prstDash val="solid"/>
          </a:ln>
        </p:spPr>
      </p:sp>
      <p:sp>
        <p:nvSpPr>
          <p:cNvPr id="13" name="">
            <a:extLst xmlns:a="http://schemas.openxmlformats.org/drawingml/2006/main">
              <a:ext uri="{FF2B5EF4-FFF2-40B4-BE49-F238E27FC236}">
                <a16:creationId xmlns:a16="http://schemas.microsoft.com/office/drawing/2014/main" id="{12734032-65B4-41F6-9262-FB627C6C5ADC}"/>
              </a:ext>
            </a:extLst>
          </p:cNvPr>
          <p:cNvSpPr>
            <a:spLocks xmlns:a="http://schemas.openxmlformats.org/drawingml/2006/main" noGrp="1"/>
          </p:cNvSpPr>
          <p:nvPr/>
        </p:nvSpPr>
        <p:spPr>
          <a:xfrm xmlns:a="http://schemas.openxmlformats.org/drawingml/2006/main">
            <a:off x="5505450" y="45339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FF9D42"/>
                </a:solidFill>
              </a:defRPr>
            </a:defPPr>
          </a:lstStyle>
          <a:p xmlns:a="http://schemas.openxmlformats.org/drawingml/2006/main">
            <a:pPr algn="l">
              <a:defRPr sz="1275" b="1">
                <a:solidFill>
                  <a:srgbClr val="FF9D42"/>
                </a:solidFill>
              </a:defRPr>
            </a:pPr>
            <a:r>
              <a:rPr sz="1275" b="1">
                <a:solidFill>
                  <a:srgbClr val="FF9D42"/>
                </a:solidFill>
              </a:rPr>
              <a:t>Disclaimer</a:t>
            </a:r>
          </a:p>
        </p:txBody>
      </p:sp>
      <p:sp>
        <p:nvSpPr>
          <p:cNvPr id="14" name="">
            <a:extLst xmlns:a="http://schemas.openxmlformats.org/drawingml/2006/main">
              <a:ext uri="{FF2B5EF4-FFF2-40B4-BE49-F238E27FC236}">
                <a16:creationId xmlns:a16="http://schemas.microsoft.com/office/drawing/2014/main" id="{8635BDBC-E6AA-415F-889D-49140FA53BCE}"/>
              </a:ext>
            </a:extLst>
          </p:cNvPr>
          <p:cNvSpPr>
            <a:spLocks xmlns:a="http://schemas.openxmlformats.org/drawingml/2006/main" noGrp="1"/>
          </p:cNvSpPr>
          <p:nvPr/>
        </p:nvSpPr>
        <p:spPr>
          <a:xfrm xmlns:a="http://schemas.openxmlformats.org/drawingml/2006/main">
            <a:off x="6762750" y="4486275"/>
            <a:ext cx="4333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The views expressed in this presentation are my own and do not represent those of my employer.</a:t>
            </a:r>
          </a:p>
        </p:txBody>
      </p:sp>
      <p:sp>
        <p:nvSpPr>
          <p:cNvPr id="15" name="">
            <a:extLst xmlns:a="http://schemas.openxmlformats.org/drawingml/2006/main">
              <a:ext uri="{FF2B5EF4-FFF2-40B4-BE49-F238E27FC236}">
                <a16:creationId xmlns:a16="http://schemas.microsoft.com/office/drawing/2014/main" id="{87FF37D1-E4BD-467F-B292-F7B9813C51E3}"/>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16" name="">
            <a:extLst xmlns:a="http://schemas.openxmlformats.org/drawingml/2006/main">
              <a:ext uri="{FF2B5EF4-FFF2-40B4-BE49-F238E27FC236}">
                <a16:creationId xmlns:a16="http://schemas.microsoft.com/office/drawing/2014/main" id="{ABB5E52E-89A0-43BE-916A-E70B4952CBBE}"/>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20F2650C-B946-4B10-9D64-D0E624C8D2CB}"/>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02</a:t>
            </a:r>
          </a:p>
        </p:txBody>
      </p:sp>
    </p:spTree>
    <p:extLst>
      <p:ext uri="{BB962C8B-B14F-4D97-AF65-F5344CB8AC3E}">
        <p14:creationId xmlns:p14="http://schemas.microsoft.com/office/powerpoint/2010/main" val="430394888"/>
      </p:ext>
    </p:extLst>
  </p:cSld>
</p:sld>
</file>

<file path=ppt/slides/slide3.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A448946-BCC8-4666-B9D9-7D8315E38F90}"/>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PROJECT USED</a:t>
            </a:r>
          </a:p>
        </p:txBody>
      </p:sp>
      <p:sp>
        <p:nvSpPr>
          <p:cNvPr id="2" name="">
            <a:extLst xmlns:a="http://schemas.openxmlformats.org/drawingml/2006/main">
              <a:ext uri="{FF2B5EF4-FFF2-40B4-BE49-F238E27FC236}">
                <a16:creationId xmlns:a16="http://schemas.microsoft.com/office/drawing/2014/main" id="{98CE6736-BD74-4283-832A-B9FACA49D910}"/>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OSVBNG: an open-source virtual BNG</a:t>
            </a:r>
          </a:p>
        </p:txBody>
      </p:sp>
      <p:sp>
        <p:nvSpPr>
          <p:cNvPr id="3" name="">
            <a:extLst xmlns:a="http://schemas.openxmlformats.org/drawingml/2006/main">
              <a:ext uri="{FF2B5EF4-FFF2-40B4-BE49-F238E27FC236}">
                <a16:creationId xmlns:a16="http://schemas.microsoft.com/office/drawing/2014/main" id="{5321CD73-64C2-465F-9743-36929A9CC5F0}"/>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The project combines a Go control plane with VPP, FRR, and DPDK.</a:t>
            </a:r>
          </a:p>
        </p:txBody>
      </p:sp>
      <p:sp>
        <p:nvSpPr>
          <p:cNvPr id="4" name="">
            <a:extLst xmlns:a="http://schemas.openxmlformats.org/drawingml/2006/main">
              <a:ext uri="{FF2B5EF4-FFF2-40B4-BE49-F238E27FC236}">
                <a16:creationId xmlns:a16="http://schemas.microsoft.com/office/drawing/2014/main" id="{0B045977-B64F-4ABF-9727-37628458BE1C}"/>
              </a:ext>
            </a:extLst>
          </p:cNvPr>
          <p:cNvSpPr>
            <a:spLocks xmlns:a="http://schemas.openxmlformats.org/drawingml/2006/main" noGrp="1"/>
          </p:cNvSpPr>
          <p:nvPr/>
        </p:nvSpPr>
        <p:spPr>
          <a:xfrm xmlns:a="http://schemas.openxmlformats.org/drawingml/2006/main">
            <a:off x="685800" y="2190750"/>
            <a:ext cx="4000500" cy="3143250"/>
          </a:xfrm>
          <a:prstGeom xmlns:a="http://schemas.openxmlformats.org/drawingml/2006/main" prst="roundRect">
            <a:avLst>
              <a:gd name="adj" fmla="val 4848"/>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9376CD2A-28CE-4902-9920-C1CD3E39F619}"/>
              </a:ext>
            </a:extLst>
          </p:cNvPr>
          <p:cNvSpPr>
            <a:spLocks xmlns:a="http://schemas.openxmlformats.org/drawingml/2006/main" noGrp="1"/>
          </p:cNvSpPr>
          <p:nvPr/>
        </p:nvSpPr>
        <p:spPr>
          <a:xfrm xmlns:a="http://schemas.openxmlformats.org/drawingml/2006/main">
            <a:off x="990600" y="24765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23D5D2"/>
                </a:solidFill>
              </a:defRPr>
            </a:defPPr>
          </a:lstStyle>
          <a:p xmlns:a="http://schemas.openxmlformats.org/drawingml/2006/main">
            <a:pPr algn="l">
              <a:defRPr sz="1725" b="1">
                <a:solidFill>
                  <a:srgbClr val="23D5D2"/>
                </a:solidFill>
              </a:defRPr>
            </a:pPr>
            <a:r>
              <a:rPr sz="1725" b="1">
                <a:solidFill>
                  <a:srgbClr val="23D5D2"/>
                </a:solidFill>
              </a:rPr>
              <a:t>Why OSVBNG</a:t>
            </a:r>
          </a:p>
        </p:txBody>
      </p:sp>
      <p:sp>
        <p:nvSpPr>
          <p:cNvPr id="6" name="">
            <a:extLst xmlns:a="http://schemas.openxmlformats.org/drawingml/2006/main">
              <a:ext uri="{FF2B5EF4-FFF2-40B4-BE49-F238E27FC236}">
                <a16:creationId xmlns:a16="http://schemas.microsoft.com/office/drawing/2014/main" id="{2E212B84-15E5-4F23-B1D2-BE80E23FB1E7}"/>
              </a:ext>
            </a:extLst>
          </p:cNvPr>
          <p:cNvSpPr>
            <a:spLocks xmlns:a="http://schemas.openxmlformats.org/drawingml/2006/main" noGrp="1"/>
          </p:cNvSpPr>
          <p:nvPr/>
        </p:nvSpPr>
        <p:spPr>
          <a:xfrm xmlns:a="http://schemas.openxmlformats.org/drawingml/2006/main">
            <a:off x="990600" y="30480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Open-source BNG for standard x86 servers</a:t>
            </a:r>
          </a:p>
        </p:txBody>
      </p:sp>
      <p:sp>
        <p:nvSpPr>
          <p:cNvPr id="7" name="">
            <a:extLst xmlns:a="http://schemas.openxmlformats.org/drawingml/2006/main">
              <a:ext uri="{FF2B5EF4-FFF2-40B4-BE49-F238E27FC236}">
                <a16:creationId xmlns:a16="http://schemas.microsoft.com/office/drawing/2014/main" id="{43356B81-048C-4F0A-BFDC-186FA107DE23}"/>
              </a:ext>
            </a:extLst>
          </p:cNvPr>
          <p:cNvSpPr>
            <a:spLocks xmlns:a="http://schemas.openxmlformats.org/drawingml/2006/main" noGrp="1"/>
          </p:cNvSpPr>
          <p:nvPr/>
        </p:nvSpPr>
        <p:spPr>
          <a:xfrm xmlns:a="http://schemas.openxmlformats.org/drawingml/2006/main">
            <a:off x="990600" y="3695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IPoE and PPPoE subscriber access</a:t>
            </a:r>
          </a:p>
        </p:txBody>
      </p:sp>
      <p:sp>
        <p:nvSpPr>
          <p:cNvPr id="8" name="">
            <a:extLst xmlns:a="http://schemas.openxmlformats.org/drawingml/2006/main">
              <a:ext uri="{FF2B5EF4-FFF2-40B4-BE49-F238E27FC236}">
                <a16:creationId xmlns:a16="http://schemas.microsoft.com/office/drawing/2014/main" id="{10BA27C5-3121-441A-B181-01BD811092DA}"/>
              </a:ext>
            </a:extLst>
          </p:cNvPr>
          <p:cNvSpPr>
            <a:spLocks xmlns:a="http://schemas.openxmlformats.org/drawingml/2006/main" noGrp="1"/>
          </p:cNvSpPr>
          <p:nvPr/>
        </p:nvSpPr>
        <p:spPr>
          <a:xfrm xmlns:a="http://schemas.openxmlformats.org/drawingml/2006/main">
            <a:off x="990600" y="42481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CGNAT, routing, AAA, QoS, and monitoring</a:t>
            </a:r>
          </a:p>
        </p:txBody>
      </p:sp>
      <p:sp>
        <p:nvSpPr>
          <p:cNvPr id="9" name="">
            <a:extLst xmlns:a="http://schemas.openxmlformats.org/drawingml/2006/main">
              <a:ext uri="{FF2B5EF4-FFF2-40B4-BE49-F238E27FC236}">
                <a16:creationId xmlns:a16="http://schemas.microsoft.com/office/drawing/2014/main" id="{F56E15B3-FA4A-4325-8EA9-F95EA792D892}"/>
              </a:ext>
            </a:extLst>
          </p:cNvPr>
          <p:cNvSpPr>
            <a:spLocks xmlns:a="http://schemas.openxmlformats.org/drawingml/2006/main" noGrp="1"/>
          </p:cNvSpPr>
          <p:nvPr/>
        </p:nvSpPr>
        <p:spPr>
          <a:xfrm xmlns:a="http://schemas.openxmlformats.org/drawingml/2006/main">
            <a:off x="990600" y="48101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Container image and declarative configuration</a:t>
            </a:r>
          </a:p>
        </p:txBody>
      </p:sp>
      <p:sp>
        <p:nvSpPr>
          <p:cNvPr id="10" name="">
            <a:extLst xmlns:a="http://schemas.openxmlformats.org/drawingml/2006/main">
              <a:ext uri="{FF2B5EF4-FFF2-40B4-BE49-F238E27FC236}">
                <a16:creationId xmlns:a16="http://schemas.microsoft.com/office/drawing/2014/main" id="{EAF5D9AA-9F12-4945-9A8F-543806D2D0A1}"/>
              </a:ext>
            </a:extLst>
          </p:cNvPr>
          <p:cNvSpPr>
            <a:spLocks xmlns:a="http://schemas.openxmlformats.org/drawingml/2006/main" noGrp="1"/>
          </p:cNvSpPr>
          <p:nvPr/>
        </p:nvSpPr>
        <p:spPr>
          <a:xfrm xmlns:a="http://schemas.openxmlformats.org/drawingml/2006/main">
            <a:off x="5286375" y="2190750"/>
            <a:ext cx="6219825" cy="3143250"/>
          </a:xfrm>
          <a:prstGeom xmlns:a="http://schemas.openxmlformats.org/drawingml/2006/main" prst="roundRect">
            <a:avLst>
              <a:gd name="adj" fmla="val 4848"/>
            </a:avLst>
          </a:prstGeom>
          <a:solidFill xmlns:a="http://schemas.openxmlformats.org/drawingml/2006/main">
            <a:srgbClr val="103445"/>
          </a:solidFill>
          <a:ln xmlns:a="http://schemas.openxmlformats.org/drawingml/2006/main" w="9525">
            <a:solidFill>
              <a:srgbClr val="23D5D2"/>
            </a:solidFill>
            <a:prstDash val="solid"/>
          </a:ln>
        </p:spPr>
      </p:sp>
      <p:sp>
        <p:nvSpPr>
          <p:cNvPr id="11" name="">
            <a:extLst xmlns:a="http://schemas.openxmlformats.org/drawingml/2006/main">
              <a:ext uri="{FF2B5EF4-FFF2-40B4-BE49-F238E27FC236}">
                <a16:creationId xmlns:a16="http://schemas.microsoft.com/office/drawing/2014/main" id="{E2C875C8-7909-40A9-8DEB-5D2FE89A1093}"/>
              </a:ext>
            </a:extLst>
          </p:cNvPr>
          <p:cNvSpPr>
            <a:spLocks xmlns:a="http://schemas.openxmlformats.org/drawingml/2006/main" noGrp="1"/>
          </p:cNvSpPr>
          <p:nvPr/>
        </p:nvSpPr>
        <p:spPr>
          <a:xfrm xmlns:a="http://schemas.openxmlformats.org/drawingml/2006/main">
            <a:off x="5619750" y="24765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23D5D2"/>
                </a:solidFill>
              </a:defRPr>
            </a:defPPr>
          </a:lstStyle>
          <a:p xmlns:a="http://schemas.openxmlformats.org/drawingml/2006/main">
            <a:pPr algn="l">
              <a:defRPr sz="1725" b="1">
                <a:solidFill>
                  <a:srgbClr val="23D5D2"/>
                </a:solidFill>
              </a:defRPr>
            </a:pPr>
            <a:r>
              <a:rPr sz="1725" b="1">
                <a:solidFill>
                  <a:srgbClr val="23D5D2"/>
                </a:solidFill>
              </a:rPr>
              <a:t>Runtime stack</a:t>
            </a:r>
          </a:p>
        </p:txBody>
      </p:sp>
      <p:sp>
        <p:nvSpPr>
          <p:cNvPr id="12" name="">
            <a:extLst xmlns:a="http://schemas.openxmlformats.org/drawingml/2006/main">
              <a:ext uri="{FF2B5EF4-FFF2-40B4-BE49-F238E27FC236}">
                <a16:creationId xmlns:a16="http://schemas.microsoft.com/office/drawing/2014/main" id="{FB445629-C9A1-4D27-B518-B3A1D94CC15B}"/>
              </a:ext>
            </a:extLst>
          </p:cNvPr>
          <p:cNvSpPr>
            <a:spLocks xmlns:a="http://schemas.openxmlformats.org/drawingml/2006/main" noGrp="1"/>
          </p:cNvSpPr>
          <p:nvPr/>
        </p:nvSpPr>
        <p:spPr>
          <a:xfrm xmlns:a="http://schemas.openxmlformats.org/drawingml/2006/main">
            <a:off x="5619750" y="3048000"/>
            <a:ext cx="2238375"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13" name="">
            <a:extLst xmlns:a="http://schemas.openxmlformats.org/drawingml/2006/main">
              <a:ext uri="{FF2B5EF4-FFF2-40B4-BE49-F238E27FC236}">
                <a16:creationId xmlns:a16="http://schemas.microsoft.com/office/drawing/2014/main" id="{DD464B2D-9D05-47B2-8B64-D4B1ADADB3B6}"/>
              </a:ext>
            </a:extLst>
          </p:cNvPr>
          <p:cNvSpPr>
            <a:spLocks xmlns:a="http://schemas.openxmlformats.org/drawingml/2006/main" noGrp="1"/>
          </p:cNvSpPr>
          <p:nvPr/>
        </p:nvSpPr>
        <p:spPr>
          <a:xfrm xmlns:a="http://schemas.openxmlformats.org/drawingml/2006/main">
            <a:off x="5619750" y="3048000"/>
            <a:ext cx="57150" cy="1381125"/>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14" name="">
            <a:extLst xmlns:a="http://schemas.openxmlformats.org/drawingml/2006/main">
              <a:ext uri="{FF2B5EF4-FFF2-40B4-BE49-F238E27FC236}">
                <a16:creationId xmlns:a16="http://schemas.microsoft.com/office/drawing/2014/main" id="{A3F5F20E-5EA9-407B-8638-349BE57B3D83}"/>
              </a:ext>
            </a:extLst>
          </p:cNvPr>
          <p:cNvSpPr>
            <a:spLocks xmlns:a="http://schemas.openxmlformats.org/drawingml/2006/main" noGrp="1"/>
          </p:cNvSpPr>
          <p:nvPr/>
        </p:nvSpPr>
        <p:spPr>
          <a:xfrm xmlns:a="http://schemas.openxmlformats.org/drawingml/2006/main">
            <a:off x="5810250" y="3181350"/>
            <a:ext cx="1933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OSVBNG control plane</a:t>
            </a:r>
          </a:p>
        </p:txBody>
      </p:sp>
      <p:sp>
        <p:nvSpPr>
          <p:cNvPr id="15" name="">
            <a:extLst xmlns:a="http://schemas.openxmlformats.org/drawingml/2006/main">
              <a:ext uri="{FF2B5EF4-FFF2-40B4-BE49-F238E27FC236}">
                <a16:creationId xmlns:a16="http://schemas.microsoft.com/office/drawing/2014/main" id="{44F8F318-EAEE-4FA3-8B98-9730C4A1DF74}"/>
              </a:ext>
            </a:extLst>
          </p:cNvPr>
          <p:cNvSpPr>
            <a:spLocks xmlns:a="http://schemas.openxmlformats.org/drawingml/2006/main" noGrp="1"/>
          </p:cNvSpPr>
          <p:nvPr/>
        </p:nvSpPr>
        <p:spPr>
          <a:xfrm xmlns:a="http://schemas.openxmlformats.org/drawingml/2006/main">
            <a:off x="5810250" y="3733800"/>
            <a:ext cx="19335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Subscriber lifecycle</a:t>
            </a:r>
          </a:p>
          <a:p xmlns:a="http://schemas.openxmlformats.org/drawingml/2006/main">
            <a:pPr algn="l">
              <a:defRPr sz="975" b="0">
                <a:solidFill>
                  <a:srgbClr val="A9C1D2"/>
                </a:solidFill>
              </a:defRPr>
            </a:pPr>
            <a:r>
              <a:rPr sz="975" b="0">
                <a:solidFill>
                  <a:srgbClr val="A9C1D2"/>
                </a:solidFill>
              </a:rPr>
              <a:t>configuration and APIs</a:t>
            </a:r>
          </a:p>
        </p:txBody>
      </p:sp>
      <p:sp>
        <p:nvSpPr>
          <p:cNvPr id="16" name="">
            <a:extLst xmlns:a="http://schemas.openxmlformats.org/drawingml/2006/main">
              <a:ext uri="{FF2B5EF4-FFF2-40B4-BE49-F238E27FC236}">
                <a16:creationId xmlns:a16="http://schemas.microsoft.com/office/drawing/2014/main" id="{84509294-AE41-4591-8FD5-BF592DA4A102}"/>
              </a:ext>
            </a:extLst>
          </p:cNvPr>
          <p:cNvSpPr>
            <a:spLocks xmlns:a="http://schemas.openxmlformats.org/drawingml/2006/main" noGrp="1"/>
          </p:cNvSpPr>
          <p:nvPr/>
        </p:nvSpPr>
        <p:spPr>
          <a:xfrm xmlns:a="http://schemas.openxmlformats.org/drawingml/2006/main">
            <a:off x="8524875" y="3048000"/>
            <a:ext cx="2238375"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17" name="">
            <a:extLst xmlns:a="http://schemas.openxmlformats.org/drawingml/2006/main">
              <a:ext uri="{FF2B5EF4-FFF2-40B4-BE49-F238E27FC236}">
                <a16:creationId xmlns:a16="http://schemas.microsoft.com/office/drawing/2014/main" id="{1D1AB443-AC42-4484-8E33-DC53C142E9FB}"/>
              </a:ext>
            </a:extLst>
          </p:cNvPr>
          <p:cNvSpPr>
            <a:spLocks xmlns:a="http://schemas.openxmlformats.org/drawingml/2006/main" noGrp="1"/>
          </p:cNvSpPr>
          <p:nvPr/>
        </p:nvSpPr>
        <p:spPr>
          <a:xfrm xmlns:a="http://schemas.openxmlformats.org/drawingml/2006/main">
            <a:off x="8524875" y="3048000"/>
            <a:ext cx="57150" cy="1381125"/>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18" name="">
            <a:extLst xmlns:a="http://schemas.openxmlformats.org/drawingml/2006/main">
              <a:ext uri="{FF2B5EF4-FFF2-40B4-BE49-F238E27FC236}">
                <a16:creationId xmlns:a16="http://schemas.microsoft.com/office/drawing/2014/main" id="{A0C13585-00E7-4EB1-90E6-29D8BAEE99AC}"/>
              </a:ext>
            </a:extLst>
          </p:cNvPr>
          <p:cNvSpPr>
            <a:spLocks xmlns:a="http://schemas.openxmlformats.org/drawingml/2006/main" noGrp="1"/>
          </p:cNvSpPr>
          <p:nvPr/>
        </p:nvSpPr>
        <p:spPr>
          <a:xfrm xmlns:a="http://schemas.openxmlformats.org/drawingml/2006/main">
            <a:off x="8715375" y="3181350"/>
            <a:ext cx="1933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VPP + DPDK</a:t>
            </a:r>
          </a:p>
        </p:txBody>
      </p:sp>
      <p:sp>
        <p:nvSpPr>
          <p:cNvPr id="19" name="">
            <a:extLst xmlns:a="http://schemas.openxmlformats.org/drawingml/2006/main">
              <a:ext uri="{FF2B5EF4-FFF2-40B4-BE49-F238E27FC236}">
                <a16:creationId xmlns:a16="http://schemas.microsoft.com/office/drawing/2014/main" id="{14EB870D-ED27-4A16-AC9F-E7857736CC55}"/>
              </a:ext>
            </a:extLst>
          </p:cNvPr>
          <p:cNvSpPr>
            <a:spLocks xmlns:a="http://schemas.openxmlformats.org/drawingml/2006/main" noGrp="1"/>
          </p:cNvSpPr>
          <p:nvPr/>
        </p:nvSpPr>
        <p:spPr>
          <a:xfrm xmlns:a="http://schemas.openxmlformats.org/drawingml/2006/main">
            <a:off x="8715375" y="3733800"/>
            <a:ext cx="19335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Fast packet processing</a:t>
            </a:r>
          </a:p>
          <a:p xmlns:a="http://schemas.openxmlformats.org/drawingml/2006/main">
            <a:pPr algn="l">
              <a:defRPr sz="975" b="0">
                <a:solidFill>
                  <a:srgbClr val="A9C1D2"/>
                </a:solidFill>
              </a:defRPr>
            </a:pPr>
            <a:r>
              <a:rPr sz="975" b="0">
                <a:solidFill>
                  <a:srgbClr val="A9C1D2"/>
                </a:solidFill>
              </a:rPr>
              <a:t>and NIC access</a:t>
            </a:r>
          </a:p>
        </p:txBody>
      </p:sp>
      <p:sp>
        <p:nvSpPr>
          <p:cNvPr id="20" name="">
            <a:extLst xmlns:a="http://schemas.openxmlformats.org/drawingml/2006/main">
              <a:ext uri="{FF2B5EF4-FFF2-40B4-BE49-F238E27FC236}">
                <a16:creationId xmlns:a16="http://schemas.microsoft.com/office/drawing/2014/main" id="{718C8C2C-0E02-4E0E-AC03-907AC2CCC297}"/>
              </a:ext>
            </a:extLst>
          </p:cNvPr>
          <p:cNvSpPr>
            <a:spLocks xmlns:a="http://schemas.openxmlformats.org/drawingml/2006/main" noGrp="1"/>
          </p:cNvSpPr>
          <p:nvPr/>
        </p:nvSpPr>
        <p:spPr>
          <a:xfrm xmlns:a="http://schemas.openxmlformats.org/drawingml/2006/main">
            <a:off x="7858125" y="3714750"/>
            <a:ext cx="666750" cy="38100"/>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21" name="">
            <a:extLst xmlns:a="http://schemas.openxmlformats.org/drawingml/2006/main">
              <a:ext uri="{FF2B5EF4-FFF2-40B4-BE49-F238E27FC236}">
                <a16:creationId xmlns:a16="http://schemas.microsoft.com/office/drawing/2014/main" id="{F4DBF89A-9D68-4FDA-8C99-033F980D2C69}"/>
              </a:ext>
            </a:extLst>
          </p:cNvPr>
          <p:cNvSpPr>
            <a:spLocks xmlns:a="http://schemas.openxmlformats.org/drawingml/2006/main" noGrp="1"/>
          </p:cNvSpPr>
          <p:nvPr/>
        </p:nvSpPr>
        <p:spPr>
          <a:xfrm xmlns:a="http://schemas.openxmlformats.org/drawingml/2006/main">
            <a:off x="7000875" y="4762500"/>
            <a:ext cx="1714500" cy="323850"/>
          </a:xfrm>
          <a:prstGeom xmlns:a="http://schemas.openxmlformats.org/drawingml/2006/main" prst="roundRect">
            <a:avLst>
              <a:gd name="adj" fmla="val 50000"/>
            </a:avLst>
          </a:prstGeom>
          <a:solidFill xmlns:a="http://schemas.openxmlformats.org/drawingml/2006/main">
            <a:srgbClr val="43D17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20D5732-4848-4BBD-9EBA-DAC6738BE7BE}"/>
              </a:ext>
            </a:extLst>
          </p:cNvPr>
          <p:cNvSpPr>
            <a:spLocks xmlns:a="http://schemas.openxmlformats.org/drawingml/2006/main" noGrp="1"/>
          </p:cNvSpPr>
          <p:nvPr/>
        </p:nvSpPr>
        <p:spPr>
          <a:xfrm xmlns:a="http://schemas.openxmlformats.org/drawingml/2006/main">
            <a:off x="7115175" y="482917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FRR routing</a:t>
            </a:r>
          </a:p>
        </p:txBody>
      </p:sp>
      <p:sp>
        <p:nvSpPr>
          <p:cNvPr id="23" name="">
            <a:extLst xmlns:a="http://schemas.openxmlformats.org/drawingml/2006/main">
              <a:ext uri="{FF2B5EF4-FFF2-40B4-BE49-F238E27FC236}">
                <a16:creationId xmlns:a16="http://schemas.microsoft.com/office/drawing/2014/main" id="{A2F4D5F7-1D29-4890-9E2E-EB9C443143DA}"/>
              </a:ext>
            </a:extLst>
          </p:cNvPr>
          <p:cNvSpPr>
            <a:spLocks xmlns:a="http://schemas.openxmlformats.org/drawingml/2006/main" noGrp="1"/>
          </p:cNvSpPr>
          <p:nvPr/>
        </p:nvSpPr>
        <p:spPr>
          <a:xfrm xmlns:a="http://schemas.openxmlformats.org/drawingml/2006/main">
            <a:off x="8905875" y="4762500"/>
            <a:ext cx="1952625" cy="323850"/>
          </a:xfrm>
          <a:prstGeom xmlns:a="http://schemas.openxmlformats.org/drawingml/2006/main" prst="roundRect">
            <a:avLst>
              <a:gd name="adj" fmla="val 50000"/>
            </a:avLst>
          </a:prstGeom>
          <a:solidFill xmlns:a="http://schemas.openxmlformats.org/drawingml/2006/main">
            <a:srgbClr val="0E2B4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A3FFDB8-EA67-4BDF-AAE7-F3F9CE296305}"/>
              </a:ext>
            </a:extLst>
          </p:cNvPr>
          <p:cNvSpPr>
            <a:spLocks xmlns:a="http://schemas.openxmlformats.org/drawingml/2006/main" noGrp="1"/>
          </p:cNvSpPr>
          <p:nvPr/>
        </p:nvSpPr>
        <p:spPr>
          <a:xfrm xmlns:a="http://schemas.openxmlformats.org/drawingml/2006/main">
            <a:off x="9020175" y="4829175"/>
            <a:ext cx="17240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F7FBFF"/>
                </a:solidFill>
              </a:defRPr>
            </a:defPPr>
          </a:lstStyle>
          <a:p xmlns:a="http://schemas.openxmlformats.org/drawingml/2006/main">
            <a:pPr algn="ctr">
              <a:defRPr sz="975" b="1">
                <a:solidFill>
                  <a:srgbClr val="F7FBFF"/>
                </a:solidFill>
              </a:defRPr>
            </a:pPr>
            <a:r>
              <a:rPr sz="975" b="1">
                <a:solidFill>
                  <a:srgbClr val="F7FBFF"/>
                </a:solidFill>
              </a:rPr>
              <a:t>Prometheus metrics</a:t>
            </a:r>
          </a:p>
        </p:txBody>
      </p:sp>
      <p:sp>
        <p:nvSpPr>
          <p:cNvPr id="25" name="">
            <a:extLst xmlns:a="http://schemas.openxmlformats.org/drawingml/2006/main">
              <a:ext uri="{FF2B5EF4-FFF2-40B4-BE49-F238E27FC236}">
                <a16:creationId xmlns:a16="http://schemas.microsoft.com/office/drawing/2014/main" id="{3C535692-872B-4050-9C06-97AD35377720}"/>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26" name="">
            <a:extLst xmlns:a="http://schemas.openxmlformats.org/drawingml/2006/main">
              <a:ext uri="{FF2B5EF4-FFF2-40B4-BE49-F238E27FC236}">
                <a16:creationId xmlns:a16="http://schemas.microsoft.com/office/drawing/2014/main" id="{15E9CF97-0D7D-4CFE-9B2A-1C5EFDD1A907}"/>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Project: github.com/veesix-networks/osvbng</a:t>
            </a:r>
          </a:p>
        </p:txBody>
      </p:sp>
      <p:sp>
        <p:nvSpPr>
          <p:cNvPr id="27" name="">
            <a:extLst xmlns:a="http://schemas.openxmlformats.org/drawingml/2006/main">
              <a:ext uri="{FF2B5EF4-FFF2-40B4-BE49-F238E27FC236}">
                <a16:creationId xmlns:a16="http://schemas.microsoft.com/office/drawing/2014/main" id="{87DA47CC-BF39-407A-BF65-9F615EF7BB5C}"/>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03</a:t>
            </a:r>
          </a:p>
        </p:txBody>
      </p:sp>
    </p:spTree>
    <p:extLst>
      <p:ext uri="{BB962C8B-B14F-4D97-AF65-F5344CB8AC3E}">
        <p14:creationId xmlns:p14="http://schemas.microsoft.com/office/powerpoint/2010/main" val="895042410"/>
      </p:ext>
    </p:extLst>
  </p:cSld>
</p:sld>
</file>

<file path=ppt/slides/slide4.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361C4D4-FFD2-4739-8A7D-538D1B4523B0}"/>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1 • THE ROLE</a:t>
            </a:r>
          </a:p>
        </p:txBody>
      </p:sp>
      <p:sp>
        <p:nvSpPr>
          <p:cNvPr id="2" name="">
            <a:extLst xmlns:a="http://schemas.openxmlformats.org/drawingml/2006/main">
              <a:ext uri="{FF2B5EF4-FFF2-40B4-BE49-F238E27FC236}">
                <a16:creationId xmlns:a16="http://schemas.microsoft.com/office/drawing/2014/main" id="{48BD2D03-B397-480E-866E-DC12E4E60B57}"/>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The BNG is the subscriber edge control point</a:t>
            </a:r>
          </a:p>
        </p:txBody>
      </p:sp>
      <p:sp>
        <p:nvSpPr>
          <p:cNvPr id="3" name="">
            <a:extLst xmlns:a="http://schemas.openxmlformats.org/drawingml/2006/main">
              <a:ext uri="{FF2B5EF4-FFF2-40B4-BE49-F238E27FC236}">
                <a16:creationId xmlns:a16="http://schemas.microsoft.com/office/drawing/2014/main" id="{7BA34C5E-501B-4870-87E1-573602FB359B}"/>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It joins subscriber access, policy, addressing, routing, and internet reachability.</a:t>
            </a:r>
          </a:p>
        </p:txBody>
      </p:sp>
      <p:sp>
        <p:nvSpPr>
          <p:cNvPr id="4" name="">
            <a:extLst xmlns:a="http://schemas.openxmlformats.org/drawingml/2006/main">
              <a:ext uri="{FF2B5EF4-FFF2-40B4-BE49-F238E27FC236}">
                <a16:creationId xmlns:a16="http://schemas.microsoft.com/office/drawing/2014/main" id="{167378D5-C092-4960-BE39-DB3022798B1B}"/>
              </a:ext>
            </a:extLst>
          </p:cNvPr>
          <p:cNvSpPr>
            <a:spLocks xmlns:a="http://schemas.openxmlformats.org/drawingml/2006/main" noGrp="1"/>
          </p:cNvSpPr>
          <p:nvPr/>
        </p:nvSpPr>
        <p:spPr>
          <a:xfrm xmlns:a="http://schemas.openxmlformats.org/drawingml/2006/main">
            <a:off x="685800" y="2333625"/>
            <a:ext cx="2419350" cy="2238375"/>
          </a:xfrm>
          <a:prstGeom xmlns:a="http://schemas.openxmlformats.org/drawingml/2006/main" prst="roundRect">
            <a:avLst>
              <a:gd name="adj" fmla="val 6809"/>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09D1BE7D-9C35-4EF2-8684-96ECCAA7B424}"/>
              </a:ext>
            </a:extLst>
          </p:cNvPr>
          <p:cNvSpPr>
            <a:spLocks xmlns:a="http://schemas.openxmlformats.org/drawingml/2006/main" noGrp="1"/>
          </p:cNvSpPr>
          <p:nvPr/>
        </p:nvSpPr>
        <p:spPr>
          <a:xfrm xmlns:a="http://schemas.openxmlformats.org/drawingml/2006/main">
            <a:off x="857250" y="2505075"/>
            <a:ext cx="400050" cy="323850"/>
          </a:xfrm>
          <a:prstGeom xmlns:a="http://schemas.openxmlformats.org/drawingml/2006/main" prst="roundRect">
            <a:avLst>
              <a:gd name="adj" fmla="val 50000"/>
            </a:avLst>
          </a:prstGeom>
          <a:solidFill xmlns:a="http://schemas.openxmlformats.org/drawingml/2006/main">
            <a:srgbClr val="23D5D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B27D34-4CB1-4D73-9F5F-E5F1A4E3DBE2}"/>
              </a:ext>
            </a:extLst>
          </p:cNvPr>
          <p:cNvSpPr>
            <a:spLocks xmlns:a="http://schemas.openxmlformats.org/drawingml/2006/main" noGrp="1"/>
          </p:cNvSpPr>
          <p:nvPr/>
        </p:nvSpPr>
        <p:spPr>
          <a:xfrm xmlns:a="http://schemas.openxmlformats.org/drawingml/2006/main">
            <a:off x="971550" y="25717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1</a:t>
            </a:r>
          </a:p>
        </p:txBody>
      </p:sp>
      <p:sp>
        <p:nvSpPr>
          <p:cNvPr id="7" name="">
            <a:extLst xmlns:a="http://schemas.openxmlformats.org/drawingml/2006/main">
              <a:ext uri="{FF2B5EF4-FFF2-40B4-BE49-F238E27FC236}">
                <a16:creationId xmlns:a16="http://schemas.microsoft.com/office/drawing/2014/main" id="{AB09B2C6-6250-452D-B97C-1605ECB6E9EB}"/>
              </a:ext>
            </a:extLst>
          </p:cNvPr>
          <p:cNvSpPr>
            <a:spLocks xmlns:a="http://schemas.openxmlformats.org/drawingml/2006/main" noGrp="1"/>
          </p:cNvSpPr>
          <p:nvPr/>
        </p:nvSpPr>
        <p:spPr>
          <a:xfrm xmlns:a="http://schemas.openxmlformats.org/drawingml/2006/main">
            <a:off x="895350" y="3048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F7FBFF"/>
                </a:solidFill>
              </a:defRPr>
            </a:defPPr>
          </a:lstStyle>
          <a:p xmlns:a="http://schemas.openxmlformats.org/drawingml/2006/main">
            <a:pPr algn="l">
              <a:defRPr sz="1725" b="1">
                <a:solidFill>
                  <a:srgbClr val="F7FBFF"/>
                </a:solidFill>
              </a:defRPr>
            </a:pPr>
            <a:r>
              <a:rPr sz="1725" b="1">
                <a:solidFill>
                  <a:srgbClr val="F7FBFF"/>
                </a:solidFill>
              </a:rPr>
              <a:t>Session control</a:t>
            </a:r>
          </a:p>
        </p:txBody>
      </p:sp>
      <p:sp>
        <p:nvSpPr>
          <p:cNvPr id="8" name="">
            <a:extLst xmlns:a="http://schemas.openxmlformats.org/drawingml/2006/main">
              <a:ext uri="{FF2B5EF4-FFF2-40B4-BE49-F238E27FC236}">
                <a16:creationId xmlns:a16="http://schemas.microsoft.com/office/drawing/2014/main" id="{3E3EC278-4504-4D17-9EA0-623967FC6786}"/>
              </a:ext>
            </a:extLst>
          </p:cNvPr>
          <p:cNvSpPr>
            <a:spLocks xmlns:a="http://schemas.openxmlformats.org/drawingml/2006/main" noGrp="1"/>
          </p:cNvSpPr>
          <p:nvPr/>
        </p:nvSpPr>
        <p:spPr>
          <a:xfrm xmlns:a="http://schemas.openxmlformats.org/drawingml/2006/main">
            <a:off x="895350" y="354330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a:solidFill>
                  <a:srgbClr val="A9C1D2"/>
                </a:solidFill>
              </a:defRPr>
            </a:defPPr>
          </a:lstStyle>
          <a:p xmlns:a="http://schemas.openxmlformats.org/drawingml/2006/main">
            <a:pPr algn="l">
              <a:defRPr sz="1200" b="0">
                <a:solidFill>
                  <a:srgbClr val="A9C1D2"/>
                </a:solidFill>
              </a:defRPr>
            </a:pPr>
            <a:r>
              <a:rPr sz="1200" b="0">
                <a:solidFill>
                  <a:srgbClr val="A9C1D2"/>
                </a:solidFill>
              </a:rPr>
              <a:t>IPoE / DHCP sessions</a:t>
            </a:r>
          </a:p>
          <a:p xmlns:a="http://schemas.openxmlformats.org/drawingml/2006/main">
            <a:pPr algn="l">
              <a:defRPr sz="1200" b="0">
                <a:solidFill>
                  <a:srgbClr val="A9C1D2"/>
                </a:solidFill>
              </a:defRPr>
            </a:pPr>
            <a:r>
              <a:rPr sz="1200" b="0">
                <a:solidFill>
                  <a:srgbClr val="A9C1D2"/>
                </a:solidFill>
              </a:rPr>
              <a:t>subscriber lifecycle</a:t>
            </a:r>
          </a:p>
        </p:txBody>
      </p:sp>
      <p:sp>
        <p:nvSpPr>
          <p:cNvPr id="9" name="">
            <a:extLst xmlns:a="http://schemas.openxmlformats.org/drawingml/2006/main">
              <a:ext uri="{FF2B5EF4-FFF2-40B4-BE49-F238E27FC236}">
                <a16:creationId xmlns:a16="http://schemas.microsoft.com/office/drawing/2014/main" id="{0BE8705F-1E28-40B1-A2A3-0C1AAB97F7B3}"/>
              </a:ext>
            </a:extLst>
          </p:cNvPr>
          <p:cNvSpPr>
            <a:spLocks xmlns:a="http://schemas.openxmlformats.org/drawingml/2006/main" noGrp="1"/>
          </p:cNvSpPr>
          <p:nvPr/>
        </p:nvSpPr>
        <p:spPr>
          <a:xfrm xmlns:a="http://schemas.openxmlformats.org/drawingml/2006/main">
            <a:off x="3371850" y="2333625"/>
            <a:ext cx="2419350" cy="2238375"/>
          </a:xfrm>
          <a:prstGeom xmlns:a="http://schemas.openxmlformats.org/drawingml/2006/main" prst="roundRect">
            <a:avLst>
              <a:gd name="adj" fmla="val 6809"/>
            </a:avLst>
          </a:prstGeom>
          <a:solidFill xmlns:a="http://schemas.openxmlformats.org/drawingml/2006/main">
            <a:srgbClr val="0E2B42"/>
          </a:solidFill>
          <a:ln xmlns:a="http://schemas.openxmlformats.org/drawingml/2006/main" w="9525">
            <a:solidFill>
              <a:srgbClr val="31536A"/>
            </a:solidFill>
            <a:prstDash val="solid"/>
          </a:ln>
        </p:spPr>
      </p:sp>
      <p:sp>
        <p:nvSpPr>
          <p:cNvPr id="10" name="">
            <a:extLst xmlns:a="http://schemas.openxmlformats.org/drawingml/2006/main">
              <a:ext uri="{FF2B5EF4-FFF2-40B4-BE49-F238E27FC236}">
                <a16:creationId xmlns:a16="http://schemas.microsoft.com/office/drawing/2014/main" id="{FF188EF4-DF8C-4ACC-8A61-70E75AA7824B}"/>
              </a:ext>
            </a:extLst>
          </p:cNvPr>
          <p:cNvSpPr>
            <a:spLocks xmlns:a="http://schemas.openxmlformats.org/drawingml/2006/main" noGrp="1"/>
          </p:cNvSpPr>
          <p:nvPr/>
        </p:nvSpPr>
        <p:spPr>
          <a:xfrm xmlns:a="http://schemas.openxmlformats.org/drawingml/2006/main">
            <a:off x="3543300" y="2505075"/>
            <a:ext cx="400050" cy="323850"/>
          </a:xfrm>
          <a:prstGeom xmlns:a="http://schemas.openxmlformats.org/drawingml/2006/main" prst="roundRect">
            <a:avLst>
              <a:gd name="adj" fmla="val 50000"/>
            </a:avLst>
          </a:prstGeom>
          <a:solidFill xmlns:a="http://schemas.openxmlformats.org/drawingml/2006/main">
            <a:srgbClr val="23D5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47EC0B-2B1F-4B74-A2C4-B91CC9B904FD}"/>
              </a:ext>
            </a:extLst>
          </p:cNvPr>
          <p:cNvSpPr>
            <a:spLocks xmlns:a="http://schemas.openxmlformats.org/drawingml/2006/main" noGrp="1"/>
          </p:cNvSpPr>
          <p:nvPr/>
        </p:nvSpPr>
        <p:spPr>
          <a:xfrm xmlns:a="http://schemas.openxmlformats.org/drawingml/2006/main">
            <a:off x="3657600" y="25717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2</a:t>
            </a:r>
          </a:p>
        </p:txBody>
      </p:sp>
      <p:sp>
        <p:nvSpPr>
          <p:cNvPr id="12" name="">
            <a:extLst xmlns:a="http://schemas.openxmlformats.org/drawingml/2006/main">
              <a:ext uri="{FF2B5EF4-FFF2-40B4-BE49-F238E27FC236}">
                <a16:creationId xmlns:a16="http://schemas.microsoft.com/office/drawing/2014/main" id="{D44A58E1-341D-403B-BADA-30B27A83792F}"/>
              </a:ext>
            </a:extLst>
          </p:cNvPr>
          <p:cNvSpPr>
            <a:spLocks xmlns:a="http://schemas.openxmlformats.org/drawingml/2006/main" noGrp="1"/>
          </p:cNvSpPr>
          <p:nvPr/>
        </p:nvSpPr>
        <p:spPr>
          <a:xfrm xmlns:a="http://schemas.openxmlformats.org/drawingml/2006/main">
            <a:off x="3581400" y="3048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F7FBFF"/>
                </a:solidFill>
              </a:defRPr>
            </a:defPPr>
          </a:lstStyle>
          <a:p xmlns:a="http://schemas.openxmlformats.org/drawingml/2006/main">
            <a:pPr algn="l">
              <a:defRPr sz="1725" b="1">
                <a:solidFill>
                  <a:srgbClr val="F7FBFF"/>
                </a:solidFill>
              </a:defRPr>
            </a:pPr>
            <a:r>
              <a:rPr sz="1725" b="1">
                <a:solidFill>
                  <a:srgbClr val="F7FBFF"/>
                </a:solidFill>
              </a:rPr>
              <a:t>Policy + AAA</a:t>
            </a:r>
          </a:p>
        </p:txBody>
      </p:sp>
      <p:sp>
        <p:nvSpPr>
          <p:cNvPr id="13" name="">
            <a:extLst xmlns:a="http://schemas.openxmlformats.org/drawingml/2006/main">
              <a:ext uri="{FF2B5EF4-FFF2-40B4-BE49-F238E27FC236}">
                <a16:creationId xmlns:a16="http://schemas.microsoft.com/office/drawing/2014/main" id="{0BA16D3C-8692-4184-A474-E7ED98B71C76}"/>
              </a:ext>
            </a:extLst>
          </p:cNvPr>
          <p:cNvSpPr>
            <a:spLocks xmlns:a="http://schemas.openxmlformats.org/drawingml/2006/main" noGrp="1"/>
          </p:cNvSpPr>
          <p:nvPr/>
        </p:nvSpPr>
        <p:spPr>
          <a:xfrm xmlns:a="http://schemas.openxmlformats.org/drawingml/2006/main">
            <a:off x="3581400" y="354330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a:solidFill>
                  <a:srgbClr val="A9C1D2"/>
                </a:solidFill>
              </a:defRPr>
            </a:defPPr>
          </a:lstStyle>
          <a:p xmlns:a="http://schemas.openxmlformats.org/drawingml/2006/main">
            <a:pPr algn="l">
              <a:defRPr sz="1200" b="0">
                <a:solidFill>
                  <a:srgbClr val="A9C1D2"/>
                </a:solidFill>
              </a:defRPr>
            </a:pPr>
            <a:r>
              <a:rPr sz="1200" b="0">
                <a:solidFill>
                  <a:srgbClr val="A9C1D2"/>
                </a:solidFill>
              </a:rPr>
              <a:t>RADIUS-backed identity</a:t>
            </a:r>
          </a:p>
          <a:p xmlns:a="http://schemas.openxmlformats.org/drawingml/2006/main">
            <a:pPr algn="l">
              <a:defRPr sz="1200" b="0">
                <a:solidFill>
                  <a:srgbClr val="A9C1D2"/>
                </a:solidFill>
              </a:defRPr>
            </a:pPr>
            <a:r>
              <a:rPr sz="1200" b="0">
                <a:solidFill>
                  <a:srgbClr val="A9C1D2"/>
                </a:solidFill>
              </a:rPr>
              <a:t>and service policy</a:t>
            </a:r>
          </a:p>
        </p:txBody>
      </p:sp>
      <p:sp>
        <p:nvSpPr>
          <p:cNvPr id="14" name="">
            <a:extLst xmlns:a="http://schemas.openxmlformats.org/drawingml/2006/main">
              <a:ext uri="{FF2B5EF4-FFF2-40B4-BE49-F238E27FC236}">
                <a16:creationId xmlns:a16="http://schemas.microsoft.com/office/drawing/2014/main" id="{71100541-1893-40D0-BD33-AD9559FA225A}"/>
              </a:ext>
            </a:extLst>
          </p:cNvPr>
          <p:cNvSpPr>
            <a:spLocks xmlns:a="http://schemas.openxmlformats.org/drawingml/2006/main" noGrp="1"/>
          </p:cNvSpPr>
          <p:nvPr/>
        </p:nvSpPr>
        <p:spPr>
          <a:xfrm xmlns:a="http://schemas.openxmlformats.org/drawingml/2006/main">
            <a:off x="6057900" y="2333625"/>
            <a:ext cx="2419350" cy="2238375"/>
          </a:xfrm>
          <a:prstGeom xmlns:a="http://schemas.openxmlformats.org/drawingml/2006/main" prst="roundRect">
            <a:avLst>
              <a:gd name="adj" fmla="val 6809"/>
            </a:avLst>
          </a:prstGeom>
          <a:solidFill xmlns:a="http://schemas.openxmlformats.org/drawingml/2006/main">
            <a:srgbClr val="123A49"/>
          </a:solidFill>
          <a:ln xmlns:a="http://schemas.openxmlformats.org/drawingml/2006/main" w="9525">
            <a:solidFill>
              <a:srgbClr val="31536A"/>
            </a:solidFill>
            <a:prstDash val="solid"/>
          </a:ln>
        </p:spPr>
      </p:sp>
      <p:sp>
        <p:nvSpPr>
          <p:cNvPr id="15" name="">
            <a:extLst xmlns:a="http://schemas.openxmlformats.org/drawingml/2006/main">
              <a:ext uri="{FF2B5EF4-FFF2-40B4-BE49-F238E27FC236}">
                <a16:creationId xmlns:a16="http://schemas.microsoft.com/office/drawing/2014/main" id="{321E0719-17AA-417F-A342-6D1D461A1DC4}"/>
              </a:ext>
            </a:extLst>
          </p:cNvPr>
          <p:cNvSpPr>
            <a:spLocks xmlns:a="http://schemas.openxmlformats.org/drawingml/2006/main" noGrp="1"/>
          </p:cNvSpPr>
          <p:nvPr/>
        </p:nvSpPr>
        <p:spPr>
          <a:xfrm xmlns:a="http://schemas.openxmlformats.org/drawingml/2006/main">
            <a:off x="6229350" y="2505075"/>
            <a:ext cx="400050" cy="323850"/>
          </a:xfrm>
          <a:prstGeom xmlns:a="http://schemas.openxmlformats.org/drawingml/2006/main" prst="roundRect">
            <a:avLst>
              <a:gd name="adj" fmla="val 50000"/>
            </a:avLst>
          </a:prstGeom>
          <a:solidFill xmlns:a="http://schemas.openxmlformats.org/drawingml/2006/main">
            <a:srgbClr val="FF9D4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BFA282E-295F-4D53-A193-78CE5829D8F6}"/>
              </a:ext>
            </a:extLst>
          </p:cNvPr>
          <p:cNvSpPr>
            <a:spLocks xmlns:a="http://schemas.openxmlformats.org/drawingml/2006/main" noGrp="1"/>
          </p:cNvSpPr>
          <p:nvPr/>
        </p:nvSpPr>
        <p:spPr>
          <a:xfrm xmlns:a="http://schemas.openxmlformats.org/drawingml/2006/main">
            <a:off x="6343650" y="25717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3</a:t>
            </a:r>
          </a:p>
        </p:txBody>
      </p:sp>
      <p:sp>
        <p:nvSpPr>
          <p:cNvPr id="17" name="">
            <a:extLst xmlns:a="http://schemas.openxmlformats.org/drawingml/2006/main">
              <a:ext uri="{FF2B5EF4-FFF2-40B4-BE49-F238E27FC236}">
                <a16:creationId xmlns:a16="http://schemas.microsoft.com/office/drawing/2014/main" id="{7F0E3DF8-403D-4F17-A796-AAA42FE7C5FD}"/>
              </a:ext>
            </a:extLst>
          </p:cNvPr>
          <p:cNvSpPr>
            <a:spLocks xmlns:a="http://schemas.openxmlformats.org/drawingml/2006/main" noGrp="1"/>
          </p:cNvSpPr>
          <p:nvPr/>
        </p:nvSpPr>
        <p:spPr>
          <a:xfrm xmlns:a="http://schemas.openxmlformats.org/drawingml/2006/main">
            <a:off x="6267450" y="3048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F7FBFF"/>
                </a:solidFill>
              </a:defRPr>
            </a:defPPr>
          </a:lstStyle>
          <a:p xmlns:a="http://schemas.openxmlformats.org/drawingml/2006/main">
            <a:pPr algn="l">
              <a:defRPr sz="1725" b="1">
                <a:solidFill>
                  <a:srgbClr val="F7FBFF"/>
                </a:solidFill>
              </a:defRPr>
            </a:pPr>
            <a:r>
              <a:rPr sz="1725" b="1">
                <a:solidFill>
                  <a:srgbClr val="F7FBFF"/>
                </a:solidFill>
              </a:rPr>
              <a:t>Traffic services</a:t>
            </a:r>
          </a:p>
        </p:txBody>
      </p:sp>
      <p:sp>
        <p:nvSpPr>
          <p:cNvPr id="18" name="">
            <a:extLst xmlns:a="http://schemas.openxmlformats.org/drawingml/2006/main">
              <a:ext uri="{FF2B5EF4-FFF2-40B4-BE49-F238E27FC236}">
                <a16:creationId xmlns:a16="http://schemas.microsoft.com/office/drawing/2014/main" id="{01EEDC15-5755-42C5-86A3-3696710B64B2}"/>
              </a:ext>
            </a:extLst>
          </p:cNvPr>
          <p:cNvSpPr>
            <a:spLocks xmlns:a="http://schemas.openxmlformats.org/drawingml/2006/main" noGrp="1"/>
          </p:cNvSpPr>
          <p:nvPr/>
        </p:nvSpPr>
        <p:spPr>
          <a:xfrm xmlns:a="http://schemas.openxmlformats.org/drawingml/2006/main">
            <a:off x="6267450" y="354330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a:solidFill>
                  <a:srgbClr val="A9C1D2"/>
                </a:solidFill>
              </a:defRPr>
            </a:defPPr>
          </a:lstStyle>
          <a:p xmlns:a="http://schemas.openxmlformats.org/drawingml/2006/main">
            <a:pPr algn="l">
              <a:defRPr sz="1200" b="0">
                <a:solidFill>
                  <a:srgbClr val="A9C1D2"/>
                </a:solidFill>
              </a:defRPr>
            </a:pPr>
            <a:r>
              <a:rPr sz="1200" b="0">
                <a:solidFill>
                  <a:srgbClr val="A9C1D2"/>
                </a:solidFill>
              </a:rPr>
              <a:t>CGNAT, QoS, counters</a:t>
            </a:r>
          </a:p>
          <a:p xmlns:a="http://schemas.openxmlformats.org/drawingml/2006/main">
            <a:pPr algn="l">
              <a:defRPr sz="1200" b="0">
                <a:solidFill>
                  <a:srgbClr val="A9C1D2"/>
                </a:solidFill>
              </a:defRPr>
            </a:pPr>
            <a:r>
              <a:rPr sz="1200" b="0">
                <a:solidFill>
                  <a:srgbClr val="A9C1D2"/>
                </a:solidFill>
              </a:rPr>
              <a:t>and forwarding</a:t>
            </a:r>
          </a:p>
        </p:txBody>
      </p:sp>
      <p:sp>
        <p:nvSpPr>
          <p:cNvPr id="19" name="">
            <a:extLst xmlns:a="http://schemas.openxmlformats.org/drawingml/2006/main">
              <a:ext uri="{FF2B5EF4-FFF2-40B4-BE49-F238E27FC236}">
                <a16:creationId xmlns:a16="http://schemas.microsoft.com/office/drawing/2014/main" id="{65ECA8D9-A090-41B4-AA20-A244839D9128}"/>
              </a:ext>
            </a:extLst>
          </p:cNvPr>
          <p:cNvSpPr>
            <a:spLocks xmlns:a="http://schemas.openxmlformats.org/drawingml/2006/main" noGrp="1"/>
          </p:cNvSpPr>
          <p:nvPr/>
        </p:nvSpPr>
        <p:spPr>
          <a:xfrm xmlns:a="http://schemas.openxmlformats.org/drawingml/2006/main">
            <a:off x="8743950" y="2333625"/>
            <a:ext cx="2419350" cy="2238375"/>
          </a:xfrm>
          <a:prstGeom xmlns:a="http://schemas.openxmlformats.org/drawingml/2006/main" prst="roundRect">
            <a:avLst>
              <a:gd name="adj" fmla="val 6809"/>
            </a:avLst>
          </a:prstGeom>
          <a:solidFill xmlns:a="http://schemas.openxmlformats.org/drawingml/2006/main">
            <a:srgbClr val="0E2B42"/>
          </a:solidFill>
          <a:ln xmlns:a="http://schemas.openxmlformats.org/drawingml/2006/main" w="9525">
            <a:solidFill>
              <a:srgbClr val="31536A"/>
            </a:solidFill>
            <a:prstDash val="solid"/>
          </a:ln>
        </p:spPr>
      </p:sp>
      <p:sp>
        <p:nvSpPr>
          <p:cNvPr id="20" name="">
            <a:extLst xmlns:a="http://schemas.openxmlformats.org/drawingml/2006/main">
              <a:ext uri="{FF2B5EF4-FFF2-40B4-BE49-F238E27FC236}">
                <a16:creationId xmlns:a16="http://schemas.microsoft.com/office/drawing/2014/main" id="{03DC599C-49FC-4BC9-BD08-30E4C9F7BFB0}"/>
              </a:ext>
            </a:extLst>
          </p:cNvPr>
          <p:cNvSpPr>
            <a:spLocks xmlns:a="http://schemas.openxmlformats.org/drawingml/2006/main" noGrp="1"/>
          </p:cNvSpPr>
          <p:nvPr/>
        </p:nvSpPr>
        <p:spPr>
          <a:xfrm xmlns:a="http://schemas.openxmlformats.org/drawingml/2006/main">
            <a:off x="8915400" y="2505075"/>
            <a:ext cx="400050" cy="323850"/>
          </a:xfrm>
          <a:prstGeom xmlns:a="http://schemas.openxmlformats.org/drawingml/2006/main" prst="roundRect">
            <a:avLst>
              <a:gd name="adj" fmla="val 50000"/>
            </a:avLst>
          </a:prstGeom>
          <a:solidFill xmlns:a="http://schemas.openxmlformats.org/drawingml/2006/main">
            <a:srgbClr val="23D5D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6A6C32F-57DC-4C06-9E71-47F99E90AB28}"/>
              </a:ext>
            </a:extLst>
          </p:cNvPr>
          <p:cNvSpPr>
            <a:spLocks xmlns:a="http://schemas.openxmlformats.org/drawingml/2006/main" noGrp="1"/>
          </p:cNvSpPr>
          <p:nvPr/>
        </p:nvSpPr>
        <p:spPr>
          <a:xfrm xmlns:a="http://schemas.openxmlformats.org/drawingml/2006/main">
            <a:off x="9029700" y="257175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4</a:t>
            </a:r>
          </a:p>
        </p:txBody>
      </p:sp>
      <p:sp>
        <p:nvSpPr>
          <p:cNvPr id="22" name="">
            <a:extLst xmlns:a="http://schemas.openxmlformats.org/drawingml/2006/main">
              <a:ext uri="{FF2B5EF4-FFF2-40B4-BE49-F238E27FC236}">
                <a16:creationId xmlns:a16="http://schemas.microsoft.com/office/drawing/2014/main" id="{9C75D6CC-142C-44ED-93F6-B61116C5C50C}"/>
              </a:ext>
            </a:extLst>
          </p:cNvPr>
          <p:cNvSpPr>
            <a:spLocks xmlns:a="http://schemas.openxmlformats.org/drawingml/2006/main" noGrp="1"/>
          </p:cNvSpPr>
          <p:nvPr/>
        </p:nvSpPr>
        <p:spPr>
          <a:xfrm xmlns:a="http://schemas.openxmlformats.org/drawingml/2006/main">
            <a:off x="8953500" y="3048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F7FBFF"/>
                </a:solidFill>
              </a:defRPr>
            </a:defPPr>
          </a:lstStyle>
          <a:p xmlns:a="http://schemas.openxmlformats.org/drawingml/2006/main">
            <a:pPr algn="l">
              <a:defRPr sz="1725" b="1">
                <a:solidFill>
                  <a:srgbClr val="F7FBFF"/>
                </a:solidFill>
              </a:defRPr>
            </a:pPr>
            <a:r>
              <a:rPr sz="1725" b="1">
                <a:solidFill>
                  <a:srgbClr val="F7FBFF"/>
                </a:solidFill>
              </a:rPr>
              <a:t>Core routing</a:t>
            </a:r>
          </a:p>
        </p:txBody>
      </p:sp>
      <p:sp>
        <p:nvSpPr>
          <p:cNvPr id="23" name="">
            <a:extLst xmlns:a="http://schemas.openxmlformats.org/drawingml/2006/main">
              <a:ext uri="{FF2B5EF4-FFF2-40B4-BE49-F238E27FC236}">
                <a16:creationId xmlns:a16="http://schemas.microsoft.com/office/drawing/2014/main" id="{B55107AE-2704-4444-B843-2BE9C1BF752F}"/>
              </a:ext>
            </a:extLst>
          </p:cNvPr>
          <p:cNvSpPr>
            <a:spLocks xmlns:a="http://schemas.openxmlformats.org/drawingml/2006/main" noGrp="1"/>
          </p:cNvSpPr>
          <p:nvPr/>
        </p:nvSpPr>
        <p:spPr>
          <a:xfrm xmlns:a="http://schemas.openxmlformats.org/drawingml/2006/main">
            <a:off x="8953500" y="3543300"/>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a:solidFill>
                  <a:srgbClr val="A9C1D2"/>
                </a:solidFill>
              </a:defRPr>
            </a:defPPr>
          </a:lstStyle>
          <a:p xmlns:a="http://schemas.openxmlformats.org/drawingml/2006/main">
            <a:pPr algn="l">
              <a:defRPr sz="1200" b="0">
                <a:solidFill>
                  <a:srgbClr val="A9C1D2"/>
                </a:solidFill>
              </a:defRPr>
            </a:pPr>
            <a:r>
              <a:rPr sz="1200" b="0">
                <a:solidFill>
                  <a:srgbClr val="A9C1D2"/>
                </a:solidFill>
              </a:rPr>
              <a:t>BGP reachability</a:t>
            </a:r>
          </a:p>
          <a:p xmlns:a="http://schemas.openxmlformats.org/drawingml/2006/main">
            <a:pPr algn="l">
              <a:defRPr sz="1200" b="0">
                <a:solidFill>
                  <a:srgbClr val="A9C1D2"/>
                </a:solidFill>
              </a:defRPr>
            </a:pPr>
            <a:r>
              <a:rPr sz="1200" b="0">
                <a:solidFill>
                  <a:srgbClr val="A9C1D2"/>
                </a:solidFill>
              </a:rPr>
              <a:t>toward the ISP edge</a:t>
            </a:r>
          </a:p>
        </p:txBody>
      </p:sp>
      <p:sp>
        <p:nvSpPr>
          <p:cNvPr id="24" name="">
            <a:extLst xmlns:a="http://schemas.openxmlformats.org/drawingml/2006/main">
              <a:ext uri="{FF2B5EF4-FFF2-40B4-BE49-F238E27FC236}">
                <a16:creationId xmlns:a16="http://schemas.microsoft.com/office/drawing/2014/main" id="{F99CD031-E115-4195-943E-22F444A55B3C}"/>
              </a:ext>
            </a:extLst>
          </p:cNvPr>
          <p:cNvSpPr>
            <a:spLocks xmlns:a="http://schemas.openxmlformats.org/drawingml/2006/main" noGrp="1"/>
          </p:cNvSpPr>
          <p:nvPr/>
        </p:nvSpPr>
        <p:spPr>
          <a:xfrm xmlns:a="http://schemas.openxmlformats.org/drawingml/2006/main">
            <a:off x="685800" y="4953000"/>
            <a:ext cx="10477500" cy="809625"/>
          </a:xfrm>
          <a:prstGeom xmlns:a="http://schemas.openxmlformats.org/drawingml/2006/main" prst="roundRect">
            <a:avLst>
              <a:gd name="adj" fmla="val 14118"/>
            </a:avLst>
          </a:prstGeom>
          <a:solidFill xmlns:a="http://schemas.openxmlformats.org/drawingml/2006/main">
            <a:srgbClr val="102C4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AE65A4E-6000-4A1A-88EB-8CD260FA1B28}"/>
              </a:ext>
            </a:extLst>
          </p:cNvPr>
          <p:cNvSpPr>
            <a:spLocks xmlns:a="http://schemas.openxmlformats.org/drawingml/2006/main" noGrp="1"/>
          </p:cNvSpPr>
          <p:nvPr/>
        </p:nvSpPr>
        <p:spPr>
          <a:xfrm xmlns:a="http://schemas.openxmlformats.org/drawingml/2006/main">
            <a:off x="914400" y="51435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F9D42"/>
                </a:solidFill>
              </a:defRPr>
            </a:defPPr>
          </a:lstStyle>
          <a:p xmlns:a="http://schemas.openxmlformats.org/drawingml/2006/main">
            <a:pPr algn="l">
              <a:defRPr sz="1350" b="1">
                <a:solidFill>
                  <a:srgbClr val="FF9D42"/>
                </a:solidFill>
              </a:defRPr>
            </a:pPr>
            <a:r>
              <a:rPr sz="1350" b="1">
                <a:solidFill>
                  <a:srgbClr val="FF9D42"/>
                </a:solidFill>
              </a:rPr>
              <a:t>Key design question</a:t>
            </a:r>
          </a:p>
        </p:txBody>
      </p:sp>
      <p:sp>
        <p:nvSpPr>
          <p:cNvPr id="26" name="">
            <a:extLst xmlns:a="http://schemas.openxmlformats.org/drawingml/2006/main">
              <a:ext uri="{FF2B5EF4-FFF2-40B4-BE49-F238E27FC236}">
                <a16:creationId xmlns:a16="http://schemas.microsoft.com/office/drawing/2014/main" id="{B8A7E5A3-3E95-4BCE-B386-066876FB67C9}"/>
              </a:ext>
            </a:extLst>
          </p:cNvPr>
          <p:cNvSpPr>
            <a:spLocks xmlns:a="http://schemas.openxmlformats.org/drawingml/2006/main" noGrp="1"/>
          </p:cNvSpPr>
          <p:nvPr/>
        </p:nvSpPr>
        <p:spPr>
          <a:xfrm xmlns:a="http://schemas.openxmlformats.org/drawingml/2006/main">
            <a:off x="3143250" y="5095875"/>
            <a:ext cx="7667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Can these functions become schedulable, observable workloads without losing deterministic packet I/O?</a:t>
            </a:r>
          </a:p>
        </p:txBody>
      </p:sp>
      <p:sp>
        <p:nvSpPr>
          <p:cNvPr id="27" name="">
            <a:extLst xmlns:a="http://schemas.openxmlformats.org/drawingml/2006/main">
              <a:ext uri="{FF2B5EF4-FFF2-40B4-BE49-F238E27FC236}">
                <a16:creationId xmlns:a16="http://schemas.microsoft.com/office/drawing/2014/main" id="{2B87344E-330B-40CC-8468-57E8FB63C667}"/>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28" name="">
            <a:extLst xmlns:a="http://schemas.openxmlformats.org/drawingml/2006/main">
              <a:ext uri="{FF2B5EF4-FFF2-40B4-BE49-F238E27FC236}">
                <a16:creationId xmlns:a16="http://schemas.microsoft.com/office/drawing/2014/main" id="{31D129F7-A615-45BD-B9EB-F6C1CAE75F6E}"/>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Source: veesix-networks/osvbng project overview and feature list.</a:t>
            </a:r>
          </a:p>
        </p:txBody>
      </p:sp>
      <p:sp>
        <p:nvSpPr>
          <p:cNvPr id="29" name="">
            <a:extLst xmlns:a="http://schemas.openxmlformats.org/drawingml/2006/main">
              <a:ext uri="{FF2B5EF4-FFF2-40B4-BE49-F238E27FC236}">
                <a16:creationId xmlns:a16="http://schemas.microsoft.com/office/drawing/2014/main" id="{CDBE02E2-4B36-4DF4-A6E4-CC7DD4BAA6D0}"/>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04</a:t>
            </a:r>
          </a:p>
        </p:txBody>
      </p:sp>
    </p:spTree>
    <p:extLst>
      <p:ext uri="{BB962C8B-B14F-4D97-AF65-F5344CB8AC3E}">
        <p14:creationId xmlns:p14="http://schemas.microsoft.com/office/powerpoint/2010/main" val="653302803"/>
      </p:ext>
    </p:extLst>
  </p:cSld>
</p:sld>
</file>

<file path=ppt/slides/slide5.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41848DC-1AA4-489A-9C20-9E761E3A0901}"/>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2 • THE DESIGN</a:t>
            </a:r>
          </a:p>
        </p:txBody>
      </p:sp>
      <p:sp>
        <p:nvSpPr>
          <p:cNvPr id="2" name="">
            <a:extLst xmlns:a="http://schemas.openxmlformats.org/drawingml/2006/main">
              <a:ext uri="{FF2B5EF4-FFF2-40B4-BE49-F238E27FC236}">
                <a16:creationId xmlns:a16="http://schemas.microsoft.com/office/drawing/2014/main" id="{2E54578F-57D8-4103-8740-05A77335FCB6}"/>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One cluster, explicit data-plane interfaces</a:t>
            </a:r>
          </a:p>
        </p:txBody>
      </p:sp>
      <p:sp>
        <p:nvSpPr>
          <p:cNvPr id="3" name="">
            <a:extLst xmlns:a="http://schemas.openxmlformats.org/drawingml/2006/main">
              <a:ext uri="{FF2B5EF4-FFF2-40B4-BE49-F238E27FC236}">
                <a16:creationId xmlns:a16="http://schemas.microsoft.com/office/drawing/2014/main" id="{65575F6A-F494-405E-AD82-E456C18D58F9}"/>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Management stays Kubernetes-native. Subscriber and core traffic use Multus plus VFIO-bound virtio NICs.</a:t>
            </a:r>
          </a:p>
        </p:txBody>
      </p:sp>
      <p:sp>
        <p:nvSpPr>
          <p:cNvPr id="4" name="">
            <a:extLst xmlns:a="http://schemas.openxmlformats.org/drawingml/2006/main">
              <a:ext uri="{FF2B5EF4-FFF2-40B4-BE49-F238E27FC236}">
                <a16:creationId xmlns:a16="http://schemas.microsoft.com/office/drawing/2014/main" id="{9F217011-BE17-456E-9407-E876F4B15182}"/>
              </a:ext>
            </a:extLst>
          </p:cNvPr>
          <p:cNvSpPr>
            <a:spLocks xmlns:a="http://schemas.openxmlformats.org/drawingml/2006/main" noGrp="1"/>
          </p:cNvSpPr>
          <p:nvPr/>
        </p:nvSpPr>
        <p:spPr>
          <a:xfrm xmlns:a="http://schemas.openxmlformats.org/drawingml/2006/main">
            <a:off x="552450" y="2343150"/>
            <a:ext cx="209550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3BEBCBEB-0FE0-4332-8590-5317BA59346E}"/>
              </a:ext>
            </a:extLst>
          </p:cNvPr>
          <p:cNvSpPr>
            <a:spLocks xmlns:a="http://schemas.openxmlformats.org/drawingml/2006/main" noGrp="1"/>
          </p:cNvSpPr>
          <p:nvPr/>
        </p:nvSpPr>
        <p:spPr>
          <a:xfrm xmlns:a="http://schemas.openxmlformats.org/drawingml/2006/main">
            <a:off x="552450" y="2343150"/>
            <a:ext cx="57150" cy="1381125"/>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6" name="">
            <a:extLst xmlns:a="http://schemas.openxmlformats.org/drawingml/2006/main">
              <a:ext uri="{FF2B5EF4-FFF2-40B4-BE49-F238E27FC236}">
                <a16:creationId xmlns:a16="http://schemas.microsoft.com/office/drawing/2014/main" id="{4F5A166E-B3FC-4B30-8F94-F051C0AABA5A}"/>
              </a:ext>
            </a:extLst>
          </p:cNvPr>
          <p:cNvSpPr>
            <a:spLocks xmlns:a="http://schemas.openxmlformats.org/drawingml/2006/main" noGrp="1"/>
          </p:cNvSpPr>
          <p:nvPr/>
        </p:nvSpPr>
        <p:spPr>
          <a:xfrm xmlns:a="http://schemas.openxmlformats.org/drawingml/2006/main">
            <a:off x="742950" y="24765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UE generator</a:t>
            </a:r>
          </a:p>
        </p:txBody>
      </p:sp>
      <p:sp>
        <p:nvSpPr>
          <p:cNvPr id="7" name="">
            <a:extLst xmlns:a="http://schemas.openxmlformats.org/drawingml/2006/main">
              <a:ext uri="{FF2B5EF4-FFF2-40B4-BE49-F238E27FC236}">
                <a16:creationId xmlns:a16="http://schemas.microsoft.com/office/drawing/2014/main" id="{840BA16E-1487-420D-B1E9-6CEBC0ADD697}"/>
              </a:ext>
            </a:extLst>
          </p:cNvPr>
          <p:cNvSpPr>
            <a:spLocks xmlns:a="http://schemas.openxmlformats.org/drawingml/2006/main" noGrp="1"/>
          </p:cNvSpPr>
          <p:nvPr/>
        </p:nvSpPr>
        <p:spPr>
          <a:xfrm xmlns:a="http://schemas.openxmlformats.org/drawingml/2006/main">
            <a:off x="742950" y="3028950"/>
            <a:ext cx="17907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BNG Blaster</a:t>
            </a:r>
          </a:p>
          <a:p xmlns:a="http://schemas.openxmlformats.org/drawingml/2006/main">
            <a:pPr algn="l">
              <a:defRPr sz="975" b="0">
                <a:solidFill>
                  <a:srgbClr val="A9C1D2"/>
                </a:solidFill>
              </a:defRPr>
            </a:pPr>
            <a:r>
              <a:rPr sz="975" b="0">
                <a:solidFill>
                  <a:srgbClr val="A9C1D2"/>
                </a:solidFill>
              </a:rPr>
              <a:t>VLAN sessions and tests</a:t>
            </a:r>
          </a:p>
        </p:txBody>
      </p:sp>
      <p:sp>
        <p:nvSpPr>
          <p:cNvPr id="8" name="">
            <a:extLst xmlns:a="http://schemas.openxmlformats.org/drawingml/2006/main">
              <a:ext uri="{FF2B5EF4-FFF2-40B4-BE49-F238E27FC236}">
                <a16:creationId xmlns:a16="http://schemas.microsoft.com/office/drawing/2014/main" id="{FE8754DE-25A7-4F43-8E8F-5E3EDA438EB6}"/>
              </a:ext>
            </a:extLst>
          </p:cNvPr>
          <p:cNvSpPr>
            <a:spLocks xmlns:a="http://schemas.openxmlformats.org/drawingml/2006/main" noGrp="1"/>
          </p:cNvSpPr>
          <p:nvPr/>
        </p:nvSpPr>
        <p:spPr>
          <a:xfrm xmlns:a="http://schemas.openxmlformats.org/drawingml/2006/main">
            <a:off x="3333750" y="2343150"/>
            <a:ext cx="238125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9" name="">
            <a:extLst xmlns:a="http://schemas.openxmlformats.org/drawingml/2006/main">
              <a:ext uri="{FF2B5EF4-FFF2-40B4-BE49-F238E27FC236}">
                <a16:creationId xmlns:a16="http://schemas.microsoft.com/office/drawing/2014/main" id="{40DA8C84-3C1D-4FF5-B667-FDACEFD4DF1E}"/>
              </a:ext>
            </a:extLst>
          </p:cNvPr>
          <p:cNvSpPr>
            <a:spLocks xmlns:a="http://schemas.openxmlformats.org/drawingml/2006/main" noGrp="1"/>
          </p:cNvSpPr>
          <p:nvPr/>
        </p:nvSpPr>
        <p:spPr>
          <a:xfrm xmlns:a="http://schemas.openxmlformats.org/drawingml/2006/main">
            <a:off x="3333750" y="2343150"/>
            <a:ext cx="57150" cy="1381125"/>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10" name="">
            <a:extLst xmlns:a="http://schemas.openxmlformats.org/drawingml/2006/main">
              <a:ext uri="{FF2B5EF4-FFF2-40B4-BE49-F238E27FC236}">
                <a16:creationId xmlns:a16="http://schemas.microsoft.com/office/drawing/2014/main" id="{CC6009DE-330A-4C50-832D-3A499D887855}"/>
              </a:ext>
            </a:extLst>
          </p:cNvPr>
          <p:cNvSpPr>
            <a:spLocks xmlns:a="http://schemas.openxmlformats.org/drawingml/2006/main" noGrp="1"/>
          </p:cNvSpPr>
          <p:nvPr/>
        </p:nvSpPr>
        <p:spPr>
          <a:xfrm xmlns:a="http://schemas.openxmlformats.org/drawingml/2006/main">
            <a:off x="3524250" y="2476500"/>
            <a:ext cx="2076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OSVBNG StatefulSet</a:t>
            </a:r>
          </a:p>
        </p:txBody>
      </p:sp>
      <p:sp>
        <p:nvSpPr>
          <p:cNvPr id="11" name="">
            <a:extLst xmlns:a="http://schemas.openxmlformats.org/drawingml/2006/main">
              <a:ext uri="{FF2B5EF4-FFF2-40B4-BE49-F238E27FC236}">
                <a16:creationId xmlns:a16="http://schemas.microsoft.com/office/drawing/2014/main" id="{D13AD3EE-3F1C-4999-85F9-6AD946F72F68}"/>
              </a:ext>
            </a:extLst>
          </p:cNvPr>
          <p:cNvSpPr>
            <a:spLocks xmlns:a="http://schemas.openxmlformats.org/drawingml/2006/main" noGrp="1"/>
          </p:cNvSpPr>
          <p:nvPr/>
        </p:nvSpPr>
        <p:spPr>
          <a:xfrm xmlns:a="http://schemas.openxmlformats.org/drawingml/2006/main">
            <a:off x="3524250" y="3028950"/>
            <a:ext cx="20764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VPP + DPDK</a:t>
            </a:r>
          </a:p>
          <a:p xmlns:a="http://schemas.openxmlformats.org/drawingml/2006/main">
            <a:pPr algn="l">
              <a:defRPr sz="975" b="0">
                <a:solidFill>
                  <a:srgbClr val="A9C1D2"/>
                </a:solidFill>
              </a:defRPr>
            </a:pPr>
            <a:r>
              <a:rPr sz="975" b="0">
                <a:solidFill>
                  <a:srgbClr val="A9C1D2"/>
                </a:solidFill>
              </a:rPr>
              <a:t>subscriber forwarding</a:t>
            </a:r>
          </a:p>
        </p:txBody>
      </p:sp>
      <p:sp>
        <p:nvSpPr>
          <p:cNvPr id="12" name="">
            <a:extLst xmlns:a="http://schemas.openxmlformats.org/drawingml/2006/main">
              <a:ext uri="{FF2B5EF4-FFF2-40B4-BE49-F238E27FC236}">
                <a16:creationId xmlns:a16="http://schemas.microsoft.com/office/drawing/2014/main" id="{F85003F8-9D09-4CFD-BD88-2FA44C083897}"/>
              </a:ext>
            </a:extLst>
          </p:cNvPr>
          <p:cNvSpPr>
            <a:spLocks xmlns:a="http://schemas.openxmlformats.org/drawingml/2006/main" noGrp="1"/>
          </p:cNvSpPr>
          <p:nvPr/>
        </p:nvSpPr>
        <p:spPr>
          <a:xfrm xmlns:a="http://schemas.openxmlformats.org/drawingml/2006/main">
            <a:off x="6572250" y="2343150"/>
            <a:ext cx="219075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13" name="">
            <a:extLst xmlns:a="http://schemas.openxmlformats.org/drawingml/2006/main">
              <a:ext uri="{FF2B5EF4-FFF2-40B4-BE49-F238E27FC236}">
                <a16:creationId xmlns:a16="http://schemas.microsoft.com/office/drawing/2014/main" id="{26A2BCA3-F60F-4945-B45B-67EBCF4DD78E}"/>
              </a:ext>
            </a:extLst>
          </p:cNvPr>
          <p:cNvSpPr>
            <a:spLocks xmlns:a="http://schemas.openxmlformats.org/drawingml/2006/main" noGrp="1"/>
          </p:cNvSpPr>
          <p:nvPr/>
        </p:nvSpPr>
        <p:spPr>
          <a:xfrm xmlns:a="http://schemas.openxmlformats.org/drawingml/2006/main">
            <a:off x="6572250" y="2343150"/>
            <a:ext cx="57150" cy="1381125"/>
          </a:xfrm>
          <a:prstGeom xmlns:a="http://schemas.openxmlformats.org/drawingml/2006/main" prst="rect">
            <a:avLst/>
          </a:prstGeom>
          <a:solidFill xmlns:a="http://schemas.openxmlformats.org/drawingml/2006/main">
            <a:srgbClr val="43D17D"/>
          </a:solidFill>
          <a:ln xmlns:a="http://schemas.openxmlformats.org/drawingml/2006/main" w="0">
            <a:solidFill>
              <a:srgbClr val="43D17D"/>
            </a:solidFill>
            <a:prstDash val="solid"/>
          </a:ln>
        </p:spPr>
      </p:sp>
      <p:sp>
        <p:nvSpPr>
          <p:cNvPr id="14" name="">
            <a:extLst xmlns:a="http://schemas.openxmlformats.org/drawingml/2006/main">
              <a:ext uri="{FF2B5EF4-FFF2-40B4-BE49-F238E27FC236}">
                <a16:creationId xmlns:a16="http://schemas.microsoft.com/office/drawing/2014/main" id="{6939842B-0499-491E-945C-BAAAB29D22F6}"/>
              </a:ext>
            </a:extLst>
          </p:cNvPr>
          <p:cNvSpPr>
            <a:spLocks xmlns:a="http://schemas.openxmlformats.org/drawingml/2006/main" noGrp="1"/>
          </p:cNvSpPr>
          <p:nvPr/>
        </p:nvSpPr>
        <p:spPr>
          <a:xfrm xmlns:a="http://schemas.openxmlformats.org/drawingml/2006/main">
            <a:off x="6762750" y="2476500"/>
            <a:ext cx="18859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FRR edge routers</a:t>
            </a:r>
          </a:p>
        </p:txBody>
      </p:sp>
      <p:sp>
        <p:nvSpPr>
          <p:cNvPr id="15" name="">
            <a:extLst xmlns:a="http://schemas.openxmlformats.org/drawingml/2006/main">
              <a:ext uri="{FF2B5EF4-FFF2-40B4-BE49-F238E27FC236}">
                <a16:creationId xmlns:a16="http://schemas.microsoft.com/office/drawing/2014/main" id="{756AD1AE-BB65-428A-AC10-43017CDB9ACE}"/>
              </a:ext>
            </a:extLst>
          </p:cNvPr>
          <p:cNvSpPr>
            <a:spLocks xmlns:a="http://schemas.openxmlformats.org/drawingml/2006/main" noGrp="1"/>
          </p:cNvSpPr>
          <p:nvPr/>
        </p:nvSpPr>
        <p:spPr>
          <a:xfrm xmlns:a="http://schemas.openxmlformats.org/drawingml/2006/main">
            <a:off x="6762750" y="3028950"/>
            <a:ext cx="1885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BGP toward the BNG</a:t>
            </a:r>
          </a:p>
          <a:p xmlns:a="http://schemas.openxmlformats.org/drawingml/2006/main">
            <a:pPr algn="l">
              <a:defRPr sz="975" b="0">
                <a:solidFill>
                  <a:srgbClr val="A9C1D2"/>
                </a:solidFill>
              </a:defRPr>
            </a:pPr>
            <a:r>
              <a:rPr sz="975" b="0">
                <a:solidFill>
                  <a:srgbClr val="A9C1D2"/>
                </a:solidFill>
              </a:rPr>
              <a:t>and MikroTik</a:t>
            </a:r>
          </a:p>
        </p:txBody>
      </p:sp>
      <p:sp>
        <p:nvSpPr>
          <p:cNvPr id="16" name="">
            <a:extLst xmlns:a="http://schemas.openxmlformats.org/drawingml/2006/main">
              <a:ext uri="{FF2B5EF4-FFF2-40B4-BE49-F238E27FC236}">
                <a16:creationId xmlns:a16="http://schemas.microsoft.com/office/drawing/2014/main" id="{943827F7-9599-460F-AB43-172E729DCD3C}"/>
              </a:ext>
            </a:extLst>
          </p:cNvPr>
          <p:cNvSpPr>
            <a:spLocks xmlns:a="http://schemas.openxmlformats.org/drawingml/2006/main" noGrp="1"/>
          </p:cNvSpPr>
          <p:nvPr/>
        </p:nvSpPr>
        <p:spPr>
          <a:xfrm xmlns:a="http://schemas.openxmlformats.org/drawingml/2006/main">
            <a:off x="9525000" y="2343150"/>
            <a:ext cx="209550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17" name="">
            <a:extLst xmlns:a="http://schemas.openxmlformats.org/drawingml/2006/main">
              <a:ext uri="{FF2B5EF4-FFF2-40B4-BE49-F238E27FC236}">
                <a16:creationId xmlns:a16="http://schemas.microsoft.com/office/drawing/2014/main" id="{5A558421-CE36-4CBD-8605-314A6ACE5D2C}"/>
              </a:ext>
            </a:extLst>
          </p:cNvPr>
          <p:cNvSpPr>
            <a:spLocks xmlns:a="http://schemas.openxmlformats.org/drawingml/2006/main" noGrp="1"/>
          </p:cNvSpPr>
          <p:nvPr/>
        </p:nvSpPr>
        <p:spPr>
          <a:xfrm xmlns:a="http://schemas.openxmlformats.org/drawingml/2006/main">
            <a:off x="9525000" y="2343150"/>
            <a:ext cx="57150" cy="1381125"/>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18" name="">
            <a:extLst xmlns:a="http://schemas.openxmlformats.org/drawingml/2006/main">
              <a:ext uri="{FF2B5EF4-FFF2-40B4-BE49-F238E27FC236}">
                <a16:creationId xmlns:a16="http://schemas.microsoft.com/office/drawing/2014/main" id="{344A93ED-8C81-48DA-AB59-D7725BE06535}"/>
              </a:ext>
            </a:extLst>
          </p:cNvPr>
          <p:cNvSpPr>
            <a:spLocks xmlns:a="http://schemas.openxmlformats.org/drawingml/2006/main" noGrp="1"/>
          </p:cNvSpPr>
          <p:nvPr/>
        </p:nvSpPr>
        <p:spPr>
          <a:xfrm xmlns:a="http://schemas.openxmlformats.org/drawingml/2006/main">
            <a:off x="9715500" y="24765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MikroTik / Internet</a:t>
            </a:r>
          </a:p>
        </p:txBody>
      </p:sp>
      <p:sp>
        <p:nvSpPr>
          <p:cNvPr id="19" name="">
            <a:extLst xmlns:a="http://schemas.openxmlformats.org/drawingml/2006/main">
              <a:ext uri="{FF2B5EF4-FFF2-40B4-BE49-F238E27FC236}">
                <a16:creationId xmlns:a16="http://schemas.microsoft.com/office/drawing/2014/main" id="{CB661F71-9257-462F-86FA-20F2359F221D}"/>
              </a:ext>
            </a:extLst>
          </p:cNvPr>
          <p:cNvSpPr>
            <a:spLocks xmlns:a="http://schemas.openxmlformats.org/drawingml/2006/main" noGrp="1"/>
          </p:cNvSpPr>
          <p:nvPr/>
        </p:nvSpPr>
        <p:spPr>
          <a:xfrm xmlns:a="http://schemas.openxmlformats.org/drawingml/2006/main">
            <a:off x="9715500" y="3028950"/>
            <a:ext cx="17907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Default route</a:t>
            </a:r>
          </a:p>
          <a:p xmlns:a="http://schemas.openxmlformats.org/drawingml/2006/main">
            <a:pPr algn="l">
              <a:defRPr sz="975" b="0">
                <a:solidFill>
                  <a:srgbClr val="A9C1D2"/>
                </a:solidFill>
              </a:defRPr>
            </a:pPr>
            <a:r>
              <a:rPr sz="975" b="0">
                <a:solidFill>
                  <a:srgbClr val="A9C1D2"/>
                </a:solidFill>
              </a:rPr>
              <a:t>and return path</a:t>
            </a:r>
          </a:p>
        </p:txBody>
      </p:sp>
      <p:sp>
        <p:nvSpPr>
          <p:cNvPr id="20" name="">
            <a:extLst xmlns:a="http://schemas.openxmlformats.org/drawingml/2006/main">
              <a:ext uri="{FF2B5EF4-FFF2-40B4-BE49-F238E27FC236}">
                <a16:creationId xmlns:a16="http://schemas.microsoft.com/office/drawing/2014/main" id="{A8A4C11D-98AD-4C40-BEDA-24595E9BBD23}"/>
              </a:ext>
            </a:extLst>
          </p:cNvPr>
          <p:cNvSpPr>
            <a:spLocks xmlns:a="http://schemas.openxmlformats.org/drawingml/2006/main" noGrp="1"/>
          </p:cNvSpPr>
          <p:nvPr/>
        </p:nvSpPr>
        <p:spPr>
          <a:xfrm xmlns:a="http://schemas.openxmlformats.org/drawingml/2006/main">
            <a:off x="2647950" y="3009900"/>
            <a:ext cx="685800" cy="38100"/>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21" name="">
            <a:extLst xmlns:a="http://schemas.openxmlformats.org/drawingml/2006/main">
              <a:ext uri="{FF2B5EF4-FFF2-40B4-BE49-F238E27FC236}">
                <a16:creationId xmlns:a16="http://schemas.microsoft.com/office/drawing/2014/main" id="{1388D399-EFCD-4980-9C48-39D3217D4E3D}"/>
              </a:ext>
            </a:extLst>
          </p:cNvPr>
          <p:cNvSpPr>
            <a:spLocks xmlns:a="http://schemas.openxmlformats.org/drawingml/2006/main" noGrp="1"/>
          </p:cNvSpPr>
          <p:nvPr/>
        </p:nvSpPr>
        <p:spPr>
          <a:xfrm xmlns:a="http://schemas.openxmlformats.org/drawingml/2006/main">
            <a:off x="5715000" y="3009900"/>
            <a:ext cx="857250" cy="38100"/>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22" name="">
            <a:extLst xmlns:a="http://schemas.openxmlformats.org/drawingml/2006/main">
              <a:ext uri="{FF2B5EF4-FFF2-40B4-BE49-F238E27FC236}">
                <a16:creationId xmlns:a16="http://schemas.microsoft.com/office/drawing/2014/main" id="{627C3EC2-22C1-4BC1-99A2-75F7D3C64CDC}"/>
              </a:ext>
            </a:extLst>
          </p:cNvPr>
          <p:cNvSpPr>
            <a:spLocks xmlns:a="http://schemas.openxmlformats.org/drawingml/2006/main" noGrp="1"/>
          </p:cNvSpPr>
          <p:nvPr/>
        </p:nvSpPr>
        <p:spPr>
          <a:xfrm xmlns:a="http://schemas.openxmlformats.org/drawingml/2006/main">
            <a:off x="8763000" y="3009900"/>
            <a:ext cx="762000" cy="38100"/>
          </a:xfrm>
          <a:prstGeom xmlns:a="http://schemas.openxmlformats.org/drawingml/2006/main" prst="rect">
            <a:avLst/>
          </a:prstGeom>
          <a:solidFill xmlns:a="http://schemas.openxmlformats.org/drawingml/2006/main">
            <a:srgbClr val="43D17D"/>
          </a:solidFill>
          <a:ln xmlns:a="http://schemas.openxmlformats.org/drawingml/2006/main" w="0">
            <a:solidFill>
              <a:srgbClr val="43D17D"/>
            </a:solidFill>
            <a:prstDash val="solid"/>
          </a:ln>
        </p:spPr>
      </p:sp>
      <p:sp>
        <p:nvSpPr>
          <p:cNvPr id="23" name="">
            <a:extLst xmlns:a="http://schemas.openxmlformats.org/drawingml/2006/main">
              <a:ext uri="{FF2B5EF4-FFF2-40B4-BE49-F238E27FC236}">
                <a16:creationId xmlns:a16="http://schemas.microsoft.com/office/drawing/2014/main" id="{66FC319A-F503-45EB-BE24-F75E2346E883}"/>
              </a:ext>
            </a:extLst>
          </p:cNvPr>
          <p:cNvSpPr>
            <a:spLocks xmlns:a="http://schemas.openxmlformats.org/drawingml/2006/main" noGrp="1"/>
          </p:cNvSpPr>
          <p:nvPr/>
        </p:nvSpPr>
        <p:spPr>
          <a:xfrm xmlns:a="http://schemas.openxmlformats.org/drawingml/2006/main">
            <a:off x="552450" y="4048125"/>
            <a:ext cx="2095500" cy="590550"/>
          </a:xfrm>
          <a:prstGeom xmlns:a="http://schemas.openxmlformats.org/drawingml/2006/main" prst="roundRect">
            <a:avLst>
              <a:gd name="adj" fmla="val 19355"/>
            </a:avLst>
          </a:prstGeom>
          <a:solidFill xmlns:a="http://schemas.openxmlformats.org/drawingml/2006/main">
            <a:srgbClr val="102C4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7567FF6-04EF-4447-9157-4A89B875B899}"/>
              </a:ext>
            </a:extLst>
          </p:cNvPr>
          <p:cNvSpPr>
            <a:spLocks xmlns:a="http://schemas.openxmlformats.org/drawingml/2006/main" noGrp="1"/>
          </p:cNvSpPr>
          <p:nvPr/>
        </p:nvSpPr>
        <p:spPr>
          <a:xfrm xmlns:a="http://schemas.openxmlformats.org/drawingml/2006/main">
            <a:off x="666750" y="415290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7FBFF"/>
                </a:solidFill>
              </a:defRPr>
            </a:defPPr>
          </a:lstStyle>
          <a:p xmlns:a="http://schemas.openxmlformats.org/drawingml/2006/main">
            <a:pPr algn="ctr">
              <a:defRPr sz="1125" b="1">
                <a:solidFill>
                  <a:srgbClr val="F7FBFF"/>
                </a:solidFill>
              </a:defRPr>
            </a:pPr>
            <a:r>
              <a:rPr sz="1125" b="1">
                <a:solidFill>
                  <a:srgbClr val="F7FBFF"/>
                </a:solidFill>
              </a:rPr>
              <a:t>Subscriber access</a:t>
            </a:r>
          </a:p>
          <a:p xmlns:a="http://schemas.openxmlformats.org/drawingml/2006/main">
            <a:pPr algn="ctr">
              <a:defRPr sz="1125" b="1">
                <a:solidFill>
                  <a:srgbClr val="F7FBFF"/>
                </a:solidFill>
              </a:defRPr>
            </a:pPr>
            <a:r>
              <a:rPr sz="1125" b="1">
                <a:solidFill>
                  <a:srgbClr val="F7FBFF"/>
                </a:solidFill>
              </a:rPr>
              <a:t>VLANs 100–119</a:t>
            </a:r>
          </a:p>
        </p:txBody>
      </p:sp>
      <p:sp>
        <p:nvSpPr>
          <p:cNvPr id="25" name="">
            <a:extLst xmlns:a="http://schemas.openxmlformats.org/drawingml/2006/main">
              <a:ext uri="{FF2B5EF4-FFF2-40B4-BE49-F238E27FC236}">
                <a16:creationId xmlns:a16="http://schemas.microsoft.com/office/drawing/2014/main" id="{332A69E2-8E29-4ED3-A3CE-B74987620930}"/>
              </a:ext>
            </a:extLst>
          </p:cNvPr>
          <p:cNvSpPr>
            <a:spLocks xmlns:a="http://schemas.openxmlformats.org/drawingml/2006/main" noGrp="1"/>
          </p:cNvSpPr>
          <p:nvPr/>
        </p:nvSpPr>
        <p:spPr>
          <a:xfrm xmlns:a="http://schemas.openxmlformats.org/drawingml/2006/main">
            <a:off x="3333750" y="4048125"/>
            <a:ext cx="2381250" cy="590550"/>
          </a:xfrm>
          <a:prstGeom xmlns:a="http://schemas.openxmlformats.org/drawingml/2006/main" prst="roundRect">
            <a:avLst>
              <a:gd name="adj" fmla="val 19355"/>
            </a:avLst>
          </a:prstGeom>
          <a:solidFill xmlns:a="http://schemas.openxmlformats.org/drawingml/2006/main">
            <a:srgbClr val="102C4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5B78B6F-0503-4A75-B2EF-C04D100B714D}"/>
              </a:ext>
            </a:extLst>
          </p:cNvPr>
          <p:cNvSpPr>
            <a:spLocks xmlns:a="http://schemas.openxmlformats.org/drawingml/2006/main" noGrp="1"/>
          </p:cNvSpPr>
          <p:nvPr/>
        </p:nvSpPr>
        <p:spPr>
          <a:xfrm xmlns:a="http://schemas.openxmlformats.org/drawingml/2006/main">
            <a:off x="3486150" y="41529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7FBFF"/>
                </a:solidFill>
              </a:defRPr>
            </a:defPPr>
          </a:lstStyle>
          <a:p xmlns:a="http://schemas.openxmlformats.org/drawingml/2006/main">
            <a:pPr algn="ctr">
              <a:defRPr sz="1125" b="1">
                <a:solidFill>
                  <a:srgbClr val="F7FBFF"/>
                </a:solidFill>
              </a:defRPr>
            </a:pPr>
            <a:r>
              <a:rPr sz="1125" b="1">
                <a:solidFill>
                  <a:srgbClr val="F7FBFF"/>
                </a:solidFill>
              </a:rPr>
              <a:t>BNG–FRR transit</a:t>
            </a:r>
          </a:p>
          <a:p xmlns:a="http://schemas.openxmlformats.org/drawingml/2006/main">
            <a:pPr algn="ctr">
              <a:defRPr sz="1125" b="1">
                <a:solidFill>
                  <a:srgbClr val="F7FBFF"/>
                </a:solidFill>
              </a:defRPr>
            </a:pPr>
            <a:r>
              <a:rPr sz="1125" b="1">
                <a:solidFill>
                  <a:srgbClr val="F7FBFF"/>
                </a:solidFill>
              </a:rPr>
              <a:t>172.31.255.0/29</a:t>
            </a:r>
          </a:p>
        </p:txBody>
      </p:sp>
      <p:sp>
        <p:nvSpPr>
          <p:cNvPr id="27" name="">
            <a:extLst xmlns:a="http://schemas.openxmlformats.org/drawingml/2006/main">
              <a:ext uri="{FF2B5EF4-FFF2-40B4-BE49-F238E27FC236}">
                <a16:creationId xmlns:a16="http://schemas.microsoft.com/office/drawing/2014/main" id="{0FE5B158-CAAD-4D16-BC8F-2AC0AC1AF1E4}"/>
              </a:ext>
            </a:extLst>
          </p:cNvPr>
          <p:cNvSpPr>
            <a:spLocks xmlns:a="http://schemas.openxmlformats.org/drawingml/2006/main" noGrp="1"/>
          </p:cNvSpPr>
          <p:nvPr/>
        </p:nvSpPr>
        <p:spPr>
          <a:xfrm xmlns:a="http://schemas.openxmlformats.org/drawingml/2006/main">
            <a:off x="6572250" y="4048125"/>
            <a:ext cx="2190750" cy="590550"/>
          </a:xfrm>
          <a:prstGeom xmlns:a="http://schemas.openxmlformats.org/drawingml/2006/main" prst="roundRect">
            <a:avLst>
              <a:gd name="adj" fmla="val 19355"/>
            </a:avLst>
          </a:prstGeom>
          <a:solidFill xmlns:a="http://schemas.openxmlformats.org/drawingml/2006/main">
            <a:srgbClr val="102C4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95B2D0A-6B9D-4C41-9AC2-9B45A7FF794F}"/>
              </a:ext>
            </a:extLst>
          </p:cNvPr>
          <p:cNvSpPr>
            <a:spLocks xmlns:a="http://schemas.openxmlformats.org/drawingml/2006/main" noGrp="1"/>
          </p:cNvSpPr>
          <p:nvPr/>
        </p:nvSpPr>
        <p:spPr>
          <a:xfrm xmlns:a="http://schemas.openxmlformats.org/drawingml/2006/main">
            <a:off x="6705600" y="41529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7FBFF"/>
                </a:solidFill>
              </a:defRPr>
            </a:defPPr>
          </a:lstStyle>
          <a:p xmlns:a="http://schemas.openxmlformats.org/drawingml/2006/main">
            <a:pPr algn="ctr">
              <a:defRPr sz="1125" b="1">
                <a:solidFill>
                  <a:srgbClr val="F7FBFF"/>
                </a:solidFill>
              </a:defRPr>
            </a:pPr>
            <a:r>
              <a:rPr sz="1125" b="1">
                <a:solidFill>
                  <a:srgbClr val="F7FBFF"/>
                </a:solidFill>
              </a:rPr>
              <a:t>FRR–MikroTik uplink</a:t>
            </a:r>
          </a:p>
          <a:p xmlns:a="http://schemas.openxmlformats.org/drawingml/2006/main">
            <a:pPr algn="ctr">
              <a:defRPr sz="1125" b="1">
                <a:solidFill>
                  <a:srgbClr val="F7FBFF"/>
                </a:solidFill>
              </a:defRPr>
            </a:pPr>
            <a:r>
              <a:rPr sz="1125" b="1">
                <a:solidFill>
                  <a:srgbClr val="F7FBFF"/>
                </a:solidFill>
              </a:rPr>
              <a:t>192.168.88.12 / .13</a:t>
            </a:r>
          </a:p>
        </p:txBody>
      </p:sp>
      <p:sp>
        <p:nvSpPr>
          <p:cNvPr id="29" name="">
            <a:extLst xmlns:a="http://schemas.openxmlformats.org/drawingml/2006/main">
              <a:ext uri="{FF2B5EF4-FFF2-40B4-BE49-F238E27FC236}">
                <a16:creationId xmlns:a16="http://schemas.microsoft.com/office/drawing/2014/main" id="{66E3DB54-2044-4E54-A2D5-3E266583283C}"/>
              </a:ext>
            </a:extLst>
          </p:cNvPr>
          <p:cNvSpPr>
            <a:spLocks xmlns:a="http://schemas.openxmlformats.org/drawingml/2006/main" noGrp="1"/>
          </p:cNvSpPr>
          <p:nvPr/>
        </p:nvSpPr>
        <p:spPr>
          <a:xfrm xmlns:a="http://schemas.openxmlformats.org/drawingml/2006/main">
            <a:off x="9525000" y="4048125"/>
            <a:ext cx="2095500" cy="590550"/>
          </a:xfrm>
          <a:prstGeom xmlns:a="http://schemas.openxmlformats.org/drawingml/2006/main" prst="roundRect">
            <a:avLst>
              <a:gd name="adj" fmla="val 19355"/>
            </a:avLst>
          </a:prstGeom>
          <a:solidFill xmlns:a="http://schemas.openxmlformats.org/drawingml/2006/main">
            <a:srgbClr val="102C4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8489EC3-A070-4A4B-B909-AFAD78F5BD42}"/>
              </a:ext>
            </a:extLst>
          </p:cNvPr>
          <p:cNvSpPr>
            <a:spLocks xmlns:a="http://schemas.openxmlformats.org/drawingml/2006/main" noGrp="1"/>
          </p:cNvSpPr>
          <p:nvPr/>
        </p:nvSpPr>
        <p:spPr>
          <a:xfrm xmlns:a="http://schemas.openxmlformats.org/drawingml/2006/main">
            <a:off x="9639300" y="415290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7FBFF"/>
                </a:solidFill>
              </a:defRPr>
            </a:defPPr>
          </a:lstStyle>
          <a:p xmlns:a="http://schemas.openxmlformats.org/drawingml/2006/main">
            <a:pPr algn="ctr">
              <a:defRPr sz="1125" b="1">
                <a:solidFill>
                  <a:srgbClr val="F7FBFF"/>
                </a:solidFill>
              </a:defRPr>
            </a:pPr>
            <a:r>
              <a:rPr sz="1125" b="1">
                <a:solidFill>
                  <a:srgbClr val="F7FBFF"/>
                </a:solidFill>
              </a:rPr>
              <a:t>Upstream LAN</a:t>
            </a:r>
          </a:p>
          <a:p xmlns:a="http://schemas.openxmlformats.org/drawingml/2006/main">
            <a:pPr algn="ctr">
              <a:defRPr sz="1125" b="1">
                <a:solidFill>
                  <a:srgbClr val="F7FBFF"/>
                </a:solidFill>
              </a:defRPr>
            </a:pPr>
            <a:r>
              <a:rPr sz="1125" b="1">
                <a:solidFill>
                  <a:srgbClr val="F7FBFF"/>
                </a:solidFill>
              </a:rPr>
              <a:t>192.168.88.0/24</a:t>
            </a:r>
          </a:p>
        </p:txBody>
      </p:sp>
      <p:sp>
        <p:nvSpPr>
          <p:cNvPr id="31" name="">
            <a:extLst xmlns:a="http://schemas.openxmlformats.org/drawingml/2006/main">
              <a:ext uri="{FF2B5EF4-FFF2-40B4-BE49-F238E27FC236}">
                <a16:creationId xmlns:a16="http://schemas.microsoft.com/office/drawing/2014/main" id="{EFE37213-D316-4ED0-996D-064606EC181A}"/>
              </a:ext>
            </a:extLst>
          </p:cNvPr>
          <p:cNvSpPr>
            <a:spLocks xmlns:a="http://schemas.openxmlformats.org/drawingml/2006/main" noGrp="1"/>
          </p:cNvSpPr>
          <p:nvPr/>
        </p:nvSpPr>
        <p:spPr>
          <a:xfrm xmlns:a="http://schemas.openxmlformats.org/drawingml/2006/main">
            <a:off x="2714625" y="5010150"/>
            <a:ext cx="6858000" cy="685800"/>
          </a:xfrm>
          <a:prstGeom xmlns:a="http://schemas.openxmlformats.org/drawingml/2006/main" prst="roundRect">
            <a:avLst>
              <a:gd name="adj" fmla="val 16667"/>
            </a:avLst>
          </a:prstGeom>
          <a:solidFill xmlns:a="http://schemas.openxmlformats.org/drawingml/2006/main">
            <a:srgbClr val="102C4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64C323B-BC7C-45D4-9E8C-7899F88808C9}"/>
              </a:ext>
            </a:extLst>
          </p:cNvPr>
          <p:cNvSpPr>
            <a:spLocks xmlns:a="http://schemas.openxmlformats.org/drawingml/2006/main" noGrp="1"/>
          </p:cNvSpPr>
          <p:nvPr/>
        </p:nvSpPr>
        <p:spPr>
          <a:xfrm xmlns:a="http://schemas.openxmlformats.org/drawingml/2006/main">
            <a:off x="3000375"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F7FBFF"/>
                </a:solidFill>
              </a:defRPr>
            </a:defPPr>
          </a:lstStyle>
          <a:p xmlns:a="http://schemas.openxmlformats.org/drawingml/2006/main">
            <a:pPr algn="ctr">
              <a:defRPr sz="1425" b="1">
                <a:solidFill>
                  <a:srgbClr val="F7FBFF"/>
                </a:solidFill>
              </a:defRPr>
            </a:pPr>
            <a:r>
              <a:rPr sz="1425" b="1">
                <a:solidFill>
                  <a:srgbClr val="F7FBFF"/>
                </a:solidFill>
              </a:rPr>
              <a:t>Kubernetes manages placement, restart, configuration, secrets, and observability.</a:t>
            </a:r>
          </a:p>
        </p:txBody>
      </p:sp>
      <p:sp>
        <p:nvSpPr>
          <p:cNvPr id="33" name="">
            <a:extLst xmlns:a="http://schemas.openxmlformats.org/drawingml/2006/main">
              <a:ext uri="{FF2B5EF4-FFF2-40B4-BE49-F238E27FC236}">
                <a16:creationId xmlns:a16="http://schemas.microsoft.com/office/drawing/2014/main" id="{2A9BB033-1FBB-4756-BB76-CDD7D3B0FF04}"/>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34" name="">
            <a:extLst xmlns:a="http://schemas.openxmlformats.org/drawingml/2006/main">
              <a:ext uri="{FF2B5EF4-FFF2-40B4-BE49-F238E27FC236}">
                <a16:creationId xmlns:a16="http://schemas.microsoft.com/office/drawing/2014/main" id="{05890DBF-133C-4563-92FD-DB6E76D60E79}"/>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Example addresses: FRR-A 192.168.88.12/24 and FRR-B 192.168.88.13/24.</a:t>
            </a:r>
          </a:p>
        </p:txBody>
      </p:sp>
      <p:sp>
        <p:nvSpPr>
          <p:cNvPr id="35" name="">
            <a:extLst xmlns:a="http://schemas.openxmlformats.org/drawingml/2006/main">
              <a:ext uri="{FF2B5EF4-FFF2-40B4-BE49-F238E27FC236}">
                <a16:creationId xmlns:a16="http://schemas.microsoft.com/office/drawing/2014/main" id="{988F4AD7-B524-432E-8B1B-532C4BE10853}"/>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05</a:t>
            </a:r>
          </a:p>
        </p:txBody>
      </p:sp>
    </p:spTree>
    <p:extLst>
      <p:ext uri="{BB962C8B-B14F-4D97-AF65-F5344CB8AC3E}">
        <p14:creationId xmlns:p14="http://schemas.microsoft.com/office/powerpoint/2010/main" val="1944018624"/>
      </p:ext>
    </p:extLst>
  </p:cSld>
</p:sld>
</file>

<file path=ppt/slides/slide6.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DCBED45-1747-4073-B5C2-A65DF9A0170C}"/>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KUBERNETES INTEGRATION</a:t>
            </a:r>
          </a:p>
        </p:txBody>
      </p:sp>
      <p:sp>
        <p:nvSpPr>
          <p:cNvPr id="2" name="">
            <a:extLst xmlns:a="http://schemas.openxmlformats.org/drawingml/2006/main">
              <a:ext uri="{FF2B5EF4-FFF2-40B4-BE49-F238E27FC236}">
                <a16:creationId xmlns:a16="http://schemas.microsoft.com/office/drawing/2014/main" id="{C15854EA-D9EB-462E-8C2A-0369C761F48D}"/>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Plugins and live workload state</a:t>
            </a:r>
          </a:p>
        </p:txBody>
      </p:sp>
      <p:sp>
        <p:nvSpPr>
          <p:cNvPr id="3" name="">
            <a:extLst xmlns:a="http://schemas.openxmlformats.org/drawingml/2006/main">
              <a:ext uri="{FF2B5EF4-FFF2-40B4-BE49-F238E27FC236}">
                <a16:creationId xmlns:a16="http://schemas.microsoft.com/office/drawing/2014/main" id="{F2F639EC-106B-48A8-AC6D-C6CF8EDE06B2}"/>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Secondary networks and device allocation remain explicit.</a:t>
            </a:r>
          </a:p>
        </p:txBody>
      </p:sp>
      <p:sp>
        <p:nvSpPr>
          <p:cNvPr id="4" name="">
            <a:extLst xmlns:a="http://schemas.openxmlformats.org/drawingml/2006/main">
              <a:ext uri="{FF2B5EF4-FFF2-40B4-BE49-F238E27FC236}">
                <a16:creationId xmlns:a16="http://schemas.microsoft.com/office/drawing/2014/main" id="{129C3EBD-4452-482A-89A1-90C95DB91E7D}"/>
              </a:ext>
            </a:extLst>
          </p:cNvPr>
          <p:cNvSpPr>
            <a:spLocks xmlns:a="http://schemas.openxmlformats.org/drawingml/2006/main" noGrp="1"/>
          </p:cNvSpPr>
          <p:nvPr/>
        </p:nvSpPr>
        <p:spPr>
          <a:xfrm xmlns:a="http://schemas.openxmlformats.org/drawingml/2006/main">
            <a:off x="685800" y="2114550"/>
            <a:ext cx="3714750" cy="3667125"/>
          </a:xfrm>
          <a:prstGeom xmlns:a="http://schemas.openxmlformats.org/drawingml/2006/main" prst="roundRect">
            <a:avLst>
              <a:gd name="adj" fmla="val 4156"/>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F4D8C257-C365-4637-BECA-A0459F0D2EB0}"/>
              </a:ext>
            </a:extLst>
          </p:cNvPr>
          <p:cNvSpPr>
            <a:spLocks xmlns:a="http://schemas.openxmlformats.org/drawingml/2006/main" noGrp="1"/>
          </p:cNvSpPr>
          <p:nvPr/>
        </p:nvSpPr>
        <p:spPr>
          <a:xfrm xmlns:a="http://schemas.openxmlformats.org/drawingml/2006/main">
            <a:off x="971550" y="2400300"/>
            <a:ext cx="3095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23D5D2"/>
                </a:solidFill>
              </a:defRPr>
            </a:defPPr>
          </a:lstStyle>
          <a:p xmlns:a="http://schemas.openxmlformats.org/drawingml/2006/main">
            <a:pPr algn="l">
              <a:defRPr sz="1650" b="1">
                <a:solidFill>
                  <a:srgbClr val="23D5D2"/>
                </a:solidFill>
              </a:defRPr>
            </a:pPr>
            <a:r>
              <a:rPr sz="1650" b="1">
                <a:solidFill>
                  <a:srgbClr val="23D5D2"/>
                </a:solidFill>
              </a:rPr>
              <a:t>Networking and device plugins</a:t>
            </a:r>
          </a:p>
        </p:txBody>
      </p:sp>
      <p:sp>
        <p:nvSpPr>
          <p:cNvPr id="6" name="">
            <a:extLst xmlns:a="http://schemas.openxmlformats.org/drawingml/2006/main">
              <a:ext uri="{FF2B5EF4-FFF2-40B4-BE49-F238E27FC236}">
                <a16:creationId xmlns:a16="http://schemas.microsoft.com/office/drawing/2014/main" id="{63FB7895-900B-414F-BB44-7E8CC5C042E5}"/>
              </a:ext>
            </a:extLst>
          </p:cNvPr>
          <p:cNvSpPr>
            <a:spLocks xmlns:a="http://schemas.openxmlformats.org/drawingml/2006/main" noGrp="1"/>
          </p:cNvSpPr>
          <p:nvPr/>
        </p:nvSpPr>
        <p:spPr>
          <a:xfrm xmlns:a="http://schemas.openxmlformats.org/drawingml/2006/main">
            <a:off x="971550" y="2952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F7FBFF"/>
                </a:solidFill>
              </a:defRPr>
            </a:defPPr>
          </a:lstStyle>
          <a:p xmlns:a="http://schemas.openxmlformats.org/drawingml/2006/main">
            <a:pPr algn="l">
              <a:defRPr sz="1275" b="1">
                <a:solidFill>
                  <a:srgbClr val="F7FBFF"/>
                </a:solidFill>
              </a:defRPr>
            </a:pPr>
            <a:r>
              <a:rPr sz="1275" b="1">
                <a:solidFill>
                  <a:srgbClr val="F7FBFF"/>
                </a:solidFill>
              </a:rPr>
              <a:t>Multus CNI</a:t>
            </a:r>
          </a:p>
        </p:txBody>
      </p:sp>
      <p:sp>
        <p:nvSpPr>
          <p:cNvPr id="7" name="">
            <a:extLst xmlns:a="http://schemas.openxmlformats.org/drawingml/2006/main">
              <a:ext uri="{FF2B5EF4-FFF2-40B4-BE49-F238E27FC236}">
                <a16:creationId xmlns:a16="http://schemas.microsoft.com/office/drawing/2014/main" id="{89065D63-FFA9-4ECE-BE12-C431EB66A22A}"/>
              </a:ext>
            </a:extLst>
          </p:cNvPr>
          <p:cNvSpPr>
            <a:spLocks xmlns:a="http://schemas.openxmlformats.org/drawingml/2006/main" noGrp="1"/>
          </p:cNvSpPr>
          <p:nvPr/>
        </p:nvSpPr>
        <p:spPr>
          <a:xfrm xmlns:a="http://schemas.openxmlformats.org/drawingml/2006/main">
            <a:off x="2476500" y="29527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Attaches access, core, and uplink networks</a:t>
            </a:r>
          </a:p>
        </p:txBody>
      </p:sp>
      <p:sp>
        <p:nvSpPr>
          <p:cNvPr id="8" name="">
            <a:extLst xmlns:a="http://schemas.openxmlformats.org/drawingml/2006/main">
              <a:ext uri="{FF2B5EF4-FFF2-40B4-BE49-F238E27FC236}">
                <a16:creationId xmlns:a16="http://schemas.microsoft.com/office/drawing/2014/main" id="{7EB36F30-39E7-4F24-BD72-A1979874488C}"/>
              </a:ext>
            </a:extLst>
          </p:cNvPr>
          <p:cNvSpPr>
            <a:spLocks xmlns:a="http://schemas.openxmlformats.org/drawingml/2006/main" noGrp="1"/>
          </p:cNvSpPr>
          <p:nvPr/>
        </p:nvSpPr>
        <p:spPr>
          <a:xfrm xmlns:a="http://schemas.openxmlformats.org/drawingml/2006/main">
            <a:off x="971550" y="3600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F7FBFF"/>
                </a:solidFill>
              </a:defRPr>
            </a:defPPr>
          </a:lstStyle>
          <a:p xmlns:a="http://schemas.openxmlformats.org/drawingml/2006/main">
            <a:pPr algn="l">
              <a:defRPr sz="1275" b="1">
                <a:solidFill>
                  <a:srgbClr val="F7FBFF"/>
                </a:solidFill>
              </a:defRPr>
            </a:pPr>
            <a:r>
              <a:rPr sz="1275" b="1">
                <a:solidFill>
                  <a:srgbClr val="F7FBFF"/>
                </a:solidFill>
              </a:rPr>
              <a:t>SR-IOV Device Plugin</a:t>
            </a:r>
          </a:p>
        </p:txBody>
      </p:sp>
      <p:sp>
        <p:nvSpPr>
          <p:cNvPr id="9" name="">
            <a:extLst xmlns:a="http://schemas.openxmlformats.org/drawingml/2006/main">
              <a:ext uri="{FF2B5EF4-FFF2-40B4-BE49-F238E27FC236}">
                <a16:creationId xmlns:a16="http://schemas.microsoft.com/office/drawing/2014/main" id="{90DD6A72-DEDE-4500-B0E1-35F554C2F613}"/>
              </a:ext>
            </a:extLst>
          </p:cNvPr>
          <p:cNvSpPr>
            <a:spLocks xmlns:a="http://schemas.openxmlformats.org/drawingml/2006/main" noGrp="1"/>
          </p:cNvSpPr>
          <p:nvPr/>
        </p:nvSpPr>
        <p:spPr>
          <a:xfrm xmlns:a="http://schemas.openxmlformats.org/drawingml/2006/main">
            <a:off x="2476500" y="36004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Advertises two VFIO virtio NICs per BNG pod</a:t>
            </a:r>
          </a:p>
        </p:txBody>
      </p:sp>
      <p:sp>
        <p:nvSpPr>
          <p:cNvPr id="10" name="">
            <a:extLst xmlns:a="http://schemas.openxmlformats.org/drawingml/2006/main">
              <a:ext uri="{FF2B5EF4-FFF2-40B4-BE49-F238E27FC236}">
                <a16:creationId xmlns:a16="http://schemas.microsoft.com/office/drawing/2014/main" id="{29ECEDD2-EBDC-4FE8-9CB3-27361C965150}"/>
              </a:ext>
            </a:extLst>
          </p:cNvPr>
          <p:cNvSpPr>
            <a:spLocks xmlns:a="http://schemas.openxmlformats.org/drawingml/2006/main" noGrp="1"/>
          </p:cNvSpPr>
          <p:nvPr/>
        </p:nvSpPr>
        <p:spPr>
          <a:xfrm xmlns:a="http://schemas.openxmlformats.org/drawingml/2006/main">
            <a:off x="971550" y="42481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F7FBFF"/>
                </a:solidFill>
              </a:defRPr>
            </a:defPPr>
          </a:lstStyle>
          <a:p xmlns:a="http://schemas.openxmlformats.org/drawingml/2006/main">
            <a:pPr algn="l">
              <a:defRPr sz="1275" b="1">
                <a:solidFill>
                  <a:srgbClr val="F7FBFF"/>
                </a:solidFill>
              </a:defRPr>
            </a:pPr>
            <a:r>
              <a:rPr sz="1275" b="1">
                <a:solidFill>
                  <a:srgbClr val="F7FBFF"/>
                </a:solidFill>
              </a:rPr>
              <a:t>host-device CNI</a:t>
            </a:r>
          </a:p>
        </p:txBody>
      </p:sp>
      <p:sp>
        <p:nvSpPr>
          <p:cNvPr id="11" name="">
            <a:extLst xmlns:a="http://schemas.openxmlformats.org/drawingml/2006/main">
              <a:ext uri="{FF2B5EF4-FFF2-40B4-BE49-F238E27FC236}">
                <a16:creationId xmlns:a16="http://schemas.microsoft.com/office/drawing/2014/main" id="{51815260-5892-4E52-8564-DE7EDE07F991}"/>
              </a:ext>
            </a:extLst>
          </p:cNvPr>
          <p:cNvSpPr>
            <a:spLocks xmlns:a="http://schemas.openxmlformats.org/drawingml/2006/main" noGrp="1"/>
          </p:cNvSpPr>
          <p:nvPr/>
        </p:nvSpPr>
        <p:spPr>
          <a:xfrm xmlns:a="http://schemas.openxmlformats.org/drawingml/2006/main">
            <a:off x="2476500" y="42481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Moves assigned interfaces into the BNG pod</a:t>
            </a:r>
          </a:p>
        </p:txBody>
      </p:sp>
      <p:sp>
        <p:nvSpPr>
          <p:cNvPr id="12" name="">
            <a:extLst xmlns:a="http://schemas.openxmlformats.org/drawingml/2006/main">
              <a:ext uri="{FF2B5EF4-FFF2-40B4-BE49-F238E27FC236}">
                <a16:creationId xmlns:a16="http://schemas.microsoft.com/office/drawing/2014/main" id="{C0C23D18-C0B4-4722-B0DB-8E863232CDAE}"/>
              </a:ext>
            </a:extLst>
          </p:cNvPr>
          <p:cNvSpPr>
            <a:spLocks xmlns:a="http://schemas.openxmlformats.org/drawingml/2006/main" noGrp="1"/>
          </p:cNvSpPr>
          <p:nvPr/>
        </p:nvSpPr>
        <p:spPr>
          <a:xfrm xmlns:a="http://schemas.openxmlformats.org/drawingml/2006/main">
            <a:off x="971550" y="4895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F7FBFF"/>
                </a:solidFill>
              </a:defRPr>
            </a:defPPr>
          </a:lstStyle>
          <a:p xmlns:a="http://schemas.openxmlformats.org/drawingml/2006/main">
            <a:pPr algn="l">
              <a:defRPr sz="1275" b="1">
                <a:solidFill>
                  <a:srgbClr val="F7FBFF"/>
                </a:solidFill>
              </a:defRPr>
            </a:pPr>
            <a:r>
              <a:rPr sz="1275" b="1">
                <a:solidFill>
                  <a:srgbClr val="F7FBFF"/>
                </a:solidFill>
              </a:rPr>
              <a:t>macvlan CNI</a:t>
            </a:r>
          </a:p>
        </p:txBody>
      </p:sp>
      <p:sp>
        <p:nvSpPr>
          <p:cNvPr id="13" name="">
            <a:extLst xmlns:a="http://schemas.openxmlformats.org/drawingml/2006/main">
              <a:ext uri="{FF2B5EF4-FFF2-40B4-BE49-F238E27FC236}">
                <a16:creationId xmlns:a16="http://schemas.microsoft.com/office/drawing/2014/main" id="{16B8D7B0-22B3-4BE8-987F-16E0BEAC52D8}"/>
              </a:ext>
            </a:extLst>
          </p:cNvPr>
          <p:cNvSpPr>
            <a:spLocks xmlns:a="http://schemas.openxmlformats.org/drawingml/2006/main" noGrp="1"/>
          </p:cNvSpPr>
          <p:nvPr/>
        </p:nvSpPr>
        <p:spPr>
          <a:xfrm xmlns:a="http://schemas.openxmlformats.org/drawingml/2006/main">
            <a:off x="2476500" y="48958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Connects FRR core and upstream interfaces</a:t>
            </a:r>
          </a:p>
        </p:txBody>
      </p:sp>
      <p:sp>
        <p:nvSpPr>
          <p:cNvPr id="14" name="">
            <a:extLst xmlns:a="http://schemas.openxmlformats.org/drawingml/2006/main">
              <a:ext uri="{FF2B5EF4-FFF2-40B4-BE49-F238E27FC236}">
                <a16:creationId xmlns:a16="http://schemas.microsoft.com/office/drawing/2014/main" id="{3712C097-3103-44B8-B840-093FECCD7147}"/>
              </a:ext>
            </a:extLst>
          </p:cNvPr>
          <p:cNvSpPr>
            <a:spLocks xmlns:a="http://schemas.openxmlformats.org/drawingml/2006/main" noGrp="1"/>
          </p:cNvSpPr>
          <p:nvPr/>
        </p:nvSpPr>
        <p:spPr>
          <a:xfrm xmlns:a="http://schemas.openxmlformats.org/drawingml/2006/main">
            <a:off x="4762500" y="2114550"/>
            <a:ext cx="6743700" cy="2714625"/>
          </a:xfrm>
          <a:prstGeom xmlns:a="http://schemas.openxmlformats.org/drawingml/2006/main" prst="roundRect">
            <a:avLst>
              <a:gd name="adj" fmla="val 4211"/>
            </a:avLst>
          </a:prstGeom>
          <a:solidFill xmlns:a="http://schemas.openxmlformats.org/drawingml/2006/main">
            <a:srgbClr val="06131E"/>
          </a:solidFill>
          <a:ln xmlns:a="http://schemas.openxmlformats.org/drawingml/2006/main" w="9525">
            <a:solidFill>
              <a:srgbClr val="31536A"/>
            </a:solidFill>
            <a:prstDash val="solid"/>
          </a:ln>
        </p:spPr>
      </p:sp>
      <p:sp>
        <p:nvSpPr>
          <p:cNvPr id="15" name="">
            <a:extLst xmlns:a="http://schemas.openxmlformats.org/drawingml/2006/main">
              <a:ext uri="{FF2B5EF4-FFF2-40B4-BE49-F238E27FC236}">
                <a16:creationId xmlns:a16="http://schemas.microsoft.com/office/drawing/2014/main" id="{28770BA6-B056-4495-9A64-E694126C80CE}"/>
              </a:ext>
            </a:extLst>
          </p:cNvPr>
          <p:cNvSpPr>
            <a:spLocks xmlns:a="http://schemas.openxmlformats.org/drawingml/2006/main" noGrp="1"/>
          </p:cNvSpPr>
          <p:nvPr/>
        </p:nvSpPr>
        <p:spPr>
          <a:xfrm xmlns:a="http://schemas.openxmlformats.org/drawingml/2006/main">
            <a:off x="5010150" y="2324100"/>
            <a:ext cx="614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LIVE CLUSTER SNAPSHOT  •  kubectl get pods -n osvbng-ha</a:t>
            </a:r>
          </a:p>
        </p:txBody>
      </p:sp>
      <p:sp>
        <p:nvSpPr>
          <p:cNvPr id="16" name="">
            <a:extLst xmlns:a="http://schemas.openxmlformats.org/drawingml/2006/main">
              <a:ext uri="{FF2B5EF4-FFF2-40B4-BE49-F238E27FC236}">
                <a16:creationId xmlns:a16="http://schemas.microsoft.com/office/drawing/2014/main" id="{4D62F6BF-1441-47CA-88E0-18674968DCF2}"/>
              </a:ext>
            </a:extLst>
          </p:cNvPr>
          <p:cNvSpPr>
            <a:spLocks xmlns:a="http://schemas.openxmlformats.org/drawingml/2006/main" noGrp="1"/>
          </p:cNvSpPr>
          <p:nvPr/>
        </p:nvSpPr>
        <p:spPr>
          <a:xfrm xmlns:a="http://schemas.openxmlformats.org/drawingml/2006/main">
            <a:off x="5010150" y="2705100"/>
            <a:ext cx="6143625"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C5E3D8"/>
                </a:solidFill>
              </a:defRPr>
            </a:defPPr>
          </a:lstStyle>
          <a:p xmlns:a="http://schemas.openxmlformats.org/drawingml/2006/main">
            <a:pPr algn="l">
              <a:defRPr sz="1125" b="0">
                <a:solidFill>
                  <a:srgbClr val="C5E3D8"/>
                </a:solidFill>
              </a:defRPr>
            </a:pPr>
            <a:r>
              <a:rPr sz="1125" b="0">
                <a:solidFill>
                  <a:srgbClr val="C5E3D8"/>
                </a:solidFill>
              </a:rPr>
              <a:t>NAME                         READY   STATUS    NODE</a:t>
            </a:r>
          </a:p>
          <a:p xmlns:a="http://schemas.openxmlformats.org/drawingml/2006/main">
            <a:pPr algn="l">
              <a:defRPr sz="1125" b="0">
                <a:solidFill>
                  <a:srgbClr val="C5E3D8"/>
                </a:solidFill>
              </a:defRPr>
            </a:pPr>
            <a:r>
              <a:rPr sz="1125" b="0">
                <a:solidFill>
                  <a:srgbClr val="C5E3D8"/>
                </a:solidFill>
              </a:rPr>
              <a:t>osvbng-0                     1/1     Running   node-01</a:t>
            </a:r>
          </a:p>
          <a:p xmlns:a="http://schemas.openxmlformats.org/drawingml/2006/main">
            <a:pPr algn="l">
              <a:defRPr sz="1125" b="0">
                <a:solidFill>
                  <a:srgbClr val="C5E3D8"/>
                </a:solidFill>
              </a:defRPr>
            </a:pPr>
            <a:r>
              <a:rPr sz="1125" b="0">
                <a:solidFill>
                  <a:srgbClr val="C5E3D8"/>
                </a:solidFill>
              </a:rPr>
              <a:t>osvbng-1                     1/1     Running   node-02</a:t>
            </a:r>
          </a:p>
          <a:p xmlns:a="http://schemas.openxmlformats.org/drawingml/2006/main">
            <a:pPr algn="l">
              <a:defRPr sz="1125" b="0">
                <a:solidFill>
                  <a:srgbClr val="C5E3D8"/>
                </a:solidFill>
              </a:defRPr>
            </a:pPr>
            <a:r>
              <a:rPr sz="1125" b="0">
                <a:solidFill>
                  <a:srgbClr val="C5E3D8"/>
                </a:solidFill>
              </a:rPr>
              <a:t>osvbng-frr-isp-a             1/1     Running   node-02</a:t>
            </a:r>
          </a:p>
          <a:p xmlns:a="http://schemas.openxmlformats.org/drawingml/2006/main">
            <a:pPr algn="l">
              <a:defRPr sz="1125" b="0">
                <a:solidFill>
                  <a:srgbClr val="C5E3D8"/>
                </a:solidFill>
              </a:defRPr>
            </a:pPr>
            <a:r>
              <a:rPr sz="1125" b="0">
                <a:solidFill>
                  <a:srgbClr val="C5E3D8"/>
                </a:solidFill>
              </a:rPr>
              <a:t>osvbng-frr-isp-b             1/1     Running   node-01</a:t>
            </a:r>
          </a:p>
          <a:p xmlns:a="http://schemas.openxmlformats.org/drawingml/2006/main">
            <a:pPr algn="l">
              <a:defRPr sz="1125" b="0">
                <a:solidFill>
                  <a:srgbClr val="C5E3D8"/>
                </a:solidFill>
              </a:defRPr>
            </a:pPr>
            <a:r>
              <a:rPr sz="1125" b="0">
                <a:solidFill>
                  <a:srgbClr val="C5E3D8"/>
                </a:solidFill>
              </a:rPr>
              <a:t>osvbng-freeradius            1/1     Running   node-03</a:t>
            </a:r>
          </a:p>
          <a:p xmlns:a="http://schemas.openxmlformats.org/drawingml/2006/main">
            <a:pPr algn="l">
              <a:defRPr sz="1125" b="0">
                <a:solidFill>
                  <a:srgbClr val="C5E3D8"/>
                </a:solidFill>
              </a:defRPr>
            </a:pPr>
            <a:r>
              <a:rPr sz="1125" b="0">
                <a:solidFill>
                  <a:srgbClr val="C5E3D8"/>
                </a:solidFill>
              </a:rPr>
              <a:t>osvbng-radius-postgresql-0   1/1     Running   node-03</a:t>
            </a:r>
          </a:p>
        </p:txBody>
      </p:sp>
      <p:sp>
        <p:nvSpPr>
          <p:cNvPr id="17" name="">
            <a:extLst xmlns:a="http://schemas.openxmlformats.org/drawingml/2006/main">
              <a:ext uri="{FF2B5EF4-FFF2-40B4-BE49-F238E27FC236}">
                <a16:creationId xmlns:a16="http://schemas.microsoft.com/office/drawing/2014/main" id="{548BB611-179C-4E2D-A485-1929F4917FEE}"/>
              </a:ext>
            </a:extLst>
          </p:cNvPr>
          <p:cNvSpPr>
            <a:spLocks xmlns:a="http://schemas.openxmlformats.org/drawingml/2006/main" noGrp="1"/>
          </p:cNvSpPr>
          <p:nvPr/>
        </p:nvSpPr>
        <p:spPr>
          <a:xfrm xmlns:a="http://schemas.openxmlformats.org/drawingml/2006/main">
            <a:off x="4762500" y="5038725"/>
            <a:ext cx="6743700" cy="742950"/>
          </a:xfrm>
          <a:prstGeom xmlns:a="http://schemas.openxmlformats.org/drawingml/2006/main" prst="roundRect">
            <a:avLst>
              <a:gd name="adj" fmla="val 15385"/>
            </a:avLst>
          </a:prstGeom>
          <a:solidFill xmlns:a="http://schemas.openxmlformats.org/drawingml/2006/main">
            <a:srgbClr val="103B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1D7D24-5447-4C66-A0F1-3925CA60C852}"/>
              </a:ext>
            </a:extLst>
          </p:cNvPr>
          <p:cNvSpPr>
            <a:spLocks xmlns:a="http://schemas.openxmlformats.org/drawingml/2006/main" noGrp="1"/>
          </p:cNvSpPr>
          <p:nvPr/>
        </p:nvSpPr>
        <p:spPr>
          <a:xfrm xmlns:a="http://schemas.openxmlformats.org/drawingml/2006/main">
            <a:off x="5010150" y="5219700"/>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43D17D"/>
                </a:solidFill>
              </a:defRPr>
            </a:defPPr>
          </a:lstStyle>
          <a:p xmlns:a="http://schemas.openxmlformats.org/drawingml/2006/main">
            <a:pPr algn="l">
              <a:defRPr sz="1125" b="1">
                <a:solidFill>
                  <a:srgbClr val="43D17D"/>
                </a:solidFill>
              </a:defRPr>
            </a:pPr>
            <a:r>
              <a:rPr sz="1125" b="1">
                <a:solidFill>
                  <a:srgbClr val="43D17D"/>
                </a:solidFill>
              </a:rPr>
              <a:t>FRR-A BGP snapshot</a:t>
            </a:r>
          </a:p>
        </p:txBody>
      </p:sp>
      <p:sp>
        <p:nvSpPr>
          <p:cNvPr id="19" name="">
            <a:extLst xmlns:a="http://schemas.openxmlformats.org/drawingml/2006/main">
              <a:ext uri="{FF2B5EF4-FFF2-40B4-BE49-F238E27FC236}">
                <a16:creationId xmlns:a16="http://schemas.microsoft.com/office/drawing/2014/main" id="{90458426-7E44-467E-B6DB-2930BC0096E8}"/>
              </a:ext>
            </a:extLst>
          </p:cNvPr>
          <p:cNvSpPr>
            <a:spLocks xmlns:a="http://schemas.openxmlformats.org/drawingml/2006/main" noGrp="1"/>
          </p:cNvSpPr>
          <p:nvPr/>
        </p:nvSpPr>
        <p:spPr>
          <a:xfrm xmlns:a="http://schemas.openxmlformats.org/drawingml/2006/main">
            <a:off x="6667500" y="5143500"/>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F7FBFF"/>
                </a:solidFill>
              </a:defRPr>
            </a:defPPr>
          </a:lstStyle>
          <a:p xmlns:a="http://schemas.openxmlformats.org/drawingml/2006/main">
            <a:pPr algn="l">
              <a:defRPr sz="975" b="1">
                <a:solidFill>
                  <a:srgbClr val="F7FBFF"/>
                </a:solidFill>
              </a:defRPr>
            </a:pPr>
            <a:r>
              <a:rPr sz="975" b="1">
                <a:solidFill>
                  <a:srgbClr val="F7FBFF"/>
                </a:solidFill>
              </a:rPr>
              <a:t>BNG-A: Established, 1 prefix   BNG-B: Established</a:t>
            </a:r>
          </a:p>
          <a:p xmlns:a="http://schemas.openxmlformats.org/drawingml/2006/main">
            <a:pPr algn="l">
              <a:defRPr sz="975" b="1">
                <a:solidFill>
                  <a:srgbClr val="F7FBFF"/>
                </a:solidFill>
              </a:defRPr>
            </a:pPr>
            <a:r>
              <a:rPr sz="975" b="1">
                <a:solidFill>
                  <a:srgbClr val="F7FBFF"/>
                </a:solidFill>
              </a:rPr>
              <a:t>MikroTik: pending peer update</a:t>
            </a:r>
          </a:p>
        </p:txBody>
      </p:sp>
      <p:sp>
        <p:nvSpPr>
          <p:cNvPr id="20" name="">
            <a:extLst xmlns:a="http://schemas.openxmlformats.org/drawingml/2006/main">
              <a:ext uri="{FF2B5EF4-FFF2-40B4-BE49-F238E27FC236}">
                <a16:creationId xmlns:a16="http://schemas.microsoft.com/office/drawing/2014/main" id="{E1DB263E-9CAA-44D5-847C-2A53A6AF0578}"/>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21" name="">
            <a:extLst xmlns:a="http://schemas.openxmlformats.org/drawingml/2006/main">
              <a:ext uri="{FF2B5EF4-FFF2-40B4-BE49-F238E27FC236}">
                <a16:creationId xmlns:a16="http://schemas.microsoft.com/office/drawing/2014/main" id="{7F377B88-70BB-40BC-AA72-D86D1F52E9B0}"/>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Observed from the running cluster on 10 October 2026.</a:t>
            </a:r>
          </a:p>
        </p:txBody>
      </p:sp>
      <p:sp>
        <p:nvSpPr>
          <p:cNvPr id="22" name="">
            <a:extLst xmlns:a="http://schemas.openxmlformats.org/drawingml/2006/main">
              <a:ext uri="{FF2B5EF4-FFF2-40B4-BE49-F238E27FC236}">
                <a16:creationId xmlns:a16="http://schemas.microsoft.com/office/drawing/2014/main" id="{85125CB7-0864-4C42-A56D-13F7F68F8F99}"/>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06</a:t>
            </a:r>
          </a:p>
        </p:txBody>
      </p:sp>
    </p:spTree>
    <p:extLst>
      <p:ext uri="{BB962C8B-B14F-4D97-AF65-F5344CB8AC3E}">
        <p14:creationId xmlns:p14="http://schemas.microsoft.com/office/powerpoint/2010/main" val="1530829595"/>
      </p:ext>
    </p:extLst>
  </p:cSld>
</p:sld>
</file>

<file path=ppt/slides/slide7.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8F34694-F267-49E0-9AA6-3DE8980D0BD7}"/>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3 • THE PACKET WALK</a:t>
            </a:r>
          </a:p>
        </p:txBody>
      </p:sp>
      <p:sp>
        <p:nvSpPr>
          <p:cNvPr id="2" name="">
            <a:extLst xmlns:a="http://schemas.openxmlformats.org/drawingml/2006/main">
              <a:ext uri="{FF2B5EF4-FFF2-40B4-BE49-F238E27FC236}">
                <a16:creationId xmlns:a16="http://schemas.microsoft.com/office/drawing/2014/main" id="{43B16428-871B-4D1A-9240-A976FB5ABA83}"/>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From a subscriber packet to the internet and back</a:t>
            </a:r>
          </a:p>
        </p:txBody>
      </p:sp>
      <p:sp>
        <p:nvSpPr>
          <p:cNvPr id="3" name="">
            <a:extLst xmlns:a="http://schemas.openxmlformats.org/drawingml/2006/main">
              <a:ext uri="{FF2B5EF4-FFF2-40B4-BE49-F238E27FC236}">
                <a16:creationId xmlns:a16="http://schemas.microsoft.com/office/drawing/2014/main" id="{85BF327F-69EF-4527-879B-14317463BF2F}"/>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The route exchange is as important as the fast path.</a:t>
            </a:r>
          </a:p>
        </p:txBody>
      </p:sp>
      <p:sp>
        <p:nvSpPr>
          <p:cNvPr id="4" name="">
            <a:extLst xmlns:a="http://schemas.openxmlformats.org/drawingml/2006/main">
              <a:ext uri="{FF2B5EF4-FFF2-40B4-BE49-F238E27FC236}">
                <a16:creationId xmlns:a16="http://schemas.microsoft.com/office/drawing/2014/main" id="{44CC43A2-440F-455D-BC0B-D1D4BFE319F1}"/>
              </a:ext>
            </a:extLst>
          </p:cNvPr>
          <p:cNvSpPr>
            <a:spLocks xmlns:a="http://schemas.openxmlformats.org/drawingml/2006/main" noGrp="1"/>
          </p:cNvSpPr>
          <p:nvPr/>
        </p:nvSpPr>
        <p:spPr>
          <a:xfrm xmlns:a="http://schemas.openxmlformats.org/drawingml/2006/main">
            <a:off x="523875" y="2381250"/>
            <a:ext cx="1981200" cy="2000250"/>
          </a:xfrm>
          <a:prstGeom xmlns:a="http://schemas.openxmlformats.org/drawingml/2006/main" prst="roundRect">
            <a:avLst>
              <a:gd name="adj" fmla="val 7692"/>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D43A7649-0BAF-4B59-BA01-78C7F5C57819}"/>
              </a:ext>
            </a:extLst>
          </p:cNvPr>
          <p:cNvSpPr>
            <a:spLocks xmlns:a="http://schemas.openxmlformats.org/drawingml/2006/main" noGrp="1"/>
          </p:cNvSpPr>
          <p:nvPr/>
        </p:nvSpPr>
        <p:spPr>
          <a:xfrm xmlns:a="http://schemas.openxmlformats.org/drawingml/2006/main">
            <a:off x="695325" y="2571750"/>
            <a:ext cx="400050" cy="323850"/>
          </a:xfrm>
          <a:prstGeom xmlns:a="http://schemas.openxmlformats.org/drawingml/2006/main" prst="roundRect">
            <a:avLst>
              <a:gd name="adj" fmla="val 50000"/>
            </a:avLst>
          </a:prstGeom>
          <a:solidFill xmlns:a="http://schemas.openxmlformats.org/drawingml/2006/main">
            <a:srgbClr val="23D5D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8E7BF9C-28DD-4D5E-AB21-9133F5C58E4B}"/>
              </a:ext>
            </a:extLst>
          </p:cNvPr>
          <p:cNvSpPr>
            <a:spLocks xmlns:a="http://schemas.openxmlformats.org/drawingml/2006/main" noGrp="1"/>
          </p:cNvSpPr>
          <p:nvPr/>
        </p:nvSpPr>
        <p:spPr>
          <a:xfrm xmlns:a="http://schemas.openxmlformats.org/drawingml/2006/main">
            <a:off x="809625" y="26384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1</a:t>
            </a:r>
          </a:p>
        </p:txBody>
      </p:sp>
      <p:sp>
        <p:nvSpPr>
          <p:cNvPr id="7" name="">
            <a:extLst xmlns:a="http://schemas.openxmlformats.org/drawingml/2006/main">
              <a:ext uri="{FF2B5EF4-FFF2-40B4-BE49-F238E27FC236}">
                <a16:creationId xmlns:a16="http://schemas.microsoft.com/office/drawing/2014/main" id="{7111F9CF-DA15-4F3A-9916-7A3CF8CDAFF3}"/>
              </a:ext>
            </a:extLst>
          </p:cNvPr>
          <p:cNvSpPr>
            <a:spLocks xmlns:a="http://schemas.openxmlformats.org/drawingml/2006/main" noGrp="1"/>
          </p:cNvSpPr>
          <p:nvPr/>
        </p:nvSpPr>
        <p:spPr>
          <a:xfrm xmlns:a="http://schemas.openxmlformats.org/drawingml/2006/main">
            <a:off x="695325" y="31051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F7FBFF"/>
                </a:solidFill>
              </a:defRPr>
            </a:defPPr>
          </a:lstStyle>
          <a:p xmlns:a="http://schemas.openxmlformats.org/drawingml/2006/main">
            <a:pPr algn="l">
              <a:defRPr sz="1650" b="1">
                <a:solidFill>
                  <a:srgbClr val="F7FBFF"/>
                </a:solidFill>
              </a:defRPr>
            </a:pPr>
            <a:r>
              <a:rPr sz="1650" b="1">
                <a:solidFill>
                  <a:srgbClr val="F7FBFF"/>
                </a:solidFill>
              </a:rPr>
              <a:t>Attach</a:t>
            </a:r>
          </a:p>
        </p:txBody>
      </p:sp>
      <p:sp>
        <p:nvSpPr>
          <p:cNvPr id="8" name="">
            <a:extLst xmlns:a="http://schemas.openxmlformats.org/drawingml/2006/main">
              <a:ext uri="{FF2B5EF4-FFF2-40B4-BE49-F238E27FC236}">
                <a16:creationId xmlns:a16="http://schemas.microsoft.com/office/drawing/2014/main" id="{4EF6A0AB-750F-42DF-9449-B1FDAA25E9F3}"/>
              </a:ext>
            </a:extLst>
          </p:cNvPr>
          <p:cNvSpPr>
            <a:spLocks xmlns:a="http://schemas.openxmlformats.org/drawingml/2006/main" noGrp="1"/>
          </p:cNvSpPr>
          <p:nvPr/>
        </p:nvSpPr>
        <p:spPr>
          <a:xfrm xmlns:a="http://schemas.openxmlformats.org/drawingml/2006/main">
            <a:off x="695325" y="3543300"/>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DHCP / IPoE</a:t>
            </a:r>
          </a:p>
          <a:p xmlns:a="http://schemas.openxmlformats.org/drawingml/2006/main">
            <a:pPr algn="l">
              <a:defRPr sz="1125" b="0">
                <a:solidFill>
                  <a:srgbClr val="A9C1D2"/>
                </a:solidFill>
              </a:defRPr>
            </a:pPr>
            <a:r>
              <a:rPr sz="1125" b="0">
                <a:solidFill>
                  <a:srgbClr val="A9C1D2"/>
                </a:solidFill>
              </a:rPr>
              <a:t>creates a UE session</a:t>
            </a:r>
          </a:p>
        </p:txBody>
      </p:sp>
      <p:sp>
        <p:nvSpPr>
          <p:cNvPr id="9" name="">
            <a:extLst xmlns:a="http://schemas.openxmlformats.org/drawingml/2006/main">
              <a:ext uri="{FF2B5EF4-FFF2-40B4-BE49-F238E27FC236}">
                <a16:creationId xmlns:a16="http://schemas.microsoft.com/office/drawing/2014/main" id="{8B873C49-831A-4F75-85E3-B1CA40CDFBE5}"/>
              </a:ext>
            </a:extLst>
          </p:cNvPr>
          <p:cNvSpPr>
            <a:spLocks xmlns:a="http://schemas.openxmlformats.org/drawingml/2006/main" noGrp="1"/>
          </p:cNvSpPr>
          <p:nvPr/>
        </p:nvSpPr>
        <p:spPr>
          <a:xfrm xmlns:a="http://schemas.openxmlformats.org/drawingml/2006/main">
            <a:off x="2505075" y="3352800"/>
            <a:ext cx="323850" cy="38100"/>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10" name="">
            <a:extLst xmlns:a="http://schemas.openxmlformats.org/drawingml/2006/main">
              <a:ext uri="{FF2B5EF4-FFF2-40B4-BE49-F238E27FC236}">
                <a16:creationId xmlns:a16="http://schemas.microsoft.com/office/drawing/2014/main" id="{90EC484F-F594-4B3E-9A8C-A222CF475941}"/>
              </a:ext>
            </a:extLst>
          </p:cNvPr>
          <p:cNvSpPr>
            <a:spLocks xmlns:a="http://schemas.openxmlformats.org/drawingml/2006/main" noGrp="1"/>
          </p:cNvSpPr>
          <p:nvPr/>
        </p:nvSpPr>
        <p:spPr>
          <a:xfrm xmlns:a="http://schemas.openxmlformats.org/drawingml/2006/main">
            <a:off x="2828925" y="2381250"/>
            <a:ext cx="1981200" cy="2000250"/>
          </a:xfrm>
          <a:prstGeom xmlns:a="http://schemas.openxmlformats.org/drawingml/2006/main" prst="roundRect">
            <a:avLst>
              <a:gd name="adj" fmla="val 7692"/>
            </a:avLst>
          </a:prstGeom>
          <a:solidFill xmlns:a="http://schemas.openxmlformats.org/drawingml/2006/main">
            <a:srgbClr val="0E2B42"/>
          </a:solidFill>
          <a:ln xmlns:a="http://schemas.openxmlformats.org/drawingml/2006/main" w="9525">
            <a:solidFill>
              <a:srgbClr val="31536A"/>
            </a:solidFill>
            <a:prstDash val="solid"/>
          </a:ln>
        </p:spPr>
      </p:sp>
      <p:sp>
        <p:nvSpPr>
          <p:cNvPr id="11" name="">
            <a:extLst xmlns:a="http://schemas.openxmlformats.org/drawingml/2006/main">
              <a:ext uri="{FF2B5EF4-FFF2-40B4-BE49-F238E27FC236}">
                <a16:creationId xmlns:a16="http://schemas.microsoft.com/office/drawing/2014/main" id="{31F505E1-9387-4455-841C-D2E203727EE4}"/>
              </a:ext>
            </a:extLst>
          </p:cNvPr>
          <p:cNvSpPr>
            <a:spLocks xmlns:a="http://schemas.openxmlformats.org/drawingml/2006/main" noGrp="1"/>
          </p:cNvSpPr>
          <p:nvPr/>
        </p:nvSpPr>
        <p:spPr>
          <a:xfrm xmlns:a="http://schemas.openxmlformats.org/drawingml/2006/main">
            <a:off x="3000375" y="2571750"/>
            <a:ext cx="400050" cy="323850"/>
          </a:xfrm>
          <a:prstGeom xmlns:a="http://schemas.openxmlformats.org/drawingml/2006/main" prst="roundRect">
            <a:avLst>
              <a:gd name="adj" fmla="val 50000"/>
            </a:avLst>
          </a:prstGeom>
          <a:solidFill xmlns:a="http://schemas.openxmlformats.org/drawingml/2006/main">
            <a:srgbClr val="23D5D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5873C7-717A-4063-8A3F-9CCE74F55062}"/>
              </a:ext>
            </a:extLst>
          </p:cNvPr>
          <p:cNvSpPr>
            <a:spLocks xmlns:a="http://schemas.openxmlformats.org/drawingml/2006/main" noGrp="1"/>
          </p:cNvSpPr>
          <p:nvPr/>
        </p:nvSpPr>
        <p:spPr>
          <a:xfrm xmlns:a="http://schemas.openxmlformats.org/drawingml/2006/main">
            <a:off x="3114675" y="26384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2</a:t>
            </a:r>
          </a:p>
        </p:txBody>
      </p:sp>
      <p:sp>
        <p:nvSpPr>
          <p:cNvPr id="13" name="">
            <a:extLst xmlns:a="http://schemas.openxmlformats.org/drawingml/2006/main">
              <a:ext uri="{FF2B5EF4-FFF2-40B4-BE49-F238E27FC236}">
                <a16:creationId xmlns:a16="http://schemas.microsoft.com/office/drawing/2014/main" id="{73770016-BB75-4965-A386-BF297D0E56A5}"/>
              </a:ext>
            </a:extLst>
          </p:cNvPr>
          <p:cNvSpPr>
            <a:spLocks xmlns:a="http://schemas.openxmlformats.org/drawingml/2006/main" noGrp="1"/>
          </p:cNvSpPr>
          <p:nvPr/>
        </p:nvSpPr>
        <p:spPr>
          <a:xfrm xmlns:a="http://schemas.openxmlformats.org/drawingml/2006/main">
            <a:off x="3000375" y="31051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F7FBFF"/>
                </a:solidFill>
              </a:defRPr>
            </a:defPPr>
          </a:lstStyle>
          <a:p xmlns:a="http://schemas.openxmlformats.org/drawingml/2006/main">
            <a:pPr algn="l">
              <a:defRPr sz="1650" b="1">
                <a:solidFill>
                  <a:srgbClr val="F7FBFF"/>
                </a:solidFill>
              </a:defRPr>
            </a:pPr>
            <a:r>
              <a:rPr sz="1650" b="1">
                <a:solidFill>
                  <a:srgbClr val="F7FBFF"/>
                </a:solidFill>
              </a:rPr>
              <a:t>Classify</a:t>
            </a:r>
          </a:p>
        </p:txBody>
      </p:sp>
      <p:sp>
        <p:nvSpPr>
          <p:cNvPr id="14" name="">
            <a:extLst xmlns:a="http://schemas.openxmlformats.org/drawingml/2006/main">
              <a:ext uri="{FF2B5EF4-FFF2-40B4-BE49-F238E27FC236}">
                <a16:creationId xmlns:a16="http://schemas.microsoft.com/office/drawing/2014/main" id="{BB66BDEB-3824-45D6-AE9E-A002EA17C38F}"/>
              </a:ext>
            </a:extLst>
          </p:cNvPr>
          <p:cNvSpPr>
            <a:spLocks xmlns:a="http://schemas.openxmlformats.org/drawingml/2006/main" noGrp="1"/>
          </p:cNvSpPr>
          <p:nvPr/>
        </p:nvSpPr>
        <p:spPr>
          <a:xfrm xmlns:a="http://schemas.openxmlformats.org/drawingml/2006/main">
            <a:off x="3000375" y="3543300"/>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VLAN and policy</a:t>
            </a:r>
          </a:p>
          <a:p xmlns:a="http://schemas.openxmlformats.org/drawingml/2006/main">
            <a:pPr algn="l">
              <a:defRPr sz="1125" b="0">
                <a:solidFill>
                  <a:srgbClr val="A9C1D2"/>
                </a:solidFill>
              </a:defRPr>
            </a:pPr>
            <a:r>
              <a:rPr sz="1125" b="0">
                <a:solidFill>
                  <a:srgbClr val="A9C1D2"/>
                </a:solidFill>
              </a:rPr>
              <a:t>select service</a:t>
            </a:r>
          </a:p>
        </p:txBody>
      </p:sp>
      <p:sp>
        <p:nvSpPr>
          <p:cNvPr id="15" name="">
            <a:extLst xmlns:a="http://schemas.openxmlformats.org/drawingml/2006/main">
              <a:ext uri="{FF2B5EF4-FFF2-40B4-BE49-F238E27FC236}">
                <a16:creationId xmlns:a16="http://schemas.microsoft.com/office/drawing/2014/main" id="{97F73705-48CD-4A50-AF37-58137A1D566C}"/>
              </a:ext>
            </a:extLst>
          </p:cNvPr>
          <p:cNvSpPr>
            <a:spLocks xmlns:a="http://schemas.openxmlformats.org/drawingml/2006/main" noGrp="1"/>
          </p:cNvSpPr>
          <p:nvPr/>
        </p:nvSpPr>
        <p:spPr>
          <a:xfrm xmlns:a="http://schemas.openxmlformats.org/drawingml/2006/main">
            <a:off x="4810125" y="3352800"/>
            <a:ext cx="323850" cy="38100"/>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16" name="">
            <a:extLst xmlns:a="http://schemas.openxmlformats.org/drawingml/2006/main">
              <a:ext uri="{FF2B5EF4-FFF2-40B4-BE49-F238E27FC236}">
                <a16:creationId xmlns:a16="http://schemas.microsoft.com/office/drawing/2014/main" id="{EF105335-33B2-4077-A79F-526098C8E31A}"/>
              </a:ext>
            </a:extLst>
          </p:cNvPr>
          <p:cNvSpPr>
            <a:spLocks xmlns:a="http://schemas.openxmlformats.org/drawingml/2006/main" noGrp="1"/>
          </p:cNvSpPr>
          <p:nvPr/>
        </p:nvSpPr>
        <p:spPr>
          <a:xfrm xmlns:a="http://schemas.openxmlformats.org/drawingml/2006/main">
            <a:off x="5133975" y="2381250"/>
            <a:ext cx="1981200" cy="2000250"/>
          </a:xfrm>
          <a:prstGeom xmlns:a="http://schemas.openxmlformats.org/drawingml/2006/main" prst="roundRect">
            <a:avLst>
              <a:gd name="adj" fmla="val 7692"/>
            </a:avLst>
          </a:prstGeom>
          <a:solidFill xmlns:a="http://schemas.openxmlformats.org/drawingml/2006/main">
            <a:srgbClr val="123A49"/>
          </a:solidFill>
          <a:ln xmlns:a="http://schemas.openxmlformats.org/drawingml/2006/main" w="9525">
            <a:solidFill>
              <a:srgbClr val="31536A"/>
            </a:solidFill>
            <a:prstDash val="solid"/>
          </a:ln>
        </p:spPr>
      </p:sp>
      <p:sp>
        <p:nvSpPr>
          <p:cNvPr id="17" name="">
            <a:extLst xmlns:a="http://schemas.openxmlformats.org/drawingml/2006/main">
              <a:ext uri="{FF2B5EF4-FFF2-40B4-BE49-F238E27FC236}">
                <a16:creationId xmlns:a16="http://schemas.microsoft.com/office/drawing/2014/main" id="{0F68677D-8559-4674-9888-35E5435B55A3}"/>
              </a:ext>
            </a:extLst>
          </p:cNvPr>
          <p:cNvSpPr>
            <a:spLocks xmlns:a="http://schemas.openxmlformats.org/drawingml/2006/main" noGrp="1"/>
          </p:cNvSpPr>
          <p:nvPr/>
        </p:nvSpPr>
        <p:spPr>
          <a:xfrm xmlns:a="http://schemas.openxmlformats.org/drawingml/2006/main">
            <a:off x="5305425" y="2571750"/>
            <a:ext cx="400050" cy="323850"/>
          </a:xfrm>
          <a:prstGeom xmlns:a="http://schemas.openxmlformats.org/drawingml/2006/main" prst="roundRect">
            <a:avLst>
              <a:gd name="adj" fmla="val 50000"/>
            </a:avLst>
          </a:prstGeom>
          <a:solidFill xmlns:a="http://schemas.openxmlformats.org/drawingml/2006/main">
            <a:srgbClr val="FF9D4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026AD69-7BB5-4AA4-8F5F-00910999FB36}"/>
              </a:ext>
            </a:extLst>
          </p:cNvPr>
          <p:cNvSpPr>
            <a:spLocks xmlns:a="http://schemas.openxmlformats.org/drawingml/2006/main" noGrp="1"/>
          </p:cNvSpPr>
          <p:nvPr/>
        </p:nvSpPr>
        <p:spPr>
          <a:xfrm xmlns:a="http://schemas.openxmlformats.org/drawingml/2006/main">
            <a:off x="5419725" y="26384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3</a:t>
            </a:r>
          </a:p>
        </p:txBody>
      </p:sp>
      <p:sp>
        <p:nvSpPr>
          <p:cNvPr id="19" name="">
            <a:extLst xmlns:a="http://schemas.openxmlformats.org/drawingml/2006/main">
              <a:ext uri="{FF2B5EF4-FFF2-40B4-BE49-F238E27FC236}">
                <a16:creationId xmlns:a16="http://schemas.microsoft.com/office/drawing/2014/main" id="{CE54A6B4-E143-4380-A27A-D96AFDA0E6A0}"/>
              </a:ext>
            </a:extLst>
          </p:cNvPr>
          <p:cNvSpPr>
            <a:spLocks xmlns:a="http://schemas.openxmlformats.org/drawingml/2006/main" noGrp="1"/>
          </p:cNvSpPr>
          <p:nvPr/>
        </p:nvSpPr>
        <p:spPr>
          <a:xfrm xmlns:a="http://schemas.openxmlformats.org/drawingml/2006/main">
            <a:off x="5305425" y="31051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F7FBFF"/>
                </a:solidFill>
              </a:defRPr>
            </a:defPPr>
          </a:lstStyle>
          <a:p xmlns:a="http://schemas.openxmlformats.org/drawingml/2006/main">
            <a:pPr algn="l">
              <a:defRPr sz="1650" b="1">
                <a:solidFill>
                  <a:srgbClr val="F7FBFF"/>
                </a:solidFill>
              </a:defRPr>
            </a:pPr>
            <a:r>
              <a:rPr sz="1650" b="1">
                <a:solidFill>
                  <a:srgbClr val="F7FBFF"/>
                </a:solidFill>
              </a:rPr>
              <a:t>Translate</a:t>
            </a:r>
          </a:p>
        </p:txBody>
      </p:sp>
      <p:sp>
        <p:nvSpPr>
          <p:cNvPr id="20" name="">
            <a:extLst xmlns:a="http://schemas.openxmlformats.org/drawingml/2006/main">
              <a:ext uri="{FF2B5EF4-FFF2-40B4-BE49-F238E27FC236}">
                <a16:creationId xmlns:a16="http://schemas.microsoft.com/office/drawing/2014/main" id="{3DFC2747-8483-42E7-A4C3-A9F1C7E83B60}"/>
              </a:ext>
            </a:extLst>
          </p:cNvPr>
          <p:cNvSpPr>
            <a:spLocks xmlns:a="http://schemas.openxmlformats.org/drawingml/2006/main" noGrp="1"/>
          </p:cNvSpPr>
          <p:nvPr/>
        </p:nvSpPr>
        <p:spPr>
          <a:xfrm xmlns:a="http://schemas.openxmlformats.org/drawingml/2006/main">
            <a:off x="5305425" y="3543300"/>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CGNAT maps UE</a:t>
            </a:r>
          </a:p>
          <a:p xmlns:a="http://schemas.openxmlformats.org/drawingml/2006/main">
            <a:pPr algn="l">
              <a:defRPr sz="1125" b="0">
                <a:solidFill>
                  <a:srgbClr val="A9C1D2"/>
                </a:solidFill>
              </a:defRPr>
            </a:pPr>
            <a:r>
              <a:rPr sz="1125" b="0">
                <a:solidFill>
                  <a:srgbClr val="A9C1D2"/>
                </a:solidFill>
              </a:rPr>
              <a:t>to public pool</a:t>
            </a:r>
          </a:p>
        </p:txBody>
      </p:sp>
      <p:sp>
        <p:nvSpPr>
          <p:cNvPr id="21" name="">
            <a:extLst xmlns:a="http://schemas.openxmlformats.org/drawingml/2006/main">
              <a:ext uri="{FF2B5EF4-FFF2-40B4-BE49-F238E27FC236}">
                <a16:creationId xmlns:a16="http://schemas.microsoft.com/office/drawing/2014/main" id="{2B73B001-A1C3-4E38-8D0E-13C447176E16}"/>
              </a:ext>
            </a:extLst>
          </p:cNvPr>
          <p:cNvSpPr>
            <a:spLocks xmlns:a="http://schemas.openxmlformats.org/drawingml/2006/main" noGrp="1"/>
          </p:cNvSpPr>
          <p:nvPr/>
        </p:nvSpPr>
        <p:spPr>
          <a:xfrm xmlns:a="http://schemas.openxmlformats.org/drawingml/2006/main">
            <a:off x="7115175" y="3352800"/>
            <a:ext cx="323850" cy="38100"/>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22" name="">
            <a:extLst xmlns:a="http://schemas.openxmlformats.org/drawingml/2006/main">
              <a:ext uri="{FF2B5EF4-FFF2-40B4-BE49-F238E27FC236}">
                <a16:creationId xmlns:a16="http://schemas.microsoft.com/office/drawing/2014/main" id="{0B6FEEAB-EBE7-4CB2-9C0D-DDF4508AF316}"/>
              </a:ext>
            </a:extLst>
          </p:cNvPr>
          <p:cNvSpPr>
            <a:spLocks xmlns:a="http://schemas.openxmlformats.org/drawingml/2006/main" noGrp="1"/>
          </p:cNvSpPr>
          <p:nvPr/>
        </p:nvSpPr>
        <p:spPr>
          <a:xfrm xmlns:a="http://schemas.openxmlformats.org/drawingml/2006/main">
            <a:off x="7439025" y="2381250"/>
            <a:ext cx="1981200" cy="2000250"/>
          </a:xfrm>
          <a:prstGeom xmlns:a="http://schemas.openxmlformats.org/drawingml/2006/main" prst="roundRect">
            <a:avLst>
              <a:gd name="adj" fmla="val 7692"/>
            </a:avLst>
          </a:prstGeom>
          <a:solidFill xmlns:a="http://schemas.openxmlformats.org/drawingml/2006/main">
            <a:srgbClr val="0E2B42"/>
          </a:solidFill>
          <a:ln xmlns:a="http://schemas.openxmlformats.org/drawingml/2006/main" w="9525">
            <a:solidFill>
              <a:srgbClr val="31536A"/>
            </a:solidFill>
            <a:prstDash val="solid"/>
          </a:ln>
        </p:spPr>
      </p:sp>
      <p:sp>
        <p:nvSpPr>
          <p:cNvPr id="23" name="">
            <a:extLst xmlns:a="http://schemas.openxmlformats.org/drawingml/2006/main">
              <a:ext uri="{FF2B5EF4-FFF2-40B4-BE49-F238E27FC236}">
                <a16:creationId xmlns:a16="http://schemas.microsoft.com/office/drawing/2014/main" id="{EADCA215-3E53-4C80-AE7C-E2D700BE3132}"/>
              </a:ext>
            </a:extLst>
          </p:cNvPr>
          <p:cNvSpPr>
            <a:spLocks xmlns:a="http://schemas.openxmlformats.org/drawingml/2006/main" noGrp="1"/>
          </p:cNvSpPr>
          <p:nvPr/>
        </p:nvSpPr>
        <p:spPr>
          <a:xfrm xmlns:a="http://schemas.openxmlformats.org/drawingml/2006/main">
            <a:off x="7610475" y="2571750"/>
            <a:ext cx="400050" cy="323850"/>
          </a:xfrm>
          <a:prstGeom xmlns:a="http://schemas.openxmlformats.org/drawingml/2006/main" prst="roundRect">
            <a:avLst>
              <a:gd name="adj" fmla="val 50000"/>
            </a:avLst>
          </a:prstGeom>
          <a:solidFill xmlns:a="http://schemas.openxmlformats.org/drawingml/2006/main">
            <a:srgbClr val="23D5D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4772133-8B75-49EB-96C8-69F5A0C00ADF}"/>
              </a:ext>
            </a:extLst>
          </p:cNvPr>
          <p:cNvSpPr>
            <a:spLocks xmlns:a="http://schemas.openxmlformats.org/drawingml/2006/main" noGrp="1"/>
          </p:cNvSpPr>
          <p:nvPr/>
        </p:nvSpPr>
        <p:spPr>
          <a:xfrm xmlns:a="http://schemas.openxmlformats.org/drawingml/2006/main">
            <a:off x="7724775" y="26384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4</a:t>
            </a:r>
          </a:p>
        </p:txBody>
      </p:sp>
      <p:sp>
        <p:nvSpPr>
          <p:cNvPr id="25" name="">
            <a:extLst xmlns:a="http://schemas.openxmlformats.org/drawingml/2006/main">
              <a:ext uri="{FF2B5EF4-FFF2-40B4-BE49-F238E27FC236}">
                <a16:creationId xmlns:a16="http://schemas.microsoft.com/office/drawing/2014/main" id="{8963E169-2F4D-4991-9338-0648FA18457A}"/>
              </a:ext>
            </a:extLst>
          </p:cNvPr>
          <p:cNvSpPr>
            <a:spLocks xmlns:a="http://schemas.openxmlformats.org/drawingml/2006/main" noGrp="1"/>
          </p:cNvSpPr>
          <p:nvPr/>
        </p:nvSpPr>
        <p:spPr>
          <a:xfrm xmlns:a="http://schemas.openxmlformats.org/drawingml/2006/main">
            <a:off x="7610475" y="31051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F7FBFF"/>
                </a:solidFill>
              </a:defRPr>
            </a:defPPr>
          </a:lstStyle>
          <a:p xmlns:a="http://schemas.openxmlformats.org/drawingml/2006/main">
            <a:pPr algn="l">
              <a:defRPr sz="1650" b="1">
                <a:solidFill>
                  <a:srgbClr val="F7FBFF"/>
                </a:solidFill>
              </a:defRPr>
            </a:pPr>
            <a:r>
              <a:rPr sz="1650" b="1">
                <a:solidFill>
                  <a:srgbClr val="F7FBFF"/>
                </a:solidFill>
              </a:rPr>
              <a:t>Route</a:t>
            </a:r>
          </a:p>
        </p:txBody>
      </p:sp>
      <p:sp>
        <p:nvSpPr>
          <p:cNvPr id="26" name="">
            <a:extLst xmlns:a="http://schemas.openxmlformats.org/drawingml/2006/main">
              <a:ext uri="{FF2B5EF4-FFF2-40B4-BE49-F238E27FC236}">
                <a16:creationId xmlns:a16="http://schemas.microsoft.com/office/drawing/2014/main" id="{E1C9E45C-C043-44A4-B3F4-61D49F1C41EE}"/>
              </a:ext>
            </a:extLst>
          </p:cNvPr>
          <p:cNvSpPr>
            <a:spLocks xmlns:a="http://schemas.openxmlformats.org/drawingml/2006/main" noGrp="1"/>
          </p:cNvSpPr>
          <p:nvPr/>
        </p:nvSpPr>
        <p:spPr>
          <a:xfrm xmlns:a="http://schemas.openxmlformats.org/drawingml/2006/main">
            <a:off x="7610475" y="3543300"/>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BGP selects an</a:t>
            </a:r>
          </a:p>
          <a:p xmlns:a="http://schemas.openxmlformats.org/drawingml/2006/main">
            <a:pPr algn="l">
              <a:defRPr sz="1125" b="0">
                <a:solidFill>
                  <a:srgbClr val="A9C1D2"/>
                </a:solidFill>
              </a:defRPr>
            </a:pPr>
            <a:r>
              <a:rPr sz="1125" b="0">
                <a:solidFill>
                  <a:srgbClr val="A9C1D2"/>
                </a:solidFill>
              </a:rPr>
              <a:t>FRR next hop</a:t>
            </a:r>
          </a:p>
        </p:txBody>
      </p:sp>
      <p:sp>
        <p:nvSpPr>
          <p:cNvPr id="27" name="">
            <a:extLst xmlns:a="http://schemas.openxmlformats.org/drawingml/2006/main">
              <a:ext uri="{FF2B5EF4-FFF2-40B4-BE49-F238E27FC236}">
                <a16:creationId xmlns:a16="http://schemas.microsoft.com/office/drawing/2014/main" id="{DED6F906-90BE-4BD7-A332-70AD2152CBE7}"/>
              </a:ext>
            </a:extLst>
          </p:cNvPr>
          <p:cNvSpPr>
            <a:spLocks xmlns:a="http://schemas.openxmlformats.org/drawingml/2006/main" noGrp="1"/>
          </p:cNvSpPr>
          <p:nvPr/>
        </p:nvSpPr>
        <p:spPr>
          <a:xfrm xmlns:a="http://schemas.openxmlformats.org/drawingml/2006/main">
            <a:off x="9420225" y="3352800"/>
            <a:ext cx="323850" cy="38100"/>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28" name="">
            <a:extLst xmlns:a="http://schemas.openxmlformats.org/drawingml/2006/main">
              <a:ext uri="{FF2B5EF4-FFF2-40B4-BE49-F238E27FC236}">
                <a16:creationId xmlns:a16="http://schemas.microsoft.com/office/drawing/2014/main" id="{AF84FE14-DD30-42A2-924B-DBA3D0DDB493}"/>
              </a:ext>
            </a:extLst>
          </p:cNvPr>
          <p:cNvSpPr>
            <a:spLocks xmlns:a="http://schemas.openxmlformats.org/drawingml/2006/main" noGrp="1"/>
          </p:cNvSpPr>
          <p:nvPr/>
        </p:nvSpPr>
        <p:spPr>
          <a:xfrm xmlns:a="http://schemas.openxmlformats.org/drawingml/2006/main">
            <a:off x="9744075" y="2381250"/>
            <a:ext cx="1981200" cy="2000250"/>
          </a:xfrm>
          <a:prstGeom xmlns:a="http://schemas.openxmlformats.org/drawingml/2006/main" prst="roundRect">
            <a:avLst>
              <a:gd name="adj" fmla="val 7692"/>
            </a:avLst>
          </a:prstGeom>
          <a:solidFill xmlns:a="http://schemas.openxmlformats.org/drawingml/2006/main">
            <a:srgbClr val="0E2B42"/>
          </a:solidFill>
          <a:ln xmlns:a="http://schemas.openxmlformats.org/drawingml/2006/main" w="9525">
            <a:solidFill>
              <a:srgbClr val="31536A"/>
            </a:solidFill>
            <a:prstDash val="solid"/>
          </a:ln>
        </p:spPr>
      </p:sp>
      <p:sp>
        <p:nvSpPr>
          <p:cNvPr id="29" name="">
            <a:extLst xmlns:a="http://schemas.openxmlformats.org/drawingml/2006/main">
              <a:ext uri="{FF2B5EF4-FFF2-40B4-BE49-F238E27FC236}">
                <a16:creationId xmlns:a16="http://schemas.microsoft.com/office/drawing/2014/main" id="{44DF5A5D-1EC5-4E1B-B67E-87FCC19BC4BE}"/>
              </a:ext>
            </a:extLst>
          </p:cNvPr>
          <p:cNvSpPr>
            <a:spLocks xmlns:a="http://schemas.openxmlformats.org/drawingml/2006/main" noGrp="1"/>
          </p:cNvSpPr>
          <p:nvPr/>
        </p:nvSpPr>
        <p:spPr>
          <a:xfrm xmlns:a="http://schemas.openxmlformats.org/drawingml/2006/main">
            <a:off x="9915525" y="2571750"/>
            <a:ext cx="400050" cy="323850"/>
          </a:xfrm>
          <a:prstGeom xmlns:a="http://schemas.openxmlformats.org/drawingml/2006/main" prst="roundRect">
            <a:avLst>
              <a:gd name="adj" fmla="val 50000"/>
            </a:avLst>
          </a:prstGeom>
          <a:solidFill xmlns:a="http://schemas.openxmlformats.org/drawingml/2006/main">
            <a:srgbClr val="23D5D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317BA63-D6DB-4581-BAD6-B0274FA8DB70}"/>
              </a:ext>
            </a:extLst>
          </p:cNvPr>
          <p:cNvSpPr>
            <a:spLocks xmlns:a="http://schemas.openxmlformats.org/drawingml/2006/main" noGrp="1"/>
          </p:cNvSpPr>
          <p:nvPr/>
        </p:nvSpPr>
        <p:spPr>
          <a:xfrm xmlns:a="http://schemas.openxmlformats.org/drawingml/2006/main">
            <a:off x="10029825" y="26384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5</a:t>
            </a:r>
          </a:p>
        </p:txBody>
      </p:sp>
      <p:sp>
        <p:nvSpPr>
          <p:cNvPr id="31" name="">
            <a:extLst xmlns:a="http://schemas.openxmlformats.org/drawingml/2006/main">
              <a:ext uri="{FF2B5EF4-FFF2-40B4-BE49-F238E27FC236}">
                <a16:creationId xmlns:a16="http://schemas.microsoft.com/office/drawing/2014/main" id="{FE5A2E83-18DB-4EDF-8683-EF474EDEF84B}"/>
              </a:ext>
            </a:extLst>
          </p:cNvPr>
          <p:cNvSpPr>
            <a:spLocks xmlns:a="http://schemas.openxmlformats.org/drawingml/2006/main" noGrp="1"/>
          </p:cNvSpPr>
          <p:nvPr/>
        </p:nvSpPr>
        <p:spPr>
          <a:xfrm xmlns:a="http://schemas.openxmlformats.org/drawingml/2006/main">
            <a:off x="9915525" y="31051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F7FBFF"/>
                </a:solidFill>
              </a:defRPr>
            </a:defPPr>
          </a:lstStyle>
          <a:p xmlns:a="http://schemas.openxmlformats.org/drawingml/2006/main">
            <a:pPr algn="l">
              <a:defRPr sz="1650" b="1">
                <a:solidFill>
                  <a:srgbClr val="F7FBFF"/>
                </a:solidFill>
              </a:defRPr>
            </a:pPr>
            <a:r>
              <a:rPr sz="1650" b="1">
                <a:solidFill>
                  <a:srgbClr val="F7FBFF"/>
                </a:solidFill>
              </a:rPr>
              <a:t>Return</a:t>
            </a:r>
          </a:p>
        </p:txBody>
      </p:sp>
      <p:sp>
        <p:nvSpPr>
          <p:cNvPr id="32" name="">
            <a:extLst xmlns:a="http://schemas.openxmlformats.org/drawingml/2006/main">
              <a:ext uri="{FF2B5EF4-FFF2-40B4-BE49-F238E27FC236}">
                <a16:creationId xmlns:a16="http://schemas.microsoft.com/office/drawing/2014/main" id="{DC2F7C0C-6019-4D0F-9219-7FAD25FFA26A}"/>
              </a:ext>
            </a:extLst>
          </p:cNvPr>
          <p:cNvSpPr>
            <a:spLocks xmlns:a="http://schemas.openxmlformats.org/drawingml/2006/main" noGrp="1"/>
          </p:cNvSpPr>
          <p:nvPr/>
        </p:nvSpPr>
        <p:spPr>
          <a:xfrm xmlns:a="http://schemas.openxmlformats.org/drawingml/2006/main">
            <a:off x="9915525" y="3543300"/>
            <a:ext cx="161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MikroTik learns</a:t>
            </a:r>
          </a:p>
          <a:p xmlns:a="http://schemas.openxmlformats.org/drawingml/2006/main">
            <a:pPr algn="l">
              <a:defRPr sz="1125" b="0">
                <a:solidFill>
                  <a:srgbClr val="A9C1D2"/>
                </a:solidFill>
              </a:defRPr>
            </a:pPr>
            <a:r>
              <a:rPr sz="1125" b="0">
                <a:solidFill>
                  <a:srgbClr val="A9C1D2"/>
                </a:solidFill>
              </a:rPr>
              <a:t>the CGNAT prefix</a:t>
            </a:r>
          </a:p>
        </p:txBody>
      </p:sp>
      <p:sp>
        <p:nvSpPr>
          <p:cNvPr id="33" name="">
            <a:extLst xmlns:a="http://schemas.openxmlformats.org/drawingml/2006/main">
              <a:ext uri="{FF2B5EF4-FFF2-40B4-BE49-F238E27FC236}">
                <a16:creationId xmlns:a16="http://schemas.microsoft.com/office/drawing/2014/main" id="{11A67BBA-1CA4-463D-B917-D41C41A01900}"/>
              </a:ext>
            </a:extLst>
          </p:cNvPr>
          <p:cNvSpPr>
            <a:spLocks xmlns:a="http://schemas.openxmlformats.org/drawingml/2006/main" noGrp="1"/>
          </p:cNvSpPr>
          <p:nvPr/>
        </p:nvSpPr>
        <p:spPr>
          <a:xfrm xmlns:a="http://schemas.openxmlformats.org/drawingml/2006/main">
            <a:off x="1619250" y="4810125"/>
            <a:ext cx="8953500" cy="800100"/>
          </a:xfrm>
          <a:prstGeom xmlns:a="http://schemas.openxmlformats.org/drawingml/2006/main" prst="roundRect">
            <a:avLst>
              <a:gd name="adj" fmla="val 14286"/>
            </a:avLst>
          </a:prstGeom>
          <a:solidFill xmlns:a="http://schemas.openxmlformats.org/drawingml/2006/main">
            <a:srgbClr val="102C4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5CC5C59-AABF-4DE0-BC5B-31B8CB5987A3}"/>
              </a:ext>
            </a:extLst>
          </p:cNvPr>
          <p:cNvSpPr>
            <a:spLocks xmlns:a="http://schemas.openxmlformats.org/drawingml/2006/main" noGrp="1"/>
          </p:cNvSpPr>
          <p:nvPr/>
        </p:nvSpPr>
        <p:spPr>
          <a:xfrm xmlns:a="http://schemas.openxmlformats.org/drawingml/2006/main">
            <a:off x="1857375" y="5010150"/>
            <a:ext cx="1190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FF9D42"/>
                </a:solidFill>
              </a:defRPr>
            </a:defPPr>
          </a:lstStyle>
          <a:p xmlns:a="http://schemas.openxmlformats.org/drawingml/2006/main">
            <a:pPr algn="l">
              <a:defRPr sz="1275" b="1">
                <a:solidFill>
                  <a:srgbClr val="FF9D42"/>
                </a:solidFill>
              </a:defRPr>
            </a:pPr>
            <a:r>
              <a:rPr sz="1275" b="1">
                <a:solidFill>
                  <a:srgbClr val="FF9D42"/>
                </a:solidFill>
              </a:rPr>
              <a:t>Proof point</a:t>
            </a:r>
          </a:p>
        </p:txBody>
      </p:sp>
      <p:sp>
        <p:nvSpPr>
          <p:cNvPr id="35" name="">
            <a:extLst xmlns:a="http://schemas.openxmlformats.org/drawingml/2006/main">
              <a:ext uri="{FF2B5EF4-FFF2-40B4-BE49-F238E27FC236}">
                <a16:creationId xmlns:a16="http://schemas.microsoft.com/office/drawing/2014/main" id="{E4D203A5-BD8B-47A7-9FD1-33E0517EB836}"/>
              </a:ext>
            </a:extLst>
          </p:cNvPr>
          <p:cNvSpPr>
            <a:spLocks xmlns:a="http://schemas.openxmlformats.org/drawingml/2006/main" noGrp="1"/>
          </p:cNvSpPr>
          <p:nvPr/>
        </p:nvSpPr>
        <p:spPr>
          <a:xfrm xmlns:a="http://schemas.openxmlformats.org/drawingml/2006/main">
            <a:off x="3143250" y="4953000"/>
            <a:ext cx="714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F7FBFF"/>
                </a:solidFill>
              </a:defRPr>
            </a:defPPr>
          </a:lstStyle>
          <a:p xmlns:a="http://schemas.openxmlformats.org/drawingml/2006/main">
            <a:pPr algn="l">
              <a:defRPr sz="1500" b="1">
                <a:solidFill>
                  <a:srgbClr val="F7FBFF"/>
                </a:solidFill>
              </a:defRPr>
            </a:pPr>
            <a:r>
              <a:rPr sz="1500" b="1">
                <a:solidFill>
                  <a:srgbClr val="F7FBFF"/>
                </a:solidFill>
              </a:rPr>
              <a:t>A successful ping validates session state, CGNAT, BGP, the upstream default, and the return route.</a:t>
            </a:r>
          </a:p>
        </p:txBody>
      </p:sp>
      <p:sp>
        <p:nvSpPr>
          <p:cNvPr id="36" name="">
            <a:extLst xmlns:a="http://schemas.openxmlformats.org/drawingml/2006/main">
              <a:ext uri="{FF2B5EF4-FFF2-40B4-BE49-F238E27FC236}">
                <a16:creationId xmlns:a16="http://schemas.microsoft.com/office/drawing/2014/main" id="{DFD6F59D-6F55-494D-A944-301A2CAF44AB}"/>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37" name="">
            <a:extLst xmlns:a="http://schemas.openxmlformats.org/drawingml/2006/main">
              <a:ext uri="{FF2B5EF4-FFF2-40B4-BE49-F238E27FC236}">
                <a16:creationId xmlns:a16="http://schemas.microsoft.com/office/drawing/2014/main" id="{686D5BBF-7F16-4F66-B8A8-EC9E6056747B}"/>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Operational checks use BGP summaries, routes, pod interfaces, and subscriber traffic.</a:t>
            </a:r>
          </a:p>
        </p:txBody>
      </p:sp>
      <p:sp>
        <p:nvSpPr>
          <p:cNvPr id="38" name="">
            <a:extLst xmlns:a="http://schemas.openxmlformats.org/drawingml/2006/main">
              <a:ext uri="{FF2B5EF4-FFF2-40B4-BE49-F238E27FC236}">
                <a16:creationId xmlns:a16="http://schemas.microsoft.com/office/drawing/2014/main" id="{A6011247-33CD-4068-8475-26CFBAE9DD06}"/>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07</a:t>
            </a:r>
          </a:p>
        </p:txBody>
      </p:sp>
    </p:spTree>
    <p:extLst>
      <p:ext uri="{BB962C8B-B14F-4D97-AF65-F5344CB8AC3E}">
        <p14:creationId xmlns:p14="http://schemas.microsoft.com/office/powerpoint/2010/main" val="153761603"/>
      </p:ext>
    </p:extLst>
  </p:cSld>
</p:sld>
</file>

<file path=ppt/slides/slide8.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DAAF8D5-82C2-4DC0-BD2A-94DDE51F9D27}"/>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4 • WHY THIS IS PRACTICAL NOW</a:t>
            </a:r>
          </a:p>
        </p:txBody>
      </p:sp>
      <p:sp>
        <p:nvSpPr>
          <p:cNvPr id="2" name="">
            <a:extLst xmlns:a="http://schemas.openxmlformats.org/drawingml/2006/main">
              <a:ext uri="{FF2B5EF4-FFF2-40B4-BE49-F238E27FC236}">
                <a16:creationId xmlns:a16="http://schemas.microsoft.com/office/drawing/2014/main" id="{B6988AAF-B0F8-4F70-89DA-EA67F144D929}"/>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The NIC is becoming part of the edge compute platform</a:t>
            </a:r>
          </a:p>
        </p:txBody>
      </p:sp>
      <p:sp>
        <p:nvSpPr>
          <p:cNvPr id="3" name="">
            <a:extLst xmlns:a="http://schemas.openxmlformats.org/drawingml/2006/main">
              <a:ext uri="{FF2B5EF4-FFF2-40B4-BE49-F238E27FC236}">
                <a16:creationId xmlns:a16="http://schemas.microsoft.com/office/drawing/2014/main" id="{AEA1A10E-19AC-4035-B68E-BE41634F28F7}"/>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DPDK, SR-IOV, SmartNICs, and DPUs shift packet work away from general-purpose CPU cores.</a:t>
            </a:r>
          </a:p>
        </p:txBody>
      </p:sp>
      <p:sp>
        <p:nvSpPr>
          <p:cNvPr id="4" name="">
            <a:extLst xmlns:a="http://schemas.openxmlformats.org/drawingml/2006/main">
              <a:ext uri="{FF2B5EF4-FFF2-40B4-BE49-F238E27FC236}">
                <a16:creationId xmlns:a16="http://schemas.microsoft.com/office/drawing/2014/main" id="{DF969CB8-CA97-4F95-9BD1-3B39C3A152FD}"/>
              </a:ext>
            </a:extLst>
          </p:cNvPr>
          <p:cNvSpPr>
            <a:spLocks xmlns:a="http://schemas.openxmlformats.org/drawingml/2006/main" noGrp="1"/>
          </p:cNvSpPr>
          <p:nvPr/>
        </p:nvSpPr>
        <p:spPr>
          <a:xfrm xmlns:a="http://schemas.openxmlformats.org/drawingml/2006/main">
            <a:off x="685800" y="2190750"/>
            <a:ext cx="4333875" cy="3000375"/>
          </a:xfrm>
          <a:prstGeom xmlns:a="http://schemas.openxmlformats.org/drawingml/2006/main" prst="roundRect">
            <a:avLst>
              <a:gd name="adj" fmla="val 5079"/>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63204186-5891-4845-9C19-5561CCEDF69C}"/>
              </a:ext>
            </a:extLst>
          </p:cNvPr>
          <p:cNvSpPr>
            <a:spLocks xmlns:a="http://schemas.openxmlformats.org/drawingml/2006/main" noGrp="1"/>
          </p:cNvSpPr>
          <p:nvPr/>
        </p:nvSpPr>
        <p:spPr>
          <a:xfrm xmlns:a="http://schemas.openxmlformats.org/drawingml/2006/main">
            <a:off x="933450" y="2438400"/>
            <a:ext cx="361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F7FBFF"/>
                </a:solidFill>
              </a:defRPr>
            </a:defPPr>
          </a:lstStyle>
          <a:p xmlns:a="http://schemas.openxmlformats.org/drawingml/2006/main">
            <a:pPr algn="l">
              <a:defRPr sz="1800" b="1">
                <a:solidFill>
                  <a:srgbClr val="F7FBFF"/>
                </a:solidFill>
              </a:defRPr>
            </a:pPr>
            <a:r>
              <a:rPr sz="1800" b="1">
                <a:solidFill>
                  <a:srgbClr val="F7FBFF"/>
                </a:solidFill>
              </a:rPr>
              <a:t>Traditional edge</a:t>
            </a:r>
          </a:p>
        </p:txBody>
      </p:sp>
      <p:sp>
        <p:nvSpPr>
          <p:cNvPr id="6" name="">
            <a:extLst xmlns:a="http://schemas.openxmlformats.org/drawingml/2006/main">
              <a:ext uri="{FF2B5EF4-FFF2-40B4-BE49-F238E27FC236}">
                <a16:creationId xmlns:a16="http://schemas.microsoft.com/office/drawing/2014/main" id="{3DB688B4-3E91-4C14-8B7E-C42E72AA156A}"/>
              </a:ext>
            </a:extLst>
          </p:cNvPr>
          <p:cNvSpPr>
            <a:spLocks xmlns:a="http://schemas.openxmlformats.org/drawingml/2006/main" noGrp="1"/>
          </p:cNvSpPr>
          <p:nvPr/>
        </p:nvSpPr>
        <p:spPr>
          <a:xfrm xmlns:a="http://schemas.openxmlformats.org/drawingml/2006/main">
            <a:off x="1047750" y="3000375"/>
            <a:ext cx="3333750" cy="419100"/>
          </a:xfrm>
          <a:prstGeom xmlns:a="http://schemas.openxmlformats.org/drawingml/2006/main" prst="roundRect">
            <a:avLst>
              <a:gd name="adj" fmla="val 18182"/>
            </a:avLst>
          </a:prstGeom>
          <a:solidFill xmlns:a="http://schemas.openxmlformats.org/drawingml/2006/main">
            <a:srgbClr val="173B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C68AFB-4B2C-484D-8F33-C13FB5FCD7EA}"/>
              </a:ext>
            </a:extLst>
          </p:cNvPr>
          <p:cNvSpPr>
            <a:spLocks xmlns:a="http://schemas.openxmlformats.org/drawingml/2006/main" noGrp="1"/>
          </p:cNvSpPr>
          <p:nvPr/>
        </p:nvSpPr>
        <p:spPr>
          <a:xfrm xmlns:a="http://schemas.openxmlformats.org/drawingml/2006/main">
            <a:off x="1285875" y="3105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A9C1D2"/>
                </a:solidFill>
              </a:defRPr>
            </a:defPPr>
          </a:lstStyle>
          <a:p xmlns:a="http://schemas.openxmlformats.org/drawingml/2006/main">
            <a:pPr algn="ctr">
              <a:defRPr sz="1275" b="1">
                <a:solidFill>
                  <a:srgbClr val="A9C1D2"/>
                </a:solidFill>
              </a:defRPr>
            </a:pPr>
            <a:r>
              <a:rPr sz="1275" b="1">
                <a:solidFill>
                  <a:srgbClr val="A9C1D2"/>
                </a:solidFill>
              </a:rPr>
              <a:t>BNG appliance</a:t>
            </a:r>
          </a:p>
        </p:txBody>
      </p:sp>
      <p:sp>
        <p:nvSpPr>
          <p:cNvPr id="8" name="">
            <a:extLst xmlns:a="http://schemas.openxmlformats.org/drawingml/2006/main">
              <a:ext uri="{FF2B5EF4-FFF2-40B4-BE49-F238E27FC236}">
                <a16:creationId xmlns:a16="http://schemas.microsoft.com/office/drawing/2014/main" id="{2C9C59A9-ABFE-4D72-9DF5-60FAACA2FEFF}"/>
              </a:ext>
            </a:extLst>
          </p:cNvPr>
          <p:cNvSpPr>
            <a:spLocks xmlns:a="http://schemas.openxmlformats.org/drawingml/2006/main" noGrp="1"/>
          </p:cNvSpPr>
          <p:nvPr/>
        </p:nvSpPr>
        <p:spPr>
          <a:xfrm xmlns:a="http://schemas.openxmlformats.org/drawingml/2006/main">
            <a:off x="1047750" y="3590925"/>
            <a:ext cx="3333750" cy="419100"/>
          </a:xfrm>
          <a:prstGeom xmlns:a="http://schemas.openxmlformats.org/drawingml/2006/main" prst="roundRect">
            <a:avLst>
              <a:gd name="adj" fmla="val 18182"/>
            </a:avLst>
          </a:prstGeom>
          <a:solidFill xmlns:a="http://schemas.openxmlformats.org/drawingml/2006/main">
            <a:srgbClr val="173B5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6CB383E-B51C-4A9F-A6E6-DD635813FB98}"/>
              </a:ext>
            </a:extLst>
          </p:cNvPr>
          <p:cNvSpPr>
            <a:spLocks xmlns:a="http://schemas.openxmlformats.org/drawingml/2006/main" noGrp="1"/>
          </p:cNvSpPr>
          <p:nvPr/>
        </p:nvSpPr>
        <p:spPr>
          <a:xfrm xmlns:a="http://schemas.openxmlformats.org/drawingml/2006/main">
            <a:off x="1285875" y="36957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A9C1D2"/>
                </a:solidFill>
              </a:defRPr>
            </a:defPPr>
          </a:lstStyle>
          <a:p xmlns:a="http://schemas.openxmlformats.org/drawingml/2006/main">
            <a:pPr algn="ctr">
              <a:defRPr sz="1275" b="1">
                <a:solidFill>
                  <a:srgbClr val="A9C1D2"/>
                </a:solidFill>
              </a:defRPr>
            </a:pPr>
            <a:r>
              <a:rPr sz="1275" b="1">
                <a:solidFill>
                  <a:srgbClr val="A9C1D2"/>
                </a:solidFill>
              </a:rPr>
              <a:t>Router appliance</a:t>
            </a:r>
          </a:p>
        </p:txBody>
      </p:sp>
      <p:sp>
        <p:nvSpPr>
          <p:cNvPr id="10" name="">
            <a:extLst xmlns:a="http://schemas.openxmlformats.org/drawingml/2006/main">
              <a:ext uri="{FF2B5EF4-FFF2-40B4-BE49-F238E27FC236}">
                <a16:creationId xmlns:a16="http://schemas.microsoft.com/office/drawing/2014/main" id="{509542F0-7B34-4EC6-AF2C-B5C51B7A30D4}"/>
              </a:ext>
            </a:extLst>
          </p:cNvPr>
          <p:cNvSpPr>
            <a:spLocks xmlns:a="http://schemas.openxmlformats.org/drawingml/2006/main" noGrp="1"/>
          </p:cNvSpPr>
          <p:nvPr/>
        </p:nvSpPr>
        <p:spPr>
          <a:xfrm xmlns:a="http://schemas.openxmlformats.org/drawingml/2006/main">
            <a:off x="1047750" y="4181475"/>
            <a:ext cx="3333750" cy="419100"/>
          </a:xfrm>
          <a:prstGeom xmlns:a="http://schemas.openxmlformats.org/drawingml/2006/main" prst="roundRect">
            <a:avLst>
              <a:gd name="adj" fmla="val 18182"/>
            </a:avLst>
          </a:prstGeom>
          <a:solidFill xmlns:a="http://schemas.openxmlformats.org/drawingml/2006/main">
            <a:srgbClr val="173B5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094D106-615B-495E-A7E6-95FDC7A8E0E6}"/>
              </a:ext>
            </a:extLst>
          </p:cNvPr>
          <p:cNvSpPr>
            <a:spLocks xmlns:a="http://schemas.openxmlformats.org/drawingml/2006/main" noGrp="1"/>
          </p:cNvSpPr>
          <p:nvPr/>
        </p:nvSpPr>
        <p:spPr>
          <a:xfrm xmlns:a="http://schemas.openxmlformats.org/drawingml/2006/main">
            <a:off x="1285875" y="42862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A9C1D2"/>
                </a:solidFill>
              </a:defRPr>
            </a:defPPr>
          </a:lstStyle>
          <a:p xmlns:a="http://schemas.openxmlformats.org/drawingml/2006/main">
            <a:pPr algn="ctr">
              <a:defRPr sz="1275" b="1">
                <a:solidFill>
                  <a:srgbClr val="A9C1D2"/>
                </a:solidFill>
              </a:defRPr>
            </a:pPr>
            <a:r>
              <a:rPr sz="1275" b="1">
                <a:solidFill>
                  <a:srgbClr val="A9C1D2"/>
                </a:solidFill>
              </a:rPr>
              <a:t>Security appliance</a:t>
            </a:r>
          </a:p>
        </p:txBody>
      </p:sp>
      <p:sp>
        <p:nvSpPr>
          <p:cNvPr id="12" name="">
            <a:extLst xmlns:a="http://schemas.openxmlformats.org/drawingml/2006/main">
              <a:ext uri="{FF2B5EF4-FFF2-40B4-BE49-F238E27FC236}">
                <a16:creationId xmlns:a16="http://schemas.microsoft.com/office/drawing/2014/main" id="{711D5A02-B96B-4F1C-B7E5-6D29FE2E142F}"/>
              </a:ext>
            </a:extLst>
          </p:cNvPr>
          <p:cNvSpPr>
            <a:spLocks xmlns:a="http://schemas.openxmlformats.org/drawingml/2006/main" noGrp="1"/>
          </p:cNvSpPr>
          <p:nvPr/>
        </p:nvSpPr>
        <p:spPr>
          <a:xfrm xmlns:a="http://schemas.openxmlformats.org/drawingml/2006/main">
            <a:off x="5667375" y="2190750"/>
            <a:ext cx="5838825" cy="3000375"/>
          </a:xfrm>
          <a:prstGeom xmlns:a="http://schemas.openxmlformats.org/drawingml/2006/main" prst="roundRect">
            <a:avLst>
              <a:gd name="adj" fmla="val 5079"/>
            </a:avLst>
          </a:prstGeom>
          <a:solidFill xmlns:a="http://schemas.openxmlformats.org/drawingml/2006/main">
            <a:srgbClr val="103445"/>
          </a:solidFill>
          <a:ln xmlns:a="http://schemas.openxmlformats.org/drawingml/2006/main" w="9525">
            <a:solidFill>
              <a:srgbClr val="23D5D2"/>
            </a:solidFill>
            <a:prstDash val="solid"/>
          </a:ln>
        </p:spPr>
      </p:sp>
      <p:sp>
        <p:nvSpPr>
          <p:cNvPr id="13" name="">
            <a:extLst xmlns:a="http://schemas.openxmlformats.org/drawingml/2006/main">
              <a:ext uri="{FF2B5EF4-FFF2-40B4-BE49-F238E27FC236}">
                <a16:creationId xmlns:a16="http://schemas.microsoft.com/office/drawing/2014/main" id="{50B45C3C-3BC7-498B-86F4-17DF59A5A06E}"/>
              </a:ext>
            </a:extLst>
          </p:cNvPr>
          <p:cNvSpPr>
            <a:spLocks xmlns:a="http://schemas.openxmlformats.org/drawingml/2006/main" noGrp="1"/>
          </p:cNvSpPr>
          <p:nvPr/>
        </p:nvSpPr>
        <p:spPr>
          <a:xfrm xmlns:a="http://schemas.openxmlformats.org/drawingml/2006/main">
            <a:off x="5953125" y="243840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a:solidFill>
                  <a:srgbClr val="23D5D2"/>
                </a:solidFill>
              </a:defRPr>
            </a:defPPr>
          </a:lstStyle>
          <a:p xmlns:a="http://schemas.openxmlformats.org/drawingml/2006/main">
            <a:pPr algn="l">
              <a:defRPr sz="1800" b="1">
                <a:solidFill>
                  <a:srgbClr val="23D5D2"/>
                </a:solidFill>
              </a:defRPr>
            </a:pPr>
            <a:r>
              <a:rPr sz="1800" b="1">
                <a:solidFill>
                  <a:srgbClr val="23D5D2"/>
                </a:solidFill>
              </a:rPr>
              <a:t>Consolidated Kubernetes edge</a:t>
            </a:r>
          </a:p>
        </p:txBody>
      </p:sp>
      <p:sp>
        <p:nvSpPr>
          <p:cNvPr id="14" name="">
            <a:extLst xmlns:a="http://schemas.openxmlformats.org/drawingml/2006/main">
              <a:ext uri="{FF2B5EF4-FFF2-40B4-BE49-F238E27FC236}">
                <a16:creationId xmlns:a16="http://schemas.microsoft.com/office/drawing/2014/main" id="{4D0CA5C8-A76C-4ABE-A4A1-234D036BC799}"/>
              </a:ext>
            </a:extLst>
          </p:cNvPr>
          <p:cNvSpPr>
            <a:spLocks xmlns:a="http://schemas.openxmlformats.org/drawingml/2006/main" noGrp="1"/>
          </p:cNvSpPr>
          <p:nvPr/>
        </p:nvSpPr>
        <p:spPr>
          <a:xfrm xmlns:a="http://schemas.openxmlformats.org/drawingml/2006/main">
            <a:off x="5953125" y="3048000"/>
            <a:ext cx="1524000" cy="952500"/>
          </a:xfrm>
          <a:prstGeom xmlns:a="http://schemas.openxmlformats.org/drawingml/2006/main" prst="roundRect">
            <a:avLst>
              <a:gd name="adj" fmla="val 12000"/>
            </a:avLst>
          </a:prstGeom>
          <a:solidFill xmlns:a="http://schemas.openxmlformats.org/drawingml/2006/main">
            <a:srgbClr val="0E2B42"/>
          </a:solidFill>
          <a:ln xmlns:a="http://schemas.openxmlformats.org/drawingml/2006/main" w="9525">
            <a:solidFill>
              <a:srgbClr val="31536A"/>
            </a:solidFill>
            <a:prstDash val="solid"/>
          </a:ln>
        </p:spPr>
      </p:sp>
      <p:sp>
        <p:nvSpPr>
          <p:cNvPr id="15" name="">
            <a:extLst xmlns:a="http://schemas.openxmlformats.org/drawingml/2006/main">
              <a:ext uri="{FF2B5EF4-FFF2-40B4-BE49-F238E27FC236}">
                <a16:creationId xmlns:a16="http://schemas.microsoft.com/office/drawing/2014/main" id="{D042A471-41A5-4524-9D8F-EA6209A24985}"/>
              </a:ext>
            </a:extLst>
          </p:cNvPr>
          <p:cNvSpPr>
            <a:spLocks xmlns:a="http://schemas.openxmlformats.org/drawingml/2006/main" noGrp="1"/>
          </p:cNvSpPr>
          <p:nvPr/>
        </p:nvSpPr>
        <p:spPr>
          <a:xfrm xmlns:a="http://schemas.openxmlformats.org/drawingml/2006/main">
            <a:off x="5953125" y="3048000"/>
            <a:ext cx="57150" cy="952500"/>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16" name="">
            <a:extLst xmlns:a="http://schemas.openxmlformats.org/drawingml/2006/main">
              <a:ext uri="{FF2B5EF4-FFF2-40B4-BE49-F238E27FC236}">
                <a16:creationId xmlns:a16="http://schemas.microsoft.com/office/drawing/2014/main" id="{F8B4DDE7-CF4D-4B1E-BBDA-FC80669B78DD}"/>
              </a:ext>
            </a:extLst>
          </p:cNvPr>
          <p:cNvSpPr>
            <a:spLocks xmlns:a="http://schemas.openxmlformats.org/drawingml/2006/main" noGrp="1"/>
          </p:cNvSpPr>
          <p:nvPr/>
        </p:nvSpPr>
        <p:spPr>
          <a:xfrm xmlns:a="http://schemas.openxmlformats.org/drawingml/2006/main">
            <a:off x="6143625" y="3181350"/>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vBNG</a:t>
            </a:r>
          </a:p>
        </p:txBody>
      </p:sp>
      <p:sp>
        <p:nvSpPr>
          <p:cNvPr id="17" name="">
            <a:extLst xmlns:a="http://schemas.openxmlformats.org/drawingml/2006/main">
              <a:ext uri="{FF2B5EF4-FFF2-40B4-BE49-F238E27FC236}">
                <a16:creationId xmlns:a16="http://schemas.microsoft.com/office/drawing/2014/main" id="{203C5797-FDD4-4A85-91B9-FBA39808D39D}"/>
              </a:ext>
            </a:extLst>
          </p:cNvPr>
          <p:cNvSpPr>
            <a:spLocks xmlns:a="http://schemas.openxmlformats.org/drawingml/2006/main" noGrp="1"/>
          </p:cNvSpPr>
          <p:nvPr/>
        </p:nvSpPr>
        <p:spPr>
          <a:xfrm xmlns:a="http://schemas.openxmlformats.org/drawingml/2006/main">
            <a:off x="6143625" y="37338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DPDK / VPP</a:t>
            </a:r>
          </a:p>
        </p:txBody>
      </p:sp>
      <p:sp>
        <p:nvSpPr>
          <p:cNvPr id="18" name="">
            <a:extLst xmlns:a="http://schemas.openxmlformats.org/drawingml/2006/main">
              <a:ext uri="{FF2B5EF4-FFF2-40B4-BE49-F238E27FC236}">
                <a16:creationId xmlns:a16="http://schemas.microsoft.com/office/drawing/2014/main" id="{A12F67AF-180A-44A4-A8CE-DFD7E9C7D061}"/>
              </a:ext>
            </a:extLst>
          </p:cNvPr>
          <p:cNvSpPr>
            <a:spLocks xmlns:a="http://schemas.openxmlformats.org/drawingml/2006/main" noGrp="1"/>
          </p:cNvSpPr>
          <p:nvPr/>
        </p:nvSpPr>
        <p:spPr>
          <a:xfrm xmlns:a="http://schemas.openxmlformats.org/drawingml/2006/main">
            <a:off x="7810500" y="3048000"/>
            <a:ext cx="1524000" cy="952500"/>
          </a:xfrm>
          <a:prstGeom xmlns:a="http://schemas.openxmlformats.org/drawingml/2006/main" prst="roundRect">
            <a:avLst>
              <a:gd name="adj" fmla="val 12000"/>
            </a:avLst>
          </a:prstGeom>
          <a:solidFill xmlns:a="http://schemas.openxmlformats.org/drawingml/2006/main">
            <a:srgbClr val="0E2B42"/>
          </a:solidFill>
          <a:ln xmlns:a="http://schemas.openxmlformats.org/drawingml/2006/main" w="9525">
            <a:solidFill>
              <a:srgbClr val="31536A"/>
            </a:solidFill>
            <a:prstDash val="solid"/>
          </a:ln>
        </p:spPr>
      </p:sp>
      <p:sp>
        <p:nvSpPr>
          <p:cNvPr id="19" name="">
            <a:extLst xmlns:a="http://schemas.openxmlformats.org/drawingml/2006/main">
              <a:ext uri="{FF2B5EF4-FFF2-40B4-BE49-F238E27FC236}">
                <a16:creationId xmlns:a16="http://schemas.microsoft.com/office/drawing/2014/main" id="{E3876074-08F5-4FC1-B647-3E26A0CBEF11}"/>
              </a:ext>
            </a:extLst>
          </p:cNvPr>
          <p:cNvSpPr>
            <a:spLocks xmlns:a="http://schemas.openxmlformats.org/drawingml/2006/main" noGrp="1"/>
          </p:cNvSpPr>
          <p:nvPr/>
        </p:nvSpPr>
        <p:spPr>
          <a:xfrm xmlns:a="http://schemas.openxmlformats.org/drawingml/2006/main">
            <a:off x="7810500" y="3048000"/>
            <a:ext cx="57150" cy="952500"/>
          </a:xfrm>
          <a:prstGeom xmlns:a="http://schemas.openxmlformats.org/drawingml/2006/main" prst="rect">
            <a:avLst/>
          </a:prstGeom>
          <a:solidFill xmlns:a="http://schemas.openxmlformats.org/drawingml/2006/main">
            <a:srgbClr val="43D17D"/>
          </a:solidFill>
          <a:ln xmlns:a="http://schemas.openxmlformats.org/drawingml/2006/main" w="0">
            <a:solidFill>
              <a:srgbClr val="43D17D"/>
            </a:solidFill>
            <a:prstDash val="solid"/>
          </a:ln>
        </p:spPr>
      </p:sp>
      <p:sp>
        <p:nvSpPr>
          <p:cNvPr id="20" name="">
            <a:extLst xmlns:a="http://schemas.openxmlformats.org/drawingml/2006/main">
              <a:ext uri="{FF2B5EF4-FFF2-40B4-BE49-F238E27FC236}">
                <a16:creationId xmlns:a16="http://schemas.microsoft.com/office/drawing/2014/main" id="{510862B2-EFF9-493F-A020-0A5815435BE4}"/>
              </a:ext>
            </a:extLst>
          </p:cNvPr>
          <p:cNvSpPr>
            <a:spLocks xmlns:a="http://schemas.openxmlformats.org/drawingml/2006/main" noGrp="1"/>
          </p:cNvSpPr>
          <p:nvPr/>
        </p:nvSpPr>
        <p:spPr>
          <a:xfrm xmlns:a="http://schemas.openxmlformats.org/drawingml/2006/main">
            <a:off x="8001000" y="3181350"/>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FRR</a:t>
            </a:r>
          </a:p>
        </p:txBody>
      </p:sp>
      <p:sp>
        <p:nvSpPr>
          <p:cNvPr id="21" name="">
            <a:extLst xmlns:a="http://schemas.openxmlformats.org/drawingml/2006/main">
              <a:ext uri="{FF2B5EF4-FFF2-40B4-BE49-F238E27FC236}">
                <a16:creationId xmlns:a16="http://schemas.microsoft.com/office/drawing/2014/main" id="{97D585F3-81B6-4045-A5A4-93A18D710579}"/>
              </a:ext>
            </a:extLst>
          </p:cNvPr>
          <p:cNvSpPr>
            <a:spLocks xmlns:a="http://schemas.openxmlformats.org/drawingml/2006/main" noGrp="1"/>
          </p:cNvSpPr>
          <p:nvPr/>
        </p:nvSpPr>
        <p:spPr>
          <a:xfrm xmlns:a="http://schemas.openxmlformats.org/drawingml/2006/main">
            <a:off x="8001000" y="37338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BGP routing</a:t>
            </a:r>
          </a:p>
        </p:txBody>
      </p:sp>
      <p:sp>
        <p:nvSpPr>
          <p:cNvPr id="22" name="">
            <a:extLst xmlns:a="http://schemas.openxmlformats.org/drawingml/2006/main">
              <a:ext uri="{FF2B5EF4-FFF2-40B4-BE49-F238E27FC236}">
                <a16:creationId xmlns:a16="http://schemas.microsoft.com/office/drawing/2014/main" id="{494C3E5D-C12B-416F-B8CE-8AA3C9EDF319}"/>
              </a:ext>
            </a:extLst>
          </p:cNvPr>
          <p:cNvSpPr>
            <a:spLocks xmlns:a="http://schemas.openxmlformats.org/drawingml/2006/main" noGrp="1"/>
          </p:cNvSpPr>
          <p:nvPr/>
        </p:nvSpPr>
        <p:spPr>
          <a:xfrm xmlns:a="http://schemas.openxmlformats.org/drawingml/2006/main">
            <a:off x="9667875" y="3048000"/>
            <a:ext cx="1571625" cy="952500"/>
          </a:xfrm>
          <a:prstGeom xmlns:a="http://schemas.openxmlformats.org/drawingml/2006/main" prst="roundRect">
            <a:avLst>
              <a:gd name="adj" fmla="val 12000"/>
            </a:avLst>
          </a:prstGeom>
          <a:solidFill xmlns:a="http://schemas.openxmlformats.org/drawingml/2006/main">
            <a:srgbClr val="0E2B42"/>
          </a:solidFill>
          <a:ln xmlns:a="http://schemas.openxmlformats.org/drawingml/2006/main" w="9525">
            <a:solidFill>
              <a:srgbClr val="31536A"/>
            </a:solidFill>
            <a:prstDash val="solid"/>
          </a:ln>
        </p:spPr>
      </p:sp>
      <p:sp>
        <p:nvSpPr>
          <p:cNvPr id="23" name="">
            <a:extLst xmlns:a="http://schemas.openxmlformats.org/drawingml/2006/main">
              <a:ext uri="{FF2B5EF4-FFF2-40B4-BE49-F238E27FC236}">
                <a16:creationId xmlns:a16="http://schemas.microsoft.com/office/drawing/2014/main" id="{2D9463A6-69EB-4185-A938-D9ADBE1088A8}"/>
              </a:ext>
            </a:extLst>
          </p:cNvPr>
          <p:cNvSpPr>
            <a:spLocks xmlns:a="http://schemas.openxmlformats.org/drawingml/2006/main" noGrp="1"/>
          </p:cNvSpPr>
          <p:nvPr/>
        </p:nvSpPr>
        <p:spPr>
          <a:xfrm xmlns:a="http://schemas.openxmlformats.org/drawingml/2006/main">
            <a:off x="9667875" y="3048000"/>
            <a:ext cx="57150" cy="952500"/>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24" name="">
            <a:extLst xmlns:a="http://schemas.openxmlformats.org/drawingml/2006/main">
              <a:ext uri="{FF2B5EF4-FFF2-40B4-BE49-F238E27FC236}">
                <a16:creationId xmlns:a16="http://schemas.microsoft.com/office/drawing/2014/main" id="{42362C6A-2376-4897-BE19-4B21FF8F9064}"/>
              </a:ext>
            </a:extLst>
          </p:cNvPr>
          <p:cNvSpPr>
            <a:spLocks xmlns:a="http://schemas.openxmlformats.org/drawingml/2006/main" noGrp="1"/>
          </p:cNvSpPr>
          <p:nvPr/>
        </p:nvSpPr>
        <p:spPr>
          <a:xfrm xmlns:a="http://schemas.openxmlformats.org/drawingml/2006/main">
            <a:off x="9858375" y="3181350"/>
            <a:ext cx="12668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Services</a:t>
            </a:r>
          </a:p>
        </p:txBody>
      </p:sp>
      <p:sp>
        <p:nvSpPr>
          <p:cNvPr id="25" name="">
            <a:extLst xmlns:a="http://schemas.openxmlformats.org/drawingml/2006/main">
              <a:ext uri="{FF2B5EF4-FFF2-40B4-BE49-F238E27FC236}">
                <a16:creationId xmlns:a16="http://schemas.microsoft.com/office/drawing/2014/main" id="{C5523788-A77B-46CF-B912-C2EE79543527}"/>
              </a:ext>
            </a:extLst>
          </p:cNvPr>
          <p:cNvSpPr>
            <a:spLocks xmlns:a="http://schemas.openxmlformats.org/drawingml/2006/main" noGrp="1"/>
          </p:cNvSpPr>
          <p:nvPr/>
        </p:nvSpPr>
        <p:spPr>
          <a:xfrm xmlns:a="http://schemas.openxmlformats.org/drawingml/2006/main">
            <a:off x="9858375" y="3733800"/>
            <a:ext cx="1266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AAA / observability</a:t>
            </a:r>
          </a:p>
        </p:txBody>
      </p:sp>
      <p:sp>
        <p:nvSpPr>
          <p:cNvPr id="26" name="">
            <a:extLst xmlns:a="http://schemas.openxmlformats.org/drawingml/2006/main">
              <a:ext uri="{FF2B5EF4-FFF2-40B4-BE49-F238E27FC236}">
                <a16:creationId xmlns:a16="http://schemas.microsoft.com/office/drawing/2014/main" id="{76FAE7B8-DF70-4096-9720-7736640AE954}"/>
              </a:ext>
            </a:extLst>
          </p:cNvPr>
          <p:cNvSpPr>
            <a:spLocks xmlns:a="http://schemas.openxmlformats.org/drawingml/2006/main" noGrp="1"/>
          </p:cNvSpPr>
          <p:nvPr/>
        </p:nvSpPr>
        <p:spPr>
          <a:xfrm xmlns:a="http://schemas.openxmlformats.org/drawingml/2006/main">
            <a:off x="5953125" y="447675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a:solidFill>
                  <a:srgbClr val="F7FBFF"/>
                </a:solidFill>
              </a:defRPr>
            </a:defPPr>
          </a:lstStyle>
          <a:p xmlns:a="http://schemas.openxmlformats.org/drawingml/2006/main">
            <a:pPr algn="ctr">
              <a:defRPr sz="1275" b="1">
                <a:solidFill>
                  <a:srgbClr val="F7FBFF"/>
                </a:solidFill>
              </a:defRPr>
            </a:pPr>
            <a:r>
              <a:rPr sz="1275" b="1">
                <a:solidFill>
                  <a:srgbClr val="F7FBFF"/>
                </a:solidFill>
              </a:rPr>
              <a:t>Shared lifecycle • explicit resource isolation • fewer edge boxes</a:t>
            </a:r>
          </a:p>
        </p:txBody>
      </p:sp>
      <p:sp>
        <p:nvSpPr>
          <p:cNvPr id="27" name="">
            <a:extLst xmlns:a="http://schemas.openxmlformats.org/drawingml/2006/main">
              <a:ext uri="{FF2B5EF4-FFF2-40B4-BE49-F238E27FC236}">
                <a16:creationId xmlns:a16="http://schemas.microsoft.com/office/drawing/2014/main" id="{7BD4084E-ECF0-490A-92BE-AE5C0E098DD1}"/>
              </a:ext>
            </a:extLst>
          </p:cNvPr>
          <p:cNvSpPr>
            <a:spLocks xmlns:a="http://schemas.openxmlformats.org/drawingml/2006/main" noGrp="1"/>
          </p:cNvSpPr>
          <p:nvPr/>
        </p:nvSpPr>
        <p:spPr>
          <a:xfrm xmlns:a="http://schemas.openxmlformats.org/drawingml/2006/main">
            <a:off x="4629150" y="3476625"/>
            <a:ext cx="1181100" cy="323850"/>
          </a:xfrm>
          <a:prstGeom xmlns:a="http://schemas.openxmlformats.org/drawingml/2006/main" prst="roundRect">
            <a:avLst>
              <a:gd name="adj" fmla="val 50000"/>
            </a:avLst>
          </a:prstGeom>
          <a:solidFill xmlns:a="http://schemas.openxmlformats.org/drawingml/2006/main">
            <a:srgbClr val="FF9D4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6E2C3A0-8296-42AA-86DA-E28E526B55F0}"/>
              </a:ext>
            </a:extLst>
          </p:cNvPr>
          <p:cNvSpPr>
            <a:spLocks xmlns:a="http://schemas.openxmlformats.org/drawingml/2006/main" noGrp="1"/>
          </p:cNvSpPr>
          <p:nvPr/>
        </p:nvSpPr>
        <p:spPr>
          <a:xfrm xmlns:a="http://schemas.openxmlformats.org/drawingml/2006/main">
            <a:off x="4743450" y="35433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NIC OFFLOAD</a:t>
            </a:r>
          </a:p>
        </p:txBody>
      </p:sp>
      <p:sp>
        <p:nvSpPr>
          <p:cNvPr id="29" name="">
            <a:extLst xmlns:a="http://schemas.openxmlformats.org/drawingml/2006/main">
              <a:ext uri="{FF2B5EF4-FFF2-40B4-BE49-F238E27FC236}">
                <a16:creationId xmlns:a16="http://schemas.microsoft.com/office/drawing/2014/main" id="{2E78EA7E-C92D-4FF2-B1AA-B2164A204DD8}"/>
              </a:ext>
            </a:extLst>
          </p:cNvPr>
          <p:cNvSpPr>
            <a:spLocks xmlns:a="http://schemas.openxmlformats.org/drawingml/2006/main" noGrp="1"/>
          </p:cNvSpPr>
          <p:nvPr/>
        </p:nvSpPr>
        <p:spPr>
          <a:xfrm xmlns:a="http://schemas.openxmlformats.org/drawingml/2006/main">
            <a:off x="952500" y="5581650"/>
            <a:ext cx="1019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a:solidFill>
                  <a:srgbClr val="A9C1D2"/>
                </a:solidFill>
              </a:defRPr>
            </a:defPPr>
          </a:lstStyle>
          <a:p xmlns:a="http://schemas.openxmlformats.org/drawingml/2006/main">
            <a:pPr algn="ctr">
              <a:defRPr sz="1350" b="1">
                <a:solidFill>
                  <a:srgbClr val="A9C1D2"/>
                </a:solidFill>
              </a:defRPr>
            </a:pPr>
            <a:r>
              <a:rPr sz="1350" b="1">
                <a:solidFill>
                  <a:srgbClr val="A9C1D2"/>
                </a:solidFill>
              </a:rPr>
              <a:t>Design caveat: consolidation reduces boxes, not failure domains. Keep resource isolation and simple HA where service continuity matters.</a:t>
            </a:r>
          </a:p>
        </p:txBody>
      </p:sp>
      <p:sp>
        <p:nvSpPr>
          <p:cNvPr id="30" name="">
            <a:extLst xmlns:a="http://schemas.openxmlformats.org/drawingml/2006/main">
              <a:ext uri="{FF2B5EF4-FFF2-40B4-BE49-F238E27FC236}">
                <a16:creationId xmlns:a16="http://schemas.microsoft.com/office/drawing/2014/main" id="{B21F51D8-89AB-4BFE-985E-8605B39B2C42}"/>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31" name="">
            <a:extLst xmlns:a="http://schemas.openxmlformats.org/drawingml/2006/main">
              <a:ext uri="{FF2B5EF4-FFF2-40B4-BE49-F238E27FC236}">
                <a16:creationId xmlns:a16="http://schemas.microsoft.com/office/drawing/2014/main" id="{EBEA9D64-A52F-4996-B914-245063A915FB}"/>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Sources: NVIDIA BlueField/DOCA documentation; Intel Network Builders cloud-native BNG white paper.</a:t>
            </a:r>
          </a:p>
        </p:txBody>
      </p:sp>
      <p:sp>
        <p:nvSpPr>
          <p:cNvPr id="32" name="">
            <a:extLst xmlns:a="http://schemas.openxmlformats.org/drawingml/2006/main">
              <a:ext uri="{FF2B5EF4-FFF2-40B4-BE49-F238E27FC236}">
                <a16:creationId xmlns:a16="http://schemas.microsoft.com/office/drawing/2014/main" id="{168CD0F4-AC23-469E-9306-91DB2A421417}"/>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08</a:t>
            </a:r>
          </a:p>
        </p:txBody>
      </p:sp>
    </p:spTree>
    <p:extLst>
      <p:ext uri="{BB962C8B-B14F-4D97-AF65-F5344CB8AC3E}">
        <p14:creationId xmlns:p14="http://schemas.microsoft.com/office/powerpoint/2010/main" val="654697449"/>
      </p:ext>
    </p:extLst>
  </p:cSld>
</p:sld>
</file>

<file path=ppt/slides/slide9.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92C8B5D-BA3B-4FE8-A803-8EE12DB06ADB}"/>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5 • PRODUCTION BLUEPRINT</a:t>
            </a:r>
          </a:p>
        </p:txBody>
      </p:sp>
      <p:sp>
        <p:nvSpPr>
          <p:cNvPr id="2" name="">
            <a:extLst xmlns:a="http://schemas.openxmlformats.org/drawingml/2006/main">
              <a:ext uri="{FF2B5EF4-FFF2-40B4-BE49-F238E27FC236}">
                <a16:creationId xmlns:a16="http://schemas.microsoft.com/office/drawing/2014/main" id="{5A4BCC52-9161-4EA5-965A-624C98E80DAB}"/>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A repeatable broadband edge, delivered as Helm charts</a:t>
            </a:r>
          </a:p>
        </p:txBody>
      </p:sp>
      <p:sp>
        <p:nvSpPr>
          <p:cNvPr id="3" name="">
            <a:extLst xmlns:a="http://schemas.openxmlformats.org/drawingml/2006/main">
              <a:ext uri="{FF2B5EF4-FFF2-40B4-BE49-F238E27FC236}">
                <a16:creationId xmlns:a16="http://schemas.microsoft.com/office/drawing/2014/main" id="{BE04F21B-C1E4-45C6-BD20-40C1F36D2CEE}"/>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Start with explicit resource boundaries and a testable failure model.</a:t>
            </a:r>
          </a:p>
        </p:txBody>
      </p:sp>
      <p:sp>
        <p:nvSpPr>
          <p:cNvPr id="4" name="">
            <a:extLst xmlns:a="http://schemas.openxmlformats.org/drawingml/2006/main">
              <a:ext uri="{FF2B5EF4-FFF2-40B4-BE49-F238E27FC236}">
                <a16:creationId xmlns:a16="http://schemas.microsoft.com/office/drawing/2014/main" id="{202171EC-EF72-4AE5-BB66-71DE0F75748B}"/>
              </a:ext>
            </a:extLst>
          </p:cNvPr>
          <p:cNvSpPr>
            <a:spLocks xmlns:a="http://schemas.openxmlformats.org/drawingml/2006/main" noGrp="1"/>
          </p:cNvSpPr>
          <p:nvPr/>
        </p:nvSpPr>
        <p:spPr>
          <a:xfrm xmlns:a="http://schemas.openxmlformats.org/drawingml/2006/main">
            <a:off x="685800" y="2076450"/>
            <a:ext cx="7477125" cy="514350"/>
          </a:xfrm>
          <a:prstGeom xmlns:a="http://schemas.openxmlformats.org/drawingml/2006/main" prst="roundRect">
            <a:avLst>
              <a:gd name="adj" fmla="val 22222"/>
            </a:avLst>
          </a:prstGeom>
          <a:solidFill xmlns:a="http://schemas.openxmlformats.org/drawingml/2006/main">
            <a:srgbClr val="103B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C77917-EB82-4033-BEEC-C386F7CAFD00}"/>
              </a:ext>
            </a:extLst>
          </p:cNvPr>
          <p:cNvSpPr>
            <a:spLocks xmlns:a="http://schemas.openxmlformats.org/drawingml/2006/main" noGrp="1"/>
          </p:cNvSpPr>
          <p:nvPr/>
        </p:nvSpPr>
        <p:spPr>
          <a:xfrm xmlns:a="http://schemas.openxmlformats.org/drawingml/2006/main">
            <a:off x="876300" y="218122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a:solidFill>
                  <a:srgbClr val="43D17D"/>
                </a:solidFill>
              </a:defRPr>
            </a:defPPr>
          </a:lstStyle>
          <a:p xmlns:a="http://schemas.openxmlformats.org/drawingml/2006/main">
            <a:pPr algn="ctr">
              <a:defRPr sz="1350" b="1">
                <a:solidFill>
                  <a:srgbClr val="43D17D"/>
                </a:solidFill>
              </a:defRPr>
            </a:pPr>
            <a:r>
              <a:rPr sz="1350" b="1">
                <a:solidFill>
                  <a:srgbClr val="43D17D"/>
                </a:solidFill>
              </a:rPr>
              <a:t>1</a:t>
            </a:r>
          </a:p>
        </p:txBody>
      </p:sp>
      <p:sp>
        <p:nvSpPr>
          <p:cNvPr id="6" name="">
            <a:extLst xmlns:a="http://schemas.openxmlformats.org/drawingml/2006/main">
              <a:ext uri="{FF2B5EF4-FFF2-40B4-BE49-F238E27FC236}">
                <a16:creationId xmlns:a16="http://schemas.microsoft.com/office/drawing/2014/main" id="{E830F6EF-2F99-4834-B94A-4BBB4D04D2DC}"/>
              </a:ext>
            </a:extLst>
          </p:cNvPr>
          <p:cNvSpPr>
            <a:spLocks xmlns:a="http://schemas.openxmlformats.org/drawingml/2006/main" noGrp="1"/>
          </p:cNvSpPr>
          <p:nvPr/>
        </p:nvSpPr>
        <p:spPr>
          <a:xfrm xmlns:a="http://schemas.openxmlformats.org/drawingml/2006/main">
            <a:off x="1381125" y="21621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Capacity profile</a:t>
            </a:r>
          </a:p>
        </p:txBody>
      </p:sp>
      <p:sp>
        <p:nvSpPr>
          <p:cNvPr id="7" name="">
            <a:extLst xmlns:a="http://schemas.openxmlformats.org/drawingml/2006/main">
              <a:ext uri="{FF2B5EF4-FFF2-40B4-BE49-F238E27FC236}">
                <a16:creationId xmlns:a16="http://schemas.microsoft.com/office/drawing/2014/main" id="{74C26426-C5C8-4021-AB04-66F9F1E0E539}"/>
              </a:ext>
            </a:extLst>
          </p:cNvPr>
          <p:cNvSpPr>
            <a:spLocks xmlns:a="http://schemas.openxmlformats.org/drawingml/2006/main" noGrp="1"/>
          </p:cNvSpPr>
          <p:nvPr/>
        </p:nvSpPr>
        <p:spPr>
          <a:xfrm xmlns:a="http://schemas.openxmlformats.org/drawingml/2006/main">
            <a:off x="3857625" y="21717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Subscriber target, CPU, hugepages, and NIC queues</a:t>
            </a:r>
          </a:p>
        </p:txBody>
      </p:sp>
      <p:sp>
        <p:nvSpPr>
          <p:cNvPr id="8" name="">
            <a:extLst xmlns:a="http://schemas.openxmlformats.org/drawingml/2006/main">
              <a:ext uri="{FF2B5EF4-FFF2-40B4-BE49-F238E27FC236}">
                <a16:creationId xmlns:a16="http://schemas.microsoft.com/office/drawing/2014/main" id="{B00919EE-C24C-4EE3-BA14-280888F6D070}"/>
              </a:ext>
            </a:extLst>
          </p:cNvPr>
          <p:cNvSpPr>
            <a:spLocks xmlns:a="http://schemas.openxmlformats.org/drawingml/2006/main" noGrp="1"/>
          </p:cNvSpPr>
          <p:nvPr/>
        </p:nvSpPr>
        <p:spPr>
          <a:xfrm xmlns:a="http://schemas.openxmlformats.org/drawingml/2006/main">
            <a:off x="685800" y="2743200"/>
            <a:ext cx="7477125" cy="514350"/>
          </a:xfrm>
          <a:prstGeom xmlns:a="http://schemas.openxmlformats.org/drawingml/2006/main" prst="roundRect">
            <a:avLst>
              <a:gd name="adj" fmla="val 22222"/>
            </a:avLst>
          </a:prstGeom>
          <a:solidFill xmlns:a="http://schemas.openxmlformats.org/drawingml/2006/main">
            <a:srgbClr val="103B3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8129F2-3CF8-438B-BC54-24140B56C64A}"/>
              </a:ext>
            </a:extLst>
          </p:cNvPr>
          <p:cNvSpPr>
            <a:spLocks xmlns:a="http://schemas.openxmlformats.org/drawingml/2006/main" noGrp="1"/>
          </p:cNvSpPr>
          <p:nvPr/>
        </p:nvSpPr>
        <p:spPr>
          <a:xfrm xmlns:a="http://schemas.openxmlformats.org/drawingml/2006/main">
            <a:off x="876300" y="284797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a:solidFill>
                  <a:srgbClr val="43D17D"/>
                </a:solidFill>
              </a:defRPr>
            </a:defPPr>
          </a:lstStyle>
          <a:p xmlns:a="http://schemas.openxmlformats.org/drawingml/2006/main">
            <a:pPr algn="ctr">
              <a:defRPr sz="1350" b="1">
                <a:solidFill>
                  <a:srgbClr val="43D17D"/>
                </a:solidFill>
              </a:defRPr>
            </a:pPr>
            <a:r>
              <a:rPr sz="1350" b="1">
                <a:solidFill>
                  <a:srgbClr val="43D17D"/>
                </a:solidFill>
              </a:rPr>
              <a:t>2</a:t>
            </a:r>
          </a:p>
        </p:txBody>
      </p:sp>
      <p:sp>
        <p:nvSpPr>
          <p:cNvPr id="10" name="">
            <a:extLst xmlns:a="http://schemas.openxmlformats.org/drawingml/2006/main">
              <a:ext uri="{FF2B5EF4-FFF2-40B4-BE49-F238E27FC236}">
                <a16:creationId xmlns:a16="http://schemas.microsoft.com/office/drawing/2014/main" id="{4792AD28-CCF8-4353-BB39-7E6757749DBB}"/>
              </a:ext>
            </a:extLst>
          </p:cNvPr>
          <p:cNvSpPr>
            <a:spLocks xmlns:a="http://schemas.openxmlformats.org/drawingml/2006/main" noGrp="1"/>
          </p:cNvSpPr>
          <p:nvPr/>
        </p:nvSpPr>
        <p:spPr>
          <a:xfrm xmlns:a="http://schemas.openxmlformats.org/drawingml/2006/main">
            <a:off x="1381125" y="28289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Data-plane placement</a:t>
            </a:r>
          </a:p>
        </p:txBody>
      </p:sp>
      <p:sp>
        <p:nvSpPr>
          <p:cNvPr id="11" name="">
            <a:extLst xmlns:a="http://schemas.openxmlformats.org/drawingml/2006/main">
              <a:ext uri="{FF2B5EF4-FFF2-40B4-BE49-F238E27FC236}">
                <a16:creationId xmlns:a16="http://schemas.microsoft.com/office/drawing/2014/main" id="{56DDCCB8-DED8-450A-BBAD-64B1DA18A3A0}"/>
              </a:ext>
            </a:extLst>
          </p:cNvPr>
          <p:cNvSpPr>
            <a:spLocks xmlns:a="http://schemas.openxmlformats.org/drawingml/2006/main" noGrp="1"/>
          </p:cNvSpPr>
          <p:nvPr/>
        </p:nvSpPr>
        <p:spPr>
          <a:xfrm xmlns:a="http://schemas.openxmlformats.org/drawingml/2006/main">
            <a:off x="3857625" y="28384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Dedicated VFIO resources and topology-aware affinity</a:t>
            </a:r>
          </a:p>
        </p:txBody>
      </p:sp>
      <p:sp>
        <p:nvSpPr>
          <p:cNvPr id="12" name="">
            <a:extLst xmlns:a="http://schemas.openxmlformats.org/drawingml/2006/main">
              <a:ext uri="{FF2B5EF4-FFF2-40B4-BE49-F238E27FC236}">
                <a16:creationId xmlns:a16="http://schemas.microsoft.com/office/drawing/2014/main" id="{8BDDD8C1-9A73-4426-8A08-0B75BBDA0D88}"/>
              </a:ext>
            </a:extLst>
          </p:cNvPr>
          <p:cNvSpPr>
            <a:spLocks xmlns:a="http://schemas.openxmlformats.org/drawingml/2006/main" noGrp="1"/>
          </p:cNvSpPr>
          <p:nvPr/>
        </p:nvSpPr>
        <p:spPr>
          <a:xfrm xmlns:a="http://schemas.openxmlformats.org/drawingml/2006/main">
            <a:off x="685800" y="3409950"/>
            <a:ext cx="7477125" cy="514350"/>
          </a:xfrm>
          <a:prstGeom xmlns:a="http://schemas.openxmlformats.org/drawingml/2006/main" prst="roundRect">
            <a:avLst>
              <a:gd name="adj" fmla="val 22222"/>
            </a:avLst>
          </a:prstGeom>
          <a:solidFill xmlns:a="http://schemas.openxmlformats.org/drawingml/2006/main">
            <a:srgbClr val="103B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59DF1CB-D677-4E85-B93E-17C3F1522FF5}"/>
              </a:ext>
            </a:extLst>
          </p:cNvPr>
          <p:cNvSpPr>
            <a:spLocks xmlns:a="http://schemas.openxmlformats.org/drawingml/2006/main" noGrp="1"/>
          </p:cNvSpPr>
          <p:nvPr/>
        </p:nvSpPr>
        <p:spPr>
          <a:xfrm xmlns:a="http://schemas.openxmlformats.org/drawingml/2006/main">
            <a:off x="876300" y="351472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a:solidFill>
                  <a:srgbClr val="43D17D"/>
                </a:solidFill>
              </a:defRPr>
            </a:defPPr>
          </a:lstStyle>
          <a:p xmlns:a="http://schemas.openxmlformats.org/drawingml/2006/main">
            <a:pPr algn="ctr">
              <a:defRPr sz="1350" b="1">
                <a:solidFill>
                  <a:srgbClr val="43D17D"/>
                </a:solidFill>
              </a:defRPr>
            </a:pPr>
            <a:r>
              <a:rPr sz="1350" b="1">
                <a:solidFill>
                  <a:srgbClr val="43D17D"/>
                </a:solidFill>
              </a:rPr>
              <a:t>3</a:t>
            </a:r>
          </a:p>
        </p:txBody>
      </p:sp>
      <p:sp>
        <p:nvSpPr>
          <p:cNvPr id="14" name="">
            <a:extLst xmlns:a="http://schemas.openxmlformats.org/drawingml/2006/main">
              <a:ext uri="{FF2B5EF4-FFF2-40B4-BE49-F238E27FC236}">
                <a16:creationId xmlns:a16="http://schemas.microsoft.com/office/drawing/2014/main" id="{691CC888-7B12-431E-AC4C-1962A8257E84}"/>
              </a:ext>
            </a:extLst>
          </p:cNvPr>
          <p:cNvSpPr>
            <a:spLocks xmlns:a="http://schemas.openxmlformats.org/drawingml/2006/main" noGrp="1"/>
          </p:cNvSpPr>
          <p:nvPr/>
        </p:nvSpPr>
        <p:spPr>
          <a:xfrm xmlns:a="http://schemas.openxmlformats.org/drawingml/2006/main">
            <a:off x="1381125" y="34956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Routing integration</a:t>
            </a:r>
          </a:p>
        </p:txBody>
      </p:sp>
      <p:sp>
        <p:nvSpPr>
          <p:cNvPr id="15" name="">
            <a:extLst xmlns:a="http://schemas.openxmlformats.org/drawingml/2006/main">
              <a:ext uri="{FF2B5EF4-FFF2-40B4-BE49-F238E27FC236}">
                <a16:creationId xmlns:a16="http://schemas.microsoft.com/office/drawing/2014/main" id="{F08BB9F0-0363-4C05-AE2E-3B1BFD19AFA8}"/>
              </a:ext>
            </a:extLst>
          </p:cNvPr>
          <p:cNvSpPr>
            <a:spLocks xmlns:a="http://schemas.openxmlformats.org/drawingml/2006/main" noGrp="1"/>
          </p:cNvSpPr>
          <p:nvPr/>
        </p:nvSpPr>
        <p:spPr>
          <a:xfrm xmlns:a="http://schemas.openxmlformats.org/drawingml/2006/main">
            <a:off x="3857625" y="35052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BGP to redundant FRR instances and upstream return routes</a:t>
            </a:r>
          </a:p>
        </p:txBody>
      </p:sp>
      <p:sp>
        <p:nvSpPr>
          <p:cNvPr id="16" name="">
            <a:extLst xmlns:a="http://schemas.openxmlformats.org/drawingml/2006/main">
              <a:ext uri="{FF2B5EF4-FFF2-40B4-BE49-F238E27FC236}">
                <a16:creationId xmlns:a16="http://schemas.microsoft.com/office/drawing/2014/main" id="{2B5D7436-9074-4DC6-958A-E0AB559D6697}"/>
              </a:ext>
            </a:extLst>
          </p:cNvPr>
          <p:cNvSpPr>
            <a:spLocks xmlns:a="http://schemas.openxmlformats.org/drawingml/2006/main" noGrp="1"/>
          </p:cNvSpPr>
          <p:nvPr/>
        </p:nvSpPr>
        <p:spPr>
          <a:xfrm xmlns:a="http://schemas.openxmlformats.org/drawingml/2006/main">
            <a:off x="685800" y="4076700"/>
            <a:ext cx="7477125" cy="514350"/>
          </a:xfrm>
          <a:prstGeom xmlns:a="http://schemas.openxmlformats.org/drawingml/2006/main" prst="roundRect">
            <a:avLst>
              <a:gd name="adj" fmla="val 22222"/>
            </a:avLst>
          </a:prstGeom>
          <a:solidFill xmlns:a="http://schemas.openxmlformats.org/drawingml/2006/main">
            <a:srgbClr val="103B3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7A2D0B9-72FE-4696-BCF3-028172286D9E}"/>
              </a:ext>
            </a:extLst>
          </p:cNvPr>
          <p:cNvSpPr>
            <a:spLocks xmlns:a="http://schemas.openxmlformats.org/drawingml/2006/main" noGrp="1"/>
          </p:cNvSpPr>
          <p:nvPr/>
        </p:nvSpPr>
        <p:spPr>
          <a:xfrm xmlns:a="http://schemas.openxmlformats.org/drawingml/2006/main">
            <a:off x="876300" y="418147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a:solidFill>
                  <a:srgbClr val="43D17D"/>
                </a:solidFill>
              </a:defRPr>
            </a:defPPr>
          </a:lstStyle>
          <a:p xmlns:a="http://schemas.openxmlformats.org/drawingml/2006/main">
            <a:pPr algn="ctr">
              <a:defRPr sz="1350" b="1">
                <a:solidFill>
                  <a:srgbClr val="43D17D"/>
                </a:solidFill>
              </a:defRPr>
            </a:pPr>
            <a:r>
              <a:rPr sz="1350" b="1">
                <a:solidFill>
                  <a:srgbClr val="43D17D"/>
                </a:solidFill>
              </a:rPr>
              <a:t>4</a:t>
            </a:r>
          </a:p>
        </p:txBody>
      </p:sp>
      <p:sp>
        <p:nvSpPr>
          <p:cNvPr id="18" name="">
            <a:extLst xmlns:a="http://schemas.openxmlformats.org/drawingml/2006/main">
              <a:ext uri="{FF2B5EF4-FFF2-40B4-BE49-F238E27FC236}">
                <a16:creationId xmlns:a16="http://schemas.microsoft.com/office/drawing/2014/main" id="{D2894E57-0AE7-4689-AD70-4A7591D18C80}"/>
              </a:ext>
            </a:extLst>
          </p:cNvPr>
          <p:cNvSpPr>
            <a:spLocks xmlns:a="http://schemas.openxmlformats.org/drawingml/2006/main" noGrp="1"/>
          </p:cNvSpPr>
          <p:nvPr/>
        </p:nvSpPr>
        <p:spPr>
          <a:xfrm xmlns:a="http://schemas.openxmlformats.org/drawingml/2006/main">
            <a:off x="1381125" y="41624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Operations</a:t>
            </a:r>
          </a:p>
        </p:txBody>
      </p:sp>
      <p:sp>
        <p:nvSpPr>
          <p:cNvPr id="19" name="">
            <a:extLst xmlns:a="http://schemas.openxmlformats.org/drawingml/2006/main">
              <a:ext uri="{FF2B5EF4-FFF2-40B4-BE49-F238E27FC236}">
                <a16:creationId xmlns:a16="http://schemas.microsoft.com/office/drawing/2014/main" id="{663CE7DA-51FD-442F-B1B9-096710ABAF26}"/>
              </a:ext>
            </a:extLst>
          </p:cNvPr>
          <p:cNvSpPr>
            <a:spLocks xmlns:a="http://schemas.openxmlformats.org/drawingml/2006/main" noGrp="1"/>
          </p:cNvSpPr>
          <p:nvPr/>
        </p:nvSpPr>
        <p:spPr>
          <a:xfrm xmlns:a="http://schemas.openxmlformats.org/drawingml/2006/main">
            <a:off x="3857625" y="4171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Versioned Helm releases, metrics, logs, and rollback</a:t>
            </a:r>
          </a:p>
        </p:txBody>
      </p:sp>
      <p:sp>
        <p:nvSpPr>
          <p:cNvPr id="20" name="">
            <a:extLst xmlns:a="http://schemas.openxmlformats.org/drawingml/2006/main">
              <a:ext uri="{FF2B5EF4-FFF2-40B4-BE49-F238E27FC236}">
                <a16:creationId xmlns:a16="http://schemas.microsoft.com/office/drawing/2014/main" id="{D06ACE08-3C88-49B7-A06E-5249786A7BAB}"/>
              </a:ext>
            </a:extLst>
          </p:cNvPr>
          <p:cNvSpPr>
            <a:spLocks xmlns:a="http://schemas.openxmlformats.org/drawingml/2006/main" noGrp="1"/>
          </p:cNvSpPr>
          <p:nvPr/>
        </p:nvSpPr>
        <p:spPr>
          <a:xfrm xmlns:a="http://schemas.openxmlformats.org/drawingml/2006/main">
            <a:off x="685800" y="4743450"/>
            <a:ext cx="7477125" cy="514350"/>
          </a:xfrm>
          <a:prstGeom xmlns:a="http://schemas.openxmlformats.org/drawingml/2006/main" prst="roundRect">
            <a:avLst>
              <a:gd name="adj" fmla="val 22222"/>
            </a:avLst>
          </a:prstGeom>
          <a:solidFill xmlns:a="http://schemas.openxmlformats.org/drawingml/2006/main">
            <a:srgbClr val="2A304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0C0C725-8A47-4F44-ABA1-27C853CA1EFF}"/>
              </a:ext>
            </a:extLst>
          </p:cNvPr>
          <p:cNvSpPr>
            <a:spLocks xmlns:a="http://schemas.openxmlformats.org/drawingml/2006/main" noGrp="1"/>
          </p:cNvSpPr>
          <p:nvPr/>
        </p:nvSpPr>
        <p:spPr>
          <a:xfrm xmlns:a="http://schemas.openxmlformats.org/drawingml/2006/main">
            <a:off x="876300" y="484822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a:solidFill>
                  <a:srgbClr val="FF9D42"/>
                </a:solidFill>
              </a:defRPr>
            </a:defPPr>
          </a:lstStyle>
          <a:p xmlns:a="http://schemas.openxmlformats.org/drawingml/2006/main">
            <a:pPr algn="ctr">
              <a:defRPr sz="1350" b="1">
                <a:solidFill>
                  <a:srgbClr val="FF9D42"/>
                </a:solidFill>
              </a:defRPr>
            </a:pPr>
            <a:r>
              <a:rPr sz="1350" b="1">
                <a:solidFill>
                  <a:srgbClr val="FF9D42"/>
                </a:solidFill>
              </a:rPr>
              <a:t>5</a:t>
            </a:r>
          </a:p>
        </p:txBody>
      </p:sp>
      <p:sp>
        <p:nvSpPr>
          <p:cNvPr id="22" name="">
            <a:extLst xmlns:a="http://schemas.openxmlformats.org/drawingml/2006/main">
              <a:ext uri="{FF2B5EF4-FFF2-40B4-BE49-F238E27FC236}">
                <a16:creationId xmlns:a16="http://schemas.microsoft.com/office/drawing/2014/main" id="{59A95390-D6F3-47F8-997F-C14C6A62C020}"/>
              </a:ext>
            </a:extLst>
          </p:cNvPr>
          <p:cNvSpPr>
            <a:spLocks xmlns:a="http://schemas.openxmlformats.org/drawingml/2006/main" noGrp="1"/>
          </p:cNvSpPr>
          <p:nvPr/>
        </p:nvSpPr>
        <p:spPr>
          <a:xfrm xmlns:a="http://schemas.openxmlformats.org/drawingml/2006/main">
            <a:off x="1381125" y="48291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7FBFF"/>
                </a:solidFill>
              </a:defRPr>
            </a:defPPr>
          </a:lstStyle>
          <a:p xmlns:a="http://schemas.openxmlformats.org/drawingml/2006/main">
            <a:pPr algn="l">
              <a:defRPr sz="1350" b="1">
                <a:solidFill>
                  <a:srgbClr val="F7FBFF"/>
                </a:solidFill>
              </a:defRPr>
            </a:pPr>
            <a:r>
              <a:rPr sz="1350" b="1">
                <a:solidFill>
                  <a:srgbClr val="F7FBFF"/>
                </a:solidFill>
              </a:rPr>
              <a:t>Availability</a:t>
            </a:r>
          </a:p>
        </p:txBody>
      </p:sp>
      <p:sp>
        <p:nvSpPr>
          <p:cNvPr id="23" name="">
            <a:extLst xmlns:a="http://schemas.openxmlformats.org/drawingml/2006/main">
              <a:ext uri="{FF2B5EF4-FFF2-40B4-BE49-F238E27FC236}">
                <a16:creationId xmlns:a16="http://schemas.microsoft.com/office/drawing/2014/main" id="{5C3E7440-0449-4739-A2E7-2A3F4785719F}"/>
              </a:ext>
            </a:extLst>
          </p:cNvPr>
          <p:cNvSpPr>
            <a:spLocks xmlns:a="http://schemas.openxmlformats.org/drawingml/2006/main" noGrp="1"/>
          </p:cNvSpPr>
          <p:nvPr/>
        </p:nvSpPr>
        <p:spPr>
          <a:xfrm xmlns:a="http://schemas.openxmlformats.org/drawingml/2006/main">
            <a:off x="3857625" y="48387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A9C1D2"/>
                </a:solidFill>
              </a:defRPr>
            </a:defPPr>
          </a:lstStyle>
          <a:p xmlns:a="http://schemas.openxmlformats.org/drawingml/2006/main">
            <a:pPr algn="l">
              <a:defRPr sz="1125" b="0">
                <a:solidFill>
                  <a:srgbClr val="A9C1D2"/>
                </a:solidFill>
              </a:defRPr>
            </a:pPr>
            <a:r>
              <a:rPr sz="1125" b="0">
                <a:solidFill>
                  <a:srgbClr val="A9C1D2"/>
                </a:solidFill>
              </a:rPr>
              <a:t>Two placements, anti-affinity, and recovery testing</a:t>
            </a:r>
          </a:p>
        </p:txBody>
      </p:sp>
      <p:sp>
        <p:nvSpPr>
          <p:cNvPr id="24" name="">
            <a:extLst xmlns:a="http://schemas.openxmlformats.org/drawingml/2006/main">
              <a:ext uri="{FF2B5EF4-FFF2-40B4-BE49-F238E27FC236}">
                <a16:creationId xmlns:a16="http://schemas.microsoft.com/office/drawing/2014/main" id="{1598D4B4-2BC6-4EA7-9230-08BE91DD9CA0}"/>
              </a:ext>
            </a:extLst>
          </p:cNvPr>
          <p:cNvSpPr>
            <a:spLocks xmlns:a="http://schemas.openxmlformats.org/drawingml/2006/main" noGrp="1"/>
          </p:cNvSpPr>
          <p:nvPr/>
        </p:nvSpPr>
        <p:spPr>
          <a:xfrm xmlns:a="http://schemas.openxmlformats.org/drawingml/2006/main">
            <a:off x="8524875" y="2076450"/>
            <a:ext cx="2981325" cy="3181350"/>
          </a:xfrm>
          <a:prstGeom xmlns:a="http://schemas.openxmlformats.org/drawingml/2006/main" prst="roundRect">
            <a:avLst>
              <a:gd name="adj" fmla="val 5112"/>
            </a:avLst>
          </a:prstGeom>
          <a:solidFill xmlns:a="http://schemas.openxmlformats.org/drawingml/2006/main">
            <a:srgbClr val="123A49"/>
          </a:solidFill>
          <a:ln xmlns:a="http://schemas.openxmlformats.org/drawingml/2006/main" w="9525">
            <a:solidFill>
              <a:srgbClr val="23D5D2"/>
            </a:solidFill>
            <a:prstDash val="solid"/>
          </a:ln>
        </p:spPr>
      </p:sp>
      <p:sp>
        <p:nvSpPr>
          <p:cNvPr id="25" name="">
            <a:extLst xmlns:a="http://schemas.openxmlformats.org/drawingml/2006/main">
              <a:ext uri="{FF2B5EF4-FFF2-40B4-BE49-F238E27FC236}">
                <a16:creationId xmlns:a16="http://schemas.microsoft.com/office/drawing/2014/main" id="{92300044-8FF4-4C65-BBDC-348C5F140E11}"/>
              </a:ext>
            </a:extLst>
          </p:cNvPr>
          <p:cNvSpPr>
            <a:spLocks xmlns:a="http://schemas.openxmlformats.org/drawingml/2006/main" noGrp="1"/>
          </p:cNvSpPr>
          <p:nvPr/>
        </p:nvSpPr>
        <p:spPr>
          <a:xfrm xmlns:a="http://schemas.openxmlformats.org/drawingml/2006/main">
            <a:off x="8810625" y="2381250"/>
            <a:ext cx="2409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3D5D2"/>
                </a:solidFill>
              </a:defRPr>
            </a:defPPr>
          </a:lstStyle>
          <a:p xmlns:a="http://schemas.openxmlformats.org/drawingml/2006/main">
            <a:pPr algn="ctr">
              <a:defRPr sz="1800" b="1">
                <a:solidFill>
                  <a:srgbClr val="23D5D2"/>
                </a:solidFill>
              </a:defRPr>
            </a:pPr>
            <a:r>
              <a:rPr sz="1800" b="1">
                <a:solidFill>
                  <a:srgbClr val="23D5D2"/>
                </a:solidFill>
              </a:rPr>
              <a:t>Takeaway</a:t>
            </a:r>
          </a:p>
        </p:txBody>
      </p:sp>
      <p:sp>
        <p:nvSpPr>
          <p:cNvPr id="26" name="">
            <a:extLst xmlns:a="http://schemas.openxmlformats.org/drawingml/2006/main">
              <a:ext uri="{FF2B5EF4-FFF2-40B4-BE49-F238E27FC236}">
                <a16:creationId xmlns:a16="http://schemas.microsoft.com/office/drawing/2014/main" id="{A9B149CE-2BBE-4A0E-8457-757221889D02}"/>
              </a:ext>
            </a:extLst>
          </p:cNvPr>
          <p:cNvSpPr>
            <a:spLocks xmlns:a="http://schemas.openxmlformats.org/drawingml/2006/main" noGrp="1"/>
          </p:cNvSpPr>
          <p:nvPr/>
        </p:nvSpPr>
        <p:spPr>
          <a:xfrm xmlns:a="http://schemas.openxmlformats.org/drawingml/2006/main">
            <a:off x="8810625" y="2952750"/>
            <a:ext cx="240982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F7FBFF"/>
                </a:solidFill>
              </a:defRPr>
            </a:defPPr>
          </a:lstStyle>
          <a:p xmlns:a="http://schemas.openxmlformats.org/drawingml/2006/main">
            <a:pPr algn="ctr">
              <a:defRPr sz="1800" b="1">
                <a:solidFill>
                  <a:srgbClr val="F7FBFF"/>
                </a:solidFill>
              </a:defRPr>
            </a:pPr>
            <a:r>
              <a:rPr sz="1800" b="1">
                <a:solidFill>
                  <a:srgbClr val="F7FBFF"/>
                </a:solidFill>
              </a:rPr>
              <a:t>Kubernetes can host the broadband edge when packet I/O remains explicit.</a:t>
            </a:r>
          </a:p>
        </p:txBody>
      </p:sp>
      <p:sp>
        <p:nvSpPr>
          <p:cNvPr id="27" name="">
            <a:extLst xmlns:a="http://schemas.openxmlformats.org/drawingml/2006/main">
              <a:ext uri="{FF2B5EF4-FFF2-40B4-BE49-F238E27FC236}">
                <a16:creationId xmlns:a16="http://schemas.microsoft.com/office/drawing/2014/main" id="{2DECF9F8-7BE1-4A0E-A0FD-94C24A3F4A47}"/>
              </a:ext>
            </a:extLst>
          </p:cNvPr>
          <p:cNvSpPr>
            <a:spLocks xmlns:a="http://schemas.openxmlformats.org/drawingml/2006/main" noGrp="1"/>
          </p:cNvSpPr>
          <p:nvPr/>
        </p:nvSpPr>
        <p:spPr>
          <a:xfrm xmlns:a="http://schemas.openxmlformats.org/drawingml/2006/main">
            <a:off x="9001125" y="4171950"/>
            <a:ext cx="2000250" cy="28575"/>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28" name="">
            <a:extLst xmlns:a="http://schemas.openxmlformats.org/drawingml/2006/main">
              <a:ext uri="{FF2B5EF4-FFF2-40B4-BE49-F238E27FC236}">
                <a16:creationId xmlns:a16="http://schemas.microsoft.com/office/drawing/2014/main" id="{7487D03D-D4F7-41C6-B71B-40D61F7A5FC3}"/>
              </a:ext>
            </a:extLst>
          </p:cNvPr>
          <p:cNvSpPr>
            <a:spLocks xmlns:a="http://schemas.openxmlformats.org/drawingml/2006/main" noGrp="1"/>
          </p:cNvSpPr>
          <p:nvPr/>
        </p:nvSpPr>
        <p:spPr>
          <a:xfrm xmlns:a="http://schemas.openxmlformats.org/drawingml/2006/main">
            <a:off x="9001125" y="4429125"/>
            <a:ext cx="2000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a:solidFill>
                  <a:srgbClr val="A9C1D2"/>
                </a:solidFill>
              </a:defRPr>
            </a:defPPr>
          </a:lstStyle>
          <a:p xmlns:a="http://schemas.openxmlformats.org/drawingml/2006/main">
            <a:pPr algn="ctr">
              <a:defRPr sz="1425" b="1">
                <a:solidFill>
                  <a:srgbClr val="A9C1D2"/>
                </a:solidFill>
              </a:defRPr>
            </a:pPr>
            <a:r>
              <a:rPr sz="1425" b="1">
                <a:solidFill>
                  <a:srgbClr val="A9C1D2"/>
                </a:solidFill>
              </a:rPr>
              <a:t>Package the function.</a:t>
            </a:r>
          </a:p>
          <a:p xmlns:a="http://schemas.openxmlformats.org/drawingml/2006/main">
            <a:pPr algn="ctr">
              <a:defRPr sz="1425" b="1">
                <a:solidFill>
                  <a:srgbClr val="A9C1D2"/>
                </a:solidFill>
              </a:defRPr>
            </a:pPr>
            <a:r>
              <a:rPr sz="1425" b="1">
                <a:solidFill>
                  <a:srgbClr val="A9C1D2"/>
                </a:solidFill>
              </a:rPr>
              <a:t>Reserve the resources.</a:t>
            </a:r>
          </a:p>
          <a:p xmlns:a="http://schemas.openxmlformats.org/drawingml/2006/main">
            <a:pPr algn="ctr">
              <a:defRPr sz="1425" b="1">
                <a:solidFill>
                  <a:srgbClr val="A9C1D2"/>
                </a:solidFill>
              </a:defRPr>
            </a:pPr>
            <a:r>
              <a:rPr sz="1425" b="1">
                <a:solidFill>
                  <a:srgbClr val="A9C1D2"/>
                </a:solidFill>
              </a:rPr>
              <a:t>Test the complete path.</a:t>
            </a:r>
          </a:p>
        </p:txBody>
      </p:sp>
      <p:sp>
        <p:nvSpPr>
          <p:cNvPr id="29" name="">
            <a:extLst xmlns:a="http://schemas.openxmlformats.org/drawingml/2006/main">
              <a:ext uri="{FF2B5EF4-FFF2-40B4-BE49-F238E27FC236}">
                <a16:creationId xmlns:a16="http://schemas.microsoft.com/office/drawing/2014/main" id="{92178AD5-93FE-4F8E-ACC5-8195BEA5662B}"/>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30" name="">
            <a:extLst xmlns:a="http://schemas.openxmlformats.org/drawingml/2006/main">
              <a:ext uri="{FF2B5EF4-FFF2-40B4-BE49-F238E27FC236}">
                <a16:creationId xmlns:a16="http://schemas.microsoft.com/office/drawing/2014/main" id="{DE02061D-225E-4DED-B8BA-5D66D349A6AD}"/>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Reference implementation: github.com/infinitydon/cloud-native-vbng-edge-lab</a:t>
            </a:r>
          </a:p>
        </p:txBody>
      </p:sp>
      <p:sp>
        <p:nvSpPr>
          <p:cNvPr id="31" name="">
            <a:extLst xmlns:a="http://schemas.openxmlformats.org/drawingml/2006/main">
              <a:ext uri="{FF2B5EF4-FFF2-40B4-BE49-F238E27FC236}">
                <a16:creationId xmlns:a16="http://schemas.microsoft.com/office/drawing/2014/main" id="{FA6D7DE6-B304-46F4-9BF6-3EB2F553685D}"/>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09</a:t>
            </a:r>
          </a:p>
        </p:txBody>
      </p:sp>
    </p:spTree>
    <p:extLst>
      <p:ext uri="{BB962C8B-B14F-4D97-AF65-F5344CB8AC3E}">
        <p14:creationId xmlns:p14="http://schemas.microsoft.com/office/powerpoint/2010/main" val="461574763"/>
      </p:ext>
    </p:extLst>
  </p:cSld>
</p:sld>
</file>

<file path=ppt/slides/slide10.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6067255-D23D-4203-92B8-103008423CF5}"/>
              </a:ext>
            </a:extLst>
          </p:cNvPr>
          <p:cNvSpPr>
            <a:spLocks xmlns:a="http://schemas.openxmlformats.org/drawingml/2006/main" noGrp="1"/>
          </p:cNvSpPr>
          <p:nvPr/>
        </p:nvSpPr>
        <p:spPr>
          <a:xfrm xmlns:a="http://schemas.openxmlformats.org/drawingml/2006/main">
            <a:off x="685800" y="457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a:solidFill>
                  <a:srgbClr val="23D5D2"/>
                </a:solidFill>
              </a:defRPr>
            </a:defPPr>
          </a:lstStyle>
          <a:p xmlns:a="http://schemas.openxmlformats.org/drawingml/2006/main">
            <a:pPr algn="l">
              <a:defRPr sz="975" b="1">
                <a:solidFill>
                  <a:srgbClr val="23D5D2"/>
                </a:solidFill>
              </a:defRPr>
            </a:pPr>
            <a:r>
              <a:rPr sz="975" b="1">
                <a:solidFill>
                  <a:srgbClr val="23D5D2"/>
                </a:solidFill>
              </a:rPr>
              <a:t>CLOSEOUT</a:t>
            </a:r>
          </a:p>
        </p:txBody>
      </p:sp>
      <p:sp>
        <p:nvSpPr>
          <p:cNvPr id="2" name="">
            <a:extLst xmlns:a="http://schemas.openxmlformats.org/drawingml/2006/main">
              <a:ext uri="{FF2B5EF4-FFF2-40B4-BE49-F238E27FC236}">
                <a16:creationId xmlns:a16="http://schemas.microsoft.com/office/drawing/2014/main" id="{57B66BD6-0D87-4F6E-A460-A6831BBC268C}"/>
              </a:ext>
            </a:extLst>
          </p:cNvPr>
          <p:cNvSpPr>
            <a:spLocks xmlns:a="http://schemas.openxmlformats.org/drawingml/2006/main" noGrp="1"/>
          </p:cNvSpPr>
          <p:nvPr/>
        </p:nvSpPr>
        <p:spPr>
          <a:xfrm xmlns:a="http://schemas.openxmlformats.org/drawingml/2006/main">
            <a:off x="685800" y="819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550" b="1">
                <a:solidFill>
                  <a:srgbClr val="F7FBFF"/>
                </a:solidFill>
              </a:defRPr>
            </a:defPPr>
          </a:lstStyle>
          <a:p xmlns:a="http://schemas.openxmlformats.org/drawingml/2006/main">
            <a:pPr algn="l">
              <a:defRPr sz="2550" b="1">
                <a:solidFill>
                  <a:srgbClr val="F7FBFF"/>
                </a:solidFill>
              </a:defRPr>
            </a:pPr>
            <a:r>
              <a:rPr sz="2550" b="1">
                <a:solidFill>
                  <a:srgbClr val="F7FBFF"/>
                </a:solidFill>
              </a:rPr>
              <a:t>Optional MCP and AI operations layer</a:t>
            </a:r>
          </a:p>
        </p:txBody>
      </p:sp>
      <p:sp>
        <p:nvSpPr>
          <p:cNvPr id="3" name="">
            <a:extLst xmlns:a="http://schemas.openxmlformats.org/drawingml/2006/main">
              <a:ext uri="{FF2B5EF4-FFF2-40B4-BE49-F238E27FC236}">
                <a16:creationId xmlns:a16="http://schemas.microsoft.com/office/drawing/2014/main" id="{85CC7EA3-373B-4560-A19A-D0A1B41AECBC}"/>
              </a:ext>
            </a:extLst>
          </p:cNvPr>
          <p:cNvSpPr>
            <a:spLocks xmlns:a="http://schemas.openxmlformats.org/drawingml/2006/main" noGrp="1"/>
          </p:cNvSpPr>
          <p:nvPr/>
        </p:nvSpPr>
        <p:spPr>
          <a:xfrm xmlns:a="http://schemas.openxmlformats.org/drawingml/2006/main">
            <a:off x="685800" y="145732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a:solidFill>
                  <a:srgbClr val="A9C1D2"/>
                </a:solidFill>
              </a:defRPr>
            </a:defPPr>
          </a:lstStyle>
          <a:p xmlns:a="http://schemas.openxmlformats.org/drawingml/2006/main">
            <a:pPr algn="l">
              <a:defRPr sz="1350" b="0">
                <a:solidFill>
                  <a:srgbClr val="A9C1D2"/>
                </a:solidFill>
              </a:defRPr>
            </a:pPr>
            <a:r>
              <a:rPr sz="1350" b="0">
                <a:solidFill>
                  <a:srgbClr val="A9C1D2"/>
                </a:solidFill>
              </a:rPr>
              <a:t>Keep the automation layer separate from the network-function Helm charts.</a:t>
            </a:r>
          </a:p>
        </p:txBody>
      </p:sp>
      <p:sp>
        <p:nvSpPr>
          <p:cNvPr id="4" name="">
            <a:extLst xmlns:a="http://schemas.openxmlformats.org/drawingml/2006/main">
              <a:ext uri="{FF2B5EF4-FFF2-40B4-BE49-F238E27FC236}">
                <a16:creationId xmlns:a16="http://schemas.microsoft.com/office/drawing/2014/main" id="{1649165A-18E2-4608-9CAE-465983D1563D}"/>
              </a:ext>
            </a:extLst>
          </p:cNvPr>
          <p:cNvSpPr>
            <a:spLocks xmlns:a="http://schemas.openxmlformats.org/drawingml/2006/main" noGrp="1"/>
          </p:cNvSpPr>
          <p:nvPr/>
        </p:nvSpPr>
        <p:spPr>
          <a:xfrm xmlns:a="http://schemas.openxmlformats.org/drawingml/2006/main">
            <a:off x="619125" y="2571750"/>
            <a:ext cx="209550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5" name="">
            <a:extLst xmlns:a="http://schemas.openxmlformats.org/drawingml/2006/main">
              <a:ext uri="{FF2B5EF4-FFF2-40B4-BE49-F238E27FC236}">
                <a16:creationId xmlns:a16="http://schemas.microsoft.com/office/drawing/2014/main" id="{6E657310-CEE2-4DB2-B3DA-B7820AB30878}"/>
              </a:ext>
            </a:extLst>
          </p:cNvPr>
          <p:cNvSpPr>
            <a:spLocks xmlns:a="http://schemas.openxmlformats.org/drawingml/2006/main" noGrp="1"/>
          </p:cNvSpPr>
          <p:nvPr/>
        </p:nvSpPr>
        <p:spPr>
          <a:xfrm xmlns:a="http://schemas.openxmlformats.org/drawingml/2006/main">
            <a:off x="619125" y="2571750"/>
            <a:ext cx="57150" cy="1381125"/>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6" name="">
            <a:extLst xmlns:a="http://schemas.openxmlformats.org/drawingml/2006/main">
              <a:ext uri="{FF2B5EF4-FFF2-40B4-BE49-F238E27FC236}">
                <a16:creationId xmlns:a16="http://schemas.microsoft.com/office/drawing/2014/main" id="{09D756F4-D251-4CAF-8CFB-B839EE112580}"/>
              </a:ext>
            </a:extLst>
          </p:cNvPr>
          <p:cNvSpPr>
            <a:spLocks xmlns:a="http://schemas.openxmlformats.org/drawingml/2006/main" noGrp="1"/>
          </p:cNvSpPr>
          <p:nvPr/>
        </p:nvSpPr>
        <p:spPr>
          <a:xfrm xmlns:a="http://schemas.openxmlformats.org/drawingml/2006/main">
            <a:off x="809625" y="27051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Operations UI</a:t>
            </a:r>
          </a:p>
        </p:txBody>
      </p:sp>
      <p:sp>
        <p:nvSpPr>
          <p:cNvPr id="7" name="">
            <a:extLst xmlns:a="http://schemas.openxmlformats.org/drawingml/2006/main">
              <a:ext uri="{FF2B5EF4-FFF2-40B4-BE49-F238E27FC236}">
                <a16:creationId xmlns:a16="http://schemas.microsoft.com/office/drawing/2014/main" id="{EB8D7ED2-D5C3-4E79-87E0-36A8F179B728}"/>
              </a:ext>
            </a:extLst>
          </p:cNvPr>
          <p:cNvSpPr>
            <a:spLocks xmlns:a="http://schemas.openxmlformats.org/drawingml/2006/main" noGrp="1"/>
          </p:cNvSpPr>
          <p:nvPr/>
        </p:nvSpPr>
        <p:spPr>
          <a:xfrm xmlns:a="http://schemas.openxmlformats.org/drawingml/2006/main">
            <a:off x="809625" y="3257550"/>
            <a:ext cx="17907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Natural-language queries</a:t>
            </a:r>
          </a:p>
          <a:p xmlns:a="http://schemas.openxmlformats.org/drawingml/2006/main">
            <a:pPr algn="l">
              <a:defRPr sz="975" b="0">
                <a:solidFill>
                  <a:srgbClr val="A9C1D2"/>
                </a:solidFill>
              </a:defRPr>
            </a:pPr>
            <a:r>
              <a:rPr sz="975" b="0">
                <a:solidFill>
                  <a:srgbClr val="A9C1D2"/>
                </a:solidFill>
              </a:rPr>
              <a:t>and formatted responses</a:t>
            </a:r>
          </a:p>
        </p:txBody>
      </p:sp>
      <p:sp>
        <p:nvSpPr>
          <p:cNvPr id="8" name="">
            <a:extLst xmlns:a="http://schemas.openxmlformats.org/drawingml/2006/main">
              <a:ext uri="{FF2B5EF4-FFF2-40B4-BE49-F238E27FC236}">
                <a16:creationId xmlns:a16="http://schemas.microsoft.com/office/drawing/2014/main" id="{B47D32C4-D216-4010-9722-D145B874A565}"/>
              </a:ext>
            </a:extLst>
          </p:cNvPr>
          <p:cNvSpPr>
            <a:spLocks xmlns:a="http://schemas.openxmlformats.org/drawingml/2006/main" noGrp="1"/>
          </p:cNvSpPr>
          <p:nvPr/>
        </p:nvSpPr>
        <p:spPr>
          <a:xfrm xmlns:a="http://schemas.openxmlformats.org/drawingml/2006/main">
            <a:off x="3333750" y="2571750"/>
            <a:ext cx="209550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9" name="">
            <a:extLst xmlns:a="http://schemas.openxmlformats.org/drawingml/2006/main">
              <a:ext uri="{FF2B5EF4-FFF2-40B4-BE49-F238E27FC236}">
                <a16:creationId xmlns:a16="http://schemas.microsoft.com/office/drawing/2014/main" id="{8492DD0B-B5FE-4E29-AA75-AF6F619B96B8}"/>
              </a:ext>
            </a:extLst>
          </p:cNvPr>
          <p:cNvSpPr>
            <a:spLocks xmlns:a="http://schemas.openxmlformats.org/drawingml/2006/main" noGrp="1"/>
          </p:cNvSpPr>
          <p:nvPr/>
        </p:nvSpPr>
        <p:spPr>
          <a:xfrm xmlns:a="http://schemas.openxmlformats.org/drawingml/2006/main">
            <a:off x="3333750" y="2571750"/>
            <a:ext cx="57150" cy="1381125"/>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10" name="">
            <a:extLst xmlns:a="http://schemas.openxmlformats.org/drawingml/2006/main">
              <a:ext uri="{FF2B5EF4-FFF2-40B4-BE49-F238E27FC236}">
                <a16:creationId xmlns:a16="http://schemas.microsoft.com/office/drawing/2014/main" id="{11E108B6-3662-4E4D-A7B7-807D4BB54656}"/>
              </a:ext>
            </a:extLst>
          </p:cNvPr>
          <p:cNvSpPr>
            <a:spLocks xmlns:a="http://schemas.openxmlformats.org/drawingml/2006/main" noGrp="1"/>
          </p:cNvSpPr>
          <p:nvPr/>
        </p:nvSpPr>
        <p:spPr>
          <a:xfrm xmlns:a="http://schemas.openxmlformats.org/drawingml/2006/main">
            <a:off x="3524250" y="27051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AgentGateway</a:t>
            </a:r>
          </a:p>
        </p:txBody>
      </p:sp>
      <p:sp>
        <p:nvSpPr>
          <p:cNvPr id="11" name="">
            <a:extLst xmlns:a="http://schemas.openxmlformats.org/drawingml/2006/main">
              <a:ext uri="{FF2B5EF4-FFF2-40B4-BE49-F238E27FC236}">
                <a16:creationId xmlns:a16="http://schemas.microsoft.com/office/drawing/2014/main" id="{B8818125-625B-48BB-ACB1-BA5FC7673B68}"/>
              </a:ext>
            </a:extLst>
          </p:cNvPr>
          <p:cNvSpPr>
            <a:spLocks xmlns:a="http://schemas.openxmlformats.org/drawingml/2006/main" noGrp="1"/>
          </p:cNvSpPr>
          <p:nvPr/>
        </p:nvSpPr>
        <p:spPr>
          <a:xfrm xmlns:a="http://schemas.openxmlformats.org/drawingml/2006/main">
            <a:off x="3524250" y="3257550"/>
            <a:ext cx="17907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Authentication</a:t>
            </a:r>
          </a:p>
          <a:p xmlns:a="http://schemas.openxmlformats.org/drawingml/2006/main">
            <a:pPr algn="l">
              <a:defRPr sz="975" b="0">
                <a:solidFill>
                  <a:srgbClr val="A9C1D2"/>
                </a:solidFill>
              </a:defRPr>
            </a:pPr>
            <a:r>
              <a:rPr sz="975" b="0">
                <a:solidFill>
                  <a:srgbClr val="A9C1D2"/>
                </a:solidFill>
              </a:rPr>
              <a:t>and tool authorization</a:t>
            </a:r>
          </a:p>
        </p:txBody>
      </p:sp>
      <p:sp>
        <p:nvSpPr>
          <p:cNvPr id="12" name="">
            <a:extLst xmlns:a="http://schemas.openxmlformats.org/drawingml/2006/main">
              <a:ext uri="{FF2B5EF4-FFF2-40B4-BE49-F238E27FC236}">
                <a16:creationId xmlns:a16="http://schemas.microsoft.com/office/drawing/2014/main" id="{66F575EB-CB53-4073-BB17-C944EF5D8506}"/>
              </a:ext>
            </a:extLst>
          </p:cNvPr>
          <p:cNvSpPr>
            <a:spLocks xmlns:a="http://schemas.openxmlformats.org/drawingml/2006/main" noGrp="1"/>
          </p:cNvSpPr>
          <p:nvPr/>
        </p:nvSpPr>
        <p:spPr>
          <a:xfrm xmlns:a="http://schemas.openxmlformats.org/drawingml/2006/main">
            <a:off x="6048375" y="2571750"/>
            <a:ext cx="209550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13" name="">
            <a:extLst xmlns:a="http://schemas.openxmlformats.org/drawingml/2006/main">
              <a:ext uri="{FF2B5EF4-FFF2-40B4-BE49-F238E27FC236}">
                <a16:creationId xmlns:a16="http://schemas.microsoft.com/office/drawing/2014/main" id="{A058A59B-4251-4584-B07B-565B51D6AC8C}"/>
              </a:ext>
            </a:extLst>
          </p:cNvPr>
          <p:cNvSpPr>
            <a:spLocks xmlns:a="http://schemas.openxmlformats.org/drawingml/2006/main" noGrp="1"/>
          </p:cNvSpPr>
          <p:nvPr/>
        </p:nvSpPr>
        <p:spPr>
          <a:xfrm xmlns:a="http://schemas.openxmlformats.org/drawingml/2006/main">
            <a:off x="6048375" y="2571750"/>
            <a:ext cx="57150" cy="1381125"/>
          </a:xfrm>
          <a:prstGeom xmlns:a="http://schemas.openxmlformats.org/drawingml/2006/main" prst="rect">
            <a:avLst/>
          </a:prstGeom>
          <a:solidFill xmlns:a="http://schemas.openxmlformats.org/drawingml/2006/main">
            <a:srgbClr val="43D17D"/>
          </a:solidFill>
          <a:ln xmlns:a="http://schemas.openxmlformats.org/drawingml/2006/main" w="0">
            <a:solidFill>
              <a:srgbClr val="43D17D"/>
            </a:solidFill>
            <a:prstDash val="solid"/>
          </a:ln>
        </p:spPr>
      </p:sp>
      <p:sp>
        <p:nvSpPr>
          <p:cNvPr id="14" name="">
            <a:extLst xmlns:a="http://schemas.openxmlformats.org/drawingml/2006/main">
              <a:ext uri="{FF2B5EF4-FFF2-40B4-BE49-F238E27FC236}">
                <a16:creationId xmlns:a16="http://schemas.microsoft.com/office/drawing/2014/main" id="{1B16078E-E23D-4A0B-80F5-D4C2EC64ECDF}"/>
              </a:ext>
            </a:extLst>
          </p:cNvPr>
          <p:cNvSpPr>
            <a:spLocks xmlns:a="http://schemas.openxmlformats.org/drawingml/2006/main" noGrp="1"/>
          </p:cNvSpPr>
          <p:nvPr/>
        </p:nvSpPr>
        <p:spPr>
          <a:xfrm xmlns:a="http://schemas.openxmlformats.org/drawingml/2006/main">
            <a:off x="6238875" y="2705100"/>
            <a:ext cx="1790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ToolHive + MCP</a:t>
            </a:r>
          </a:p>
        </p:txBody>
      </p:sp>
      <p:sp>
        <p:nvSpPr>
          <p:cNvPr id="15" name="">
            <a:extLst xmlns:a="http://schemas.openxmlformats.org/drawingml/2006/main">
              <a:ext uri="{FF2B5EF4-FFF2-40B4-BE49-F238E27FC236}">
                <a16:creationId xmlns:a16="http://schemas.microsoft.com/office/drawing/2014/main" id="{8EFD2CCF-80C7-4E48-B754-B136BA8F7287}"/>
              </a:ext>
            </a:extLst>
          </p:cNvPr>
          <p:cNvSpPr>
            <a:spLocks xmlns:a="http://schemas.openxmlformats.org/drawingml/2006/main" noGrp="1"/>
          </p:cNvSpPr>
          <p:nvPr/>
        </p:nvSpPr>
        <p:spPr>
          <a:xfrm xmlns:a="http://schemas.openxmlformats.org/drawingml/2006/main">
            <a:off x="6238875" y="3257550"/>
            <a:ext cx="17907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Managed MCP servers</a:t>
            </a:r>
          </a:p>
          <a:p xmlns:a="http://schemas.openxmlformats.org/drawingml/2006/main">
            <a:pPr algn="l">
              <a:defRPr sz="975" b="0">
                <a:solidFill>
                  <a:srgbClr val="A9C1D2"/>
                </a:solidFill>
              </a:defRPr>
            </a:pPr>
            <a:r>
              <a:rPr sz="975" b="0">
                <a:solidFill>
                  <a:srgbClr val="A9C1D2"/>
                </a:solidFill>
              </a:rPr>
              <a:t>and tool discovery</a:t>
            </a:r>
          </a:p>
        </p:txBody>
      </p:sp>
      <p:sp>
        <p:nvSpPr>
          <p:cNvPr id="16" name="">
            <a:extLst xmlns:a="http://schemas.openxmlformats.org/drawingml/2006/main">
              <a:ext uri="{FF2B5EF4-FFF2-40B4-BE49-F238E27FC236}">
                <a16:creationId xmlns:a16="http://schemas.microsoft.com/office/drawing/2014/main" id="{04029EB4-0DA1-482A-BD4D-B30E39531B79}"/>
              </a:ext>
            </a:extLst>
          </p:cNvPr>
          <p:cNvSpPr>
            <a:spLocks xmlns:a="http://schemas.openxmlformats.org/drawingml/2006/main" noGrp="1"/>
          </p:cNvSpPr>
          <p:nvPr/>
        </p:nvSpPr>
        <p:spPr>
          <a:xfrm xmlns:a="http://schemas.openxmlformats.org/drawingml/2006/main">
            <a:off x="8763000" y="2571750"/>
            <a:ext cx="2381250" cy="1381125"/>
          </a:xfrm>
          <a:prstGeom xmlns:a="http://schemas.openxmlformats.org/drawingml/2006/main" prst="roundRect">
            <a:avLst>
              <a:gd name="adj" fmla="val 8276"/>
            </a:avLst>
          </a:prstGeom>
          <a:solidFill xmlns:a="http://schemas.openxmlformats.org/drawingml/2006/main">
            <a:srgbClr val="0E2B42"/>
          </a:solidFill>
          <a:ln xmlns:a="http://schemas.openxmlformats.org/drawingml/2006/main" w="9525">
            <a:solidFill>
              <a:srgbClr val="31536A"/>
            </a:solidFill>
            <a:prstDash val="solid"/>
          </a:ln>
        </p:spPr>
      </p:sp>
      <p:sp>
        <p:nvSpPr>
          <p:cNvPr id="17" name="">
            <a:extLst xmlns:a="http://schemas.openxmlformats.org/drawingml/2006/main">
              <a:ext uri="{FF2B5EF4-FFF2-40B4-BE49-F238E27FC236}">
                <a16:creationId xmlns:a16="http://schemas.microsoft.com/office/drawing/2014/main" id="{E57633CC-9223-4010-8C56-1F184713CF3D}"/>
              </a:ext>
            </a:extLst>
          </p:cNvPr>
          <p:cNvSpPr>
            <a:spLocks xmlns:a="http://schemas.openxmlformats.org/drawingml/2006/main" noGrp="1"/>
          </p:cNvSpPr>
          <p:nvPr/>
        </p:nvSpPr>
        <p:spPr>
          <a:xfrm xmlns:a="http://schemas.openxmlformats.org/drawingml/2006/main">
            <a:off x="8763000" y="2571750"/>
            <a:ext cx="57150" cy="1381125"/>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18" name="">
            <a:extLst xmlns:a="http://schemas.openxmlformats.org/drawingml/2006/main">
              <a:ext uri="{FF2B5EF4-FFF2-40B4-BE49-F238E27FC236}">
                <a16:creationId xmlns:a16="http://schemas.microsoft.com/office/drawing/2014/main" id="{948EFF44-DE38-4660-B817-048D474D04D3}"/>
              </a:ext>
            </a:extLst>
          </p:cNvPr>
          <p:cNvSpPr>
            <a:spLocks xmlns:a="http://schemas.openxmlformats.org/drawingml/2006/main" noGrp="1"/>
          </p:cNvSpPr>
          <p:nvPr/>
        </p:nvSpPr>
        <p:spPr>
          <a:xfrm xmlns:a="http://schemas.openxmlformats.org/drawingml/2006/main">
            <a:off x="8953500" y="2705100"/>
            <a:ext cx="2076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a:solidFill>
                  <a:srgbClr val="F7FBFF"/>
                </a:solidFill>
              </a:defRPr>
            </a:defPPr>
          </a:lstStyle>
          <a:p xmlns:a="http://schemas.openxmlformats.org/drawingml/2006/main">
            <a:pPr algn="l">
              <a:defRPr sz="1575" b="1">
                <a:solidFill>
                  <a:srgbClr val="F7FBFF"/>
                </a:solidFill>
              </a:defRPr>
            </a:pPr>
            <a:r>
              <a:rPr sz="1575" b="1">
                <a:solidFill>
                  <a:srgbClr val="F7FBFF"/>
                </a:solidFill>
              </a:rPr>
              <a:t>BNG + Kubernetes</a:t>
            </a:r>
          </a:p>
        </p:txBody>
      </p:sp>
      <p:sp>
        <p:nvSpPr>
          <p:cNvPr id="19" name="">
            <a:extLst xmlns:a="http://schemas.openxmlformats.org/drawingml/2006/main">
              <a:ext uri="{FF2B5EF4-FFF2-40B4-BE49-F238E27FC236}">
                <a16:creationId xmlns:a16="http://schemas.microsoft.com/office/drawing/2014/main" id="{D454F1B8-D7C8-4B0A-9CB5-AEC9B3C1A869}"/>
              </a:ext>
            </a:extLst>
          </p:cNvPr>
          <p:cNvSpPr>
            <a:spLocks xmlns:a="http://schemas.openxmlformats.org/drawingml/2006/main" noGrp="1"/>
          </p:cNvSpPr>
          <p:nvPr/>
        </p:nvSpPr>
        <p:spPr>
          <a:xfrm xmlns:a="http://schemas.openxmlformats.org/drawingml/2006/main">
            <a:off x="8953500" y="3257550"/>
            <a:ext cx="20764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0">
                <a:solidFill>
                  <a:srgbClr val="A9C1D2"/>
                </a:solidFill>
              </a:defRPr>
            </a:defPPr>
          </a:lstStyle>
          <a:p xmlns:a="http://schemas.openxmlformats.org/drawingml/2006/main">
            <a:pPr algn="l">
              <a:defRPr sz="975" b="0">
                <a:solidFill>
                  <a:srgbClr val="A9C1D2"/>
                </a:solidFill>
              </a:defRPr>
            </a:pPr>
            <a:r>
              <a:rPr sz="975" b="0">
                <a:solidFill>
                  <a:srgbClr val="A9C1D2"/>
                </a:solidFill>
              </a:rPr>
              <a:t>Health, sessions, BGP,</a:t>
            </a:r>
          </a:p>
          <a:p xmlns:a="http://schemas.openxmlformats.org/drawingml/2006/main">
            <a:pPr algn="l">
              <a:defRPr sz="975" b="0">
                <a:solidFill>
                  <a:srgbClr val="A9C1D2"/>
                </a:solidFill>
              </a:defRPr>
            </a:pPr>
            <a:r>
              <a:rPr sz="975" b="0">
                <a:solidFill>
                  <a:srgbClr val="A9C1D2"/>
                </a:solidFill>
              </a:rPr>
              <a:t>routes, and diagnostics</a:t>
            </a:r>
          </a:p>
        </p:txBody>
      </p:sp>
      <p:sp>
        <p:nvSpPr>
          <p:cNvPr id="20" name="">
            <a:extLst xmlns:a="http://schemas.openxmlformats.org/drawingml/2006/main">
              <a:ext uri="{FF2B5EF4-FFF2-40B4-BE49-F238E27FC236}">
                <a16:creationId xmlns:a16="http://schemas.microsoft.com/office/drawing/2014/main" id="{24051140-F03F-487F-BC86-85DDC2A0FA0C}"/>
              </a:ext>
            </a:extLst>
          </p:cNvPr>
          <p:cNvSpPr>
            <a:spLocks xmlns:a="http://schemas.openxmlformats.org/drawingml/2006/main" noGrp="1"/>
          </p:cNvSpPr>
          <p:nvPr/>
        </p:nvSpPr>
        <p:spPr>
          <a:xfrm xmlns:a="http://schemas.openxmlformats.org/drawingml/2006/main">
            <a:off x="2714625" y="3238500"/>
            <a:ext cx="619125" cy="38100"/>
          </a:xfrm>
          <a:prstGeom xmlns:a="http://schemas.openxmlformats.org/drawingml/2006/main" prst="rect">
            <a:avLst/>
          </a:prstGeom>
          <a:solidFill xmlns:a="http://schemas.openxmlformats.org/drawingml/2006/main">
            <a:srgbClr val="FF9D42"/>
          </a:solidFill>
          <a:ln xmlns:a="http://schemas.openxmlformats.org/drawingml/2006/main" w="0">
            <a:solidFill>
              <a:srgbClr val="FF9D42"/>
            </a:solidFill>
            <a:prstDash val="solid"/>
          </a:ln>
        </p:spPr>
      </p:sp>
      <p:sp>
        <p:nvSpPr>
          <p:cNvPr id="21" name="">
            <a:extLst xmlns:a="http://schemas.openxmlformats.org/drawingml/2006/main">
              <a:ext uri="{FF2B5EF4-FFF2-40B4-BE49-F238E27FC236}">
                <a16:creationId xmlns:a16="http://schemas.microsoft.com/office/drawing/2014/main" id="{152003F6-9C53-48FF-ACBD-64F01FACB40C}"/>
              </a:ext>
            </a:extLst>
          </p:cNvPr>
          <p:cNvSpPr>
            <a:spLocks xmlns:a="http://schemas.openxmlformats.org/drawingml/2006/main" noGrp="1"/>
          </p:cNvSpPr>
          <p:nvPr/>
        </p:nvSpPr>
        <p:spPr>
          <a:xfrm xmlns:a="http://schemas.openxmlformats.org/drawingml/2006/main">
            <a:off x="5429250" y="3238500"/>
            <a:ext cx="619125" cy="38100"/>
          </a:xfrm>
          <a:prstGeom xmlns:a="http://schemas.openxmlformats.org/drawingml/2006/main" prst="rect">
            <a:avLst/>
          </a:prstGeom>
          <a:solidFill xmlns:a="http://schemas.openxmlformats.org/drawingml/2006/main">
            <a:srgbClr val="23D5D2"/>
          </a:solidFill>
          <a:ln xmlns:a="http://schemas.openxmlformats.org/drawingml/2006/main" w="0">
            <a:solidFill>
              <a:srgbClr val="23D5D2"/>
            </a:solidFill>
            <a:prstDash val="solid"/>
          </a:ln>
        </p:spPr>
      </p:sp>
      <p:sp>
        <p:nvSpPr>
          <p:cNvPr id="22" name="">
            <a:extLst xmlns:a="http://schemas.openxmlformats.org/drawingml/2006/main">
              <a:ext uri="{FF2B5EF4-FFF2-40B4-BE49-F238E27FC236}">
                <a16:creationId xmlns:a16="http://schemas.microsoft.com/office/drawing/2014/main" id="{876AA3E1-B74A-41D0-A190-C635BCA7E8DA}"/>
              </a:ext>
            </a:extLst>
          </p:cNvPr>
          <p:cNvSpPr>
            <a:spLocks xmlns:a="http://schemas.openxmlformats.org/drawingml/2006/main" noGrp="1"/>
          </p:cNvSpPr>
          <p:nvPr/>
        </p:nvSpPr>
        <p:spPr>
          <a:xfrm xmlns:a="http://schemas.openxmlformats.org/drawingml/2006/main">
            <a:off x="8143875" y="3238500"/>
            <a:ext cx="619125" cy="38100"/>
          </a:xfrm>
          <a:prstGeom xmlns:a="http://schemas.openxmlformats.org/drawingml/2006/main" prst="rect">
            <a:avLst/>
          </a:prstGeom>
          <a:solidFill xmlns:a="http://schemas.openxmlformats.org/drawingml/2006/main">
            <a:srgbClr val="43D17D"/>
          </a:solidFill>
          <a:ln xmlns:a="http://schemas.openxmlformats.org/drawingml/2006/main" w="0">
            <a:solidFill>
              <a:srgbClr val="43D17D"/>
            </a:solidFill>
            <a:prstDash val="solid"/>
          </a:ln>
        </p:spPr>
      </p:sp>
      <p:sp>
        <p:nvSpPr>
          <p:cNvPr id="23" name="">
            <a:extLst xmlns:a="http://schemas.openxmlformats.org/drawingml/2006/main">
              <a:ext uri="{FF2B5EF4-FFF2-40B4-BE49-F238E27FC236}">
                <a16:creationId xmlns:a16="http://schemas.microsoft.com/office/drawing/2014/main" id="{1035DBDB-1E3E-418B-A156-2FF21D7EE68C}"/>
              </a:ext>
            </a:extLst>
          </p:cNvPr>
          <p:cNvSpPr>
            <a:spLocks xmlns:a="http://schemas.openxmlformats.org/drawingml/2006/main" noGrp="1"/>
          </p:cNvSpPr>
          <p:nvPr/>
        </p:nvSpPr>
        <p:spPr>
          <a:xfrm xmlns:a="http://schemas.openxmlformats.org/drawingml/2006/main">
            <a:off x="1571625" y="4572000"/>
            <a:ext cx="9048750" cy="819150"/>
          </a:xfrm>
          <a:prstGeom xmlns:a="http://schemas.openxmlformats.org/drawingml/2006/main" prst="roundRect">
            <a:avLst>
              <a:gd name="adj" fmla="val 13953"/>
            </a:avLst>
          </a:prstGeom>
          <a:solidFill xmlns:a="http://schemas.openxmlformats.org/drawingml/2006/main">
            <a:srgbClr val="102C4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F9911DF-FC9F-483C-AA34-69494E5B1E3B}"/>
              </a:ext>
            </a:extLst>
          </p:cNvPr>
          <p:cNvSpPr>
            <a:spLocks xmlns:a="http://schemas.openxmlformats.org/drawingml/2006/main" noGrp="1"/>
          </p:cNvSpPr>
          <p:nvPr/>
        </p:nvSpPr>
        <p:spPr>
          <a:xfrm xmlns:a="http://schemas.openxmlformats.org/drawingml/2006/main">
            <a:off x="1857375" y="47720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FF9D42"/>
                </a:solidFill>
              </a:defRPr>
            </a:defPPr>
          </a:lstStyle>
          <a:p xmlns:a="http://schemas.openxmlformats.org/drawingml/2006/main">
            <a:pPr algn="l">
              <a:defRPr sz="1350" b="1">
                <a:solidFill>
                  <a:srgbClr val="FF9D42"/>
                </a:solidFill>
              </a:defRPr>
            </a:pPr>
            <a:r>
              <a:rPr sz="1350" b="1">
                <a:solidFill>
                  <a:srgbClr val="FF9D42"/>
                </a:solidFill>
              </a:rPr>
              <a:t>Practical next step</a:t>
            </a:r>
          </a:p>
        </p:txBody>
      </p:sp>
      <p:sp>
        <p:nvSpPr>
          <p:cNvPr id="25" name="">
            <a:extLst xmlns:a="http://schemas.openxmlformats.org/drawingml/2006/main">
              <a:ext uri="{FF2B5EF4-FFF2-40B4-BE49-F238E27FC236}">
                <a16:creationId xmlns:a16="http://schemas.microsoft.com/office/drawing/2014/main" id="{C3F3503F-3B8D-409B-B211-9C20C9C5A7FD}"/>
              </a:ext>
            </a:extLst>
          </p:cNvPr>
          <p:cNvSpPr>
            <a:spLocks xmlns:a="http://schemas.openxmlformats.org/drawingml/2006/main" noGrp="1"/>
          </p:cNvSpPr>
          <p:nvPr/>
        </p:nvSpPr>
        <p:spPr>
          <a:xfrm xmlns:a="http://schemas.openxmlformats.org/drawingml/2006/main">
            <a:off x="3810000" y="4705350"/>
            <a:ext cx="6429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a:solidFill>
                  <a:srgbClr val="F7FBFF"/>
                </a:solidFill>
              </a:defRPr>
            </a:defPPr>
          </a:lstStyle>
          <a:p xmlns:a="http://schemas.openxmlformats.org/drawingml/2006/main">
            <a:pPr algn="l">
              <a:defRPr sz="1500" b="1">
                <a:solidFill>
                  <a:srgbClr val="F7FBFF"/>
                </a:solidFill>
              </a:defRPr>
            </a:pPr>
            <a:r>
              <a:rPr sz="1500" b="1">
                <a:solidFill>
                  <a:srgbClr val="F7FBFF"/>
                </a:solidFill>
              </a:rPr>
              <a:t>Start with read-only diagnostics, role-based tools, evidence in every response, and approval before changes.</a:t>
            </a:r>
          </a:p>
        </p:txBody>
      </p:sp>
      <p:sp>
        <p:nvSpPr>
          <p:cNvPr id="26" name="">
            <a:extLst xmlns:a="http://schemas.openxmlformats.org/drawingml/2006/main">
              <a:ext uri="{FF2B5EF4-FFF2-40B4-BE49-F238E27FC236}">
                <a16:creationId xmlns:a16="http://schemas.microsoft.com/office/drawing/2014/main" id="{25ACB655-A3D0-43B9-A602-E81A2E78359D}"/>
              </a:ext>
            </a:extLst>
          </p:cNvPr>
          <p:cNvSpPr>
            <a:spLocks xmlns:a="http://schemas.openxmlformats.org/drawingml/2006/main" noGrp="1"/>
          </p:cNvSpPr>
          <p:nvPr/>
        </p:nvSpPr>
        <p:spPr>
          <a:xfrm xmlns:a="http://schemas.openxmlformats.org/drawingml/2006/main">
            <a:off x="685800" y="5695950"/>
            <a:ext cx="1066800" cy="323850"/>
          </a:xfrm>
          <a:prstGeom xmlns:a="http://schemas.openxmlformats.org/drawingml/2006/main" prst="roundRect">
            <a:avLst>
              <a:gd name="adj" fmla="val 50000"/>
            </a:avLst>
          </a:prstGeom>
          <a:solidFill xmlns:a="http://schemas.openxmlformats.org/drawingml/2006/main">
            <a:srgbClr val="FF9D4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C04E4AC-EB94-4542-9264-7F9DE32D0CAA}"/>
              </a:ext>
            </a:extLst>
          </p:cNvPr>
          <p:cNvSpPr>
            <a:spLocks xmlns:a="http://schemas.openxmlformats.org/drawingml/2006/main" noGrp="1"/>
          </p:cNvSpPr>
          <p:nvPr/>
        </p:nvSpPr>
        <p:spPr>
          <a:xfrm xmlns:a="http://schemas.openxmlformats.org/drawingml/2006/main">
            <a:off x="800100" y="5762625"/>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a:solidFill>
                  <a:srgbClr val="071A2B"/>
                </a:solidFill>
              </a:defRPr>
            </a:defPPr>
          </a:lstStyle>
          <a:p xmlns:a="http://schemas.openxmlformats.org/drawingml/2006/main">
            <a:pPr algn="ctr">
              <a:defRPr sz="975" b="1">
                <a:solidFill>
                  <a:srgbClr val="071A2B"/>
                </a:solidFill>
              </a:defRPr>
            </a:pPr>
            <a:r>
              <a:rPr sz="975" b="1">
                <a:solidFill>
                  <a:srgbClr val="071A2B"/>
                </a:solidFill>
              </a:rPr>
              <a:t>OPTIONAL</a:t>
            </a:r>
          </a:p>
        </p:txBody>
      </p:sp>
      <p:sp>
        <p:nvSpPr>
          <p:cNvPr id="28" name="">
            <a:extLst xmlns:a="http://schemas.openxmlformats.org/drawingml/2006/main">
              <a:ext uri="{FF2B5EF4-FFF2-40B4-BE49-F238E27FC236}">
                <a16:creationId xmlns:a16="http://schemas.microsoft.com/office/drawing/2014/main" id="{4748CEB2-D70E-4E88-9101-05622D1C3438}"/>
              </a:ext>
            </a:extLst>
          </p:cNvPr>
          <p:cNvSpPr>
            <a:spLocks xmlns:a="http://schemas.openxmlformats.org/drawingml/2006/main" noGrp="1"/>
          </p:cNvSpPr>
          <p:nvPr/>
        </p:nvSpPr>
        <p:spPr>
          <a:xfrm xmlns:a="http://schemas.openxmlformats.org/drawingml/2006/main">
            <a:off x="1924050" y="5724525"/>
            <a:ext cx="847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1">
                <a:solidFill>
                  <a:srgbClr val="A9C1D2"/>
                </a:solidFill>
              </a:defRPr>
            </a:defPPr>
          </a:lstStyle>
          <a:p xmlns:a="http://schemas.openxmlformats.org/drawingml/2006/main">
            <a:pPr algn="l">
              <a:defRPr sz="1200" b="1">
                <a:solidFill>
                  <a:srgbClr val="A9C1D2"/>
                </a:solidFill>
              </a:defRPr>
            </a:pPr>
            <a:r>
              <a:rPr sz="1200" b="1">
                <a:solidFill>
                  <a:srgbClr val="A9C1D2"/>
                </a:solidFill>
              </a:rPr>
              <a:t>This MCP and AI layer is a separate deployment and is not included in the vBNG Helm chart.</a:t>
            </a:r>
          </a:p>
        </p:txBody>
      </p:sp>
      <p:sp>
        <p:nvSpPr>
          <p:cNvPr id="29" name="">
            <a:extLst xmlns:a="http://schemas.openxmlformats.org/drawingml/2006/main">
              <a:ext uri="{FF2B5EF4-FFF2-40B4-BE49-F238E27FC236}">
                <a16:creationId xmlns:a16="http://schemas.microsoft.com/office/drawing/2014/main" id="{F9F7079D-6465-42E0-B420-82E4A802FFFF}"/>
              </a:ext>
            </a:extLst>
          </p:cNvPr>
          <p:cNvSpPr>
            <a:spLocks xmlns:a="http://schemas.openxmlformats.org/drawingml/2006/main" noGrp="1"/>
          </p:cNvSpPr>
          <p:nvPr/>
        </p:nvSpPr>
        <p:spPr>
          <a:xfrm xmlns:a="http://schemas.openxmlformats.org/drawingml/2006/main">
            <a:off x="685800" y="6410325"/>
            <a:ext cx="10820400" cy="9525"/>
          </a:xfrm>
          <a:prstGeom xmlns:a="http://schemas.openxmlformats.org/drawingml/2006/main" prst="rect">
            <a:avLst/>
          </a:prstGeom>
          <a:solidFill xmlns:a="http://schemas.openxmlformats.org/drawingml/2006/main">
            <a:srgbClr val="29485D"/>
          </a:solidFill>
          <a:ln xmlns:a="http://schemas.openxmlformats.org/drawingml/2006/main" w="0">
            <a:solidFill>
              <a:srgbClr val="29485D"/>
            </a:solidFill>
            <a:prstDash val="solid"/>
          </a:ln>
        </p:spPr>
      </p:sp>
      <p:sp>
        <p:nvSpPr>
          <p:cNvPr id="30" name="">
            <a:extLst xmlns:a="http://schemas.openxmlformats.org/drawingml/2006/main">
              <a:ext uri="{FF2B5EF4-FFF2-40B4-BE49-F238E27FC236}">
                <a16:creationId xmlns:a16="http://schemas.microsoft.com/office/drawing/2014/main" id="{BC7D8DA9-0FBA-4EC5-9DCA-403315D7D75D}"/>
              </a:ext>
            </a:extLst>
          </p:cNvPr>
          <p:cNvSpPr>
            <a:spLocks xmlns:a="http://schemas.openxmlformats.org/drawingml/2006/main" noGrp="1"/>
          </p:cNvSpPr>
          <p:nvPr/>
        </p:nvSpPr>
        <p:spPr>
          <a:xfrm xmlns:a="http://schemas.openxmlformats.org/drawingml/2006/main">
            <a:off x="685800" y="647700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675" b="0">
                <a:solidFill>
                  <a:srgbClr val="A9C1D2"/>
                </a:solidFill>
              </a:defRPr>
            </a:defPPr>
          </a:lstStyle>
          <a:p xmlns:a="http://schemas.openxmlformats.org/drawingml/2006/main">
            <a:pPr algn="l">
              <a:defRPr sz="675" b="0">
                <a:solidFill>
                  <a:srgbClr val="A9C1D2"/>
                </a:solidFill>
              </a:defRPr>
            </a:pPr>
            <a:r>
              <a:rPr sz="675" b="0">
                <a:solidFill>
                  <a:srgbClr val="A9C1D2"/>
                </a:solidFill>
              </a:rPr>
              <a:t>Demonstrated separately with AgentGateway, ToolHive, Open WebUI, and OSVBNG MCP tools.</a:t>
            </a:r>
          </a:p>
        </p:txBody>
      </p:sp>
      <p:sp>
        <p:nvSpPr>
          <p:cNvPr id="31" name="">
            <a:extLst xmlns:a="http://schemas.openxmlformats.org/drawingml/2006/main">
              <a:ext uri="{FF2B5EF4-FFF2-40B4-BE49-F238E27FC236}">
                <a16:creationId xmlns:a16="http://schemas.microsoft.com/office/drawing/2014/main" id="{7CF9AA41-344C-4BDA-B9F8-52CFB512639E}"/>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a:solidFill>
                  <a:srgbClr val="23D5D2"/>
                </a:solidFill>
              </a:defRPr>
            </a:defPPr>
          </a:lstStyle>
          <a:p xmlns:a="http://schemas.openxmlformats.org/drawingml/2006/main">
            <a:pPr algn="r">
              <a:defRPr sz="825" b="1">
                <a:solidFill>
                  <a:srgbClr val="23D5D2"/>
                </a:solidFill>
              </a:defRPr>
            </a:pPr>
            <a:r>
              <a:rPr sz="825" b="1">
                <a:solidFill>
                  <a:srgbClr val="23D5D2"/>
                </a:solidFill>
              </a:rPr>
              <a:t>10</a:t>
            </a:r>
          </a:p>
        </p:txBody>
      </p:sp>
    </p:spTree>
    <p:extLst>
      <p:ext uri="{BB962C8B-B14F-4D97-AF65-F5344CB8AC3E}">
        <p14:creationId xmlns:p14="http://schemas.microsoft.com/office/powerpoint/2010/main" val="14327264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2026-10-10T22:03:42.1940000Z</dcterms:created>
  <dcterms:modified xsi:type="dcterms:W3CDTF">2026-10-10T22:03:42.1940000Z</dcterms:modified>
</coreProperties>
</file>